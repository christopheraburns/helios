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Lst>
  <p:notesMasterIdLst>
    <p:notesMasterId r:id="rId6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1A2B"/>
                </a:solidFill>
                <a:latin typeface="Calibri"/>
              </a:defRPr>
            </a:pPr>
            <a:r>
              <a:rPr sz="1400" b="0" i="0" u="none" strike="noStrike">
                <a:solidFill>
                  <a:srgbClr val="0E1A2B"/>
                </a:solidFill>
                <a:latin typeface="Calibri"/>
              </a:rPr>
              <a:t>BIRD execution accuracy (test set)</a:t>
            </a:r>
          </a:p>
        </c:rich>
      </c:tx>
      <c:layout/>
      <c:overlay val="0"/>
    </c:title>
    <c:autoTitleDeleted val="0"/>
    <c:plotArea>
      <c:layout/>
      <c:barChart>
        <c:barDir val="col"/>
        <c:grouping val="clustered"/>
        <c:varyColors val="0"/>
        <c:ser>
          <c:idx val="0"/>
          <c:order val="0"/>
          <c:tx>
            <c:strRef>
              <c:f>Sheet1!$B$1</c:f>
              <c:strCache>
                <c:ptCount val="1"/>
                <c:pt idx="0">
                  <c:v>Without external knowledge</c:v>
                </c:pt>
              </c:strCache>
            </c:strRef>
          </c:tx>
          <c:spPr>
            <a:solidFill>
              <a:srgbClr val="9AA5B4"/>
            </a:solidFill>
            <a:effectLst/>
          </c:spPr>
          <c:invertIfNegative val="0"/>
          <c:dLbls>
            <c:numFmt formatCode="0.0&quot;%&quot;"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Sheet1!$A$2:$A$5</c:f>
              <c:multiLvlStrCache>
                <c:ptCount val="4"/>
                <c:lvl>
                  <c:pt idx="0">
                    <c:v>ChatGPT</c:v>
                  </c:pt>
                  <c:pt idx="1">
                    <c:v>Claude-2</c:v>
                  </c:pt>
                  <c:pt idx="2">
                    <c:v>GPT-4</c:v>
                  </c:pt>
                  <c:pt idx="3">
                    <c:v>Human experts</c:v>
                  </c:pt>
                </c:lvl>
              </c:multiLvlStrCache>
            </c:multiLvlStrRef>
          </c:cat>
          <c:val>
            <c:numRef>
              <c:f>Sheet1!$B$2:$B$5</c:f>
              <c:numCache>
                <c:formatCode>General</c:formatCode>
                <c:ptCount val="4"/>
                <c:pt idx="0">
                  <c:v>26.77</c:v>
                </c:pt>
                <c:pt idx="1">
                  <c:v>34.6</c:v>
                </c:pt>
                <c:pt idx="2">
                  <c:v>34.88</c:v>
                </c:pt>
                <c:pt idx="3">
                  <c:v>72.37</c:v>
                </c:pt>
              </c:numCache>
            </c:numRef>
          </c:val>
        </c:ser>
        <c:ser>
          <c:idx val="1"/>
          <c:order val="1"/>
          <c:tx>
            <c:strRef>
              <c:f>Sheet1!$C$1</c:f>
              <c:strCache>
                <c:ptCount val="1"/>
                <c:pt idx="0">
                  <c:v>With one line of evidence</c:v>
                </c:pt>
              </c:strCache>
            </c:strRef>
          </c:tx>
          <c:spPr>
            <a:solidFill>
              <a:srgbClr val="F2A541"/>
            </a:solidFill>
            <a:effectLst/>
          </c:spPr>
          <c:invertIfNegative val="0"/>
          <c:dLbls>
            <c:numFmt formatCode="0.0&quot;%&quot;"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Sheet1!$A$2:$A$5</c:f>
              <c:multiLvlStrCache>
                <c:ptCount val="4"/>
                <c:lvl>
                  <c:pt idx="0">
                    <c:v>ChatGPT</c:v>
                  </c:pt>
                  <c:pt idx="1">
                    <c:v>Claude-2</c:v>
                  </c:pt>
                  <c:pt idx="2">
                    <c:v>GPT-4</c:v>
                  </c:pt>
                  <c:pt idx="3">
                    <c:v>Human experts</c:v>
                  </c:pt>
                </c:lvl>
              </c:multiLvlStrCache>
            </c:multiLvlStrRef>
          </c:cat>
          <c:val>
            <c:numRef>
              <c:f>Sheet1!$C$2:$C$5</c:f>
              <c:numCache>
                <c:formatCode>General</c:formatCode>
                <c:ptCount val="4"/>
                <c:pt idx="0">
                  <c:v>39.3</c:v>
                </c:pt>
                <c:pt idx="1">
                  <c:v>49.02</c:v>
                </c:pt>
                <c:pt idx="2">
                  <c:v>54.89</c:v>
                </c:pt>
                <c:pt idx="3">
                  <c:v>92.96</c:v>
                </c:pt>
              </c:numCache>
            </c:numRef>
          </c:val>
        </c:ser>
        <c:dLbls>
          <c:numFmt formatCode="0.0&quot;%&quot;"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8E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7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F293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1A2B"/>
                </a:solidFill>
                <a:latin typeface="Calibri"/>
              </a:defRPr>
            </a:pPr>
            <a:r>
              <a:rPr sz="1400" b="0" i="0" u="none" strike="noStrike">
                <a:solidFill>
                  <a:srgbClr val="0E1A2B"/>
                </a:solidFill>
                <a:latin typeface="Calibri"/>
              </a:rPr>
              <a:t>Best reported accuracy, by benchmark realism</a:t>
            </a:r>
          </a:p>
        </c:rich>
      </c:tx>
      <c:layout/>
      <c:overlay val="0"/>
    </c:title>
    <c:autoTitleDeleted val="0"/>
    <c:plotArea>
      <c:layout/>
      <c:barChart>
        <c:barDir val="col"/>
        <c:grouping val="clustered"/>
        <c:varyColors val="0"/>
        <c:ser>
          <c:idx val="0"/>
          <c:order val="0"/>
          <c:tx>
            <c:strRef>
              <c:f>Sheet1!$B$1</c:f>
              <c:strCache>
                <c:ptCount val="1"/>
                <c:pt idx="0">
                  <c:v>Accuracy</c:v>
                </c:pt>
              </c:strCache>
            </c:strRef>
          </c:tx>
          <c:spPr>
            <a:solidFill>
              <a:srgbClr val="1C2F4A"/>
            </a:solidFill>
            <a:effectLst/>
          </c:spPr>
          <c:invertIfNegative val="0"/>
          <c:dLbls>
            <c:numFmt formatCode="0.0&quot;%&quot;"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Sheet1!$A$2:$A$5</c:f>
              <c:multiLvlStrCache>
                <c:ptCount val="4"/>
                <c:lvl>
                  <c:pt idx="0">
                    <c:v>Spider 1.0</c:v>
                  </c:pt>
                  <c:pt idx="1">
                    <c:v>BIRD</c:v>
                  </c:pt>
                  <c:pt idx="2">
                    <c:v>Spider 2.0 (o1-preview agent)</c:v>
                  </c:pt>
                  <c:pt idx="3">
                    <c:v>BEAVER (GPT-5.2 agents)</c:v>
                  </c:pt>
                </c:lvl>
              </c:multiLvlStrCache>
            </c:multiLvlStrRef>
          </c:cat>
          <c:val>
            <c:numRef>
              <c:f>Sheet1!$B$2:$B$5</c:f>
              <c:numCache>
                <c:formatCode>General</c:formatCode>
                <c:ptCount val="4"/>
                <c:pt idx="0">
                  <c:v>91.2</c:v>
                </c:pt>
                <c:pt idx="1">
                  <c:v>73</c:v>
                </c:pt>
                <c:pt idx="2">
                  <c:v>21.3</c:v>
                </c:pt>
                <c:pt idx="3">
                  <c:v>10.8</c:v>
                </c:pt>
              </c:numCache>
            </c:numRef>
          </c:val>
        </c:ser>
        <c:dLbls>
          <c:numFmt formatCode="0.0&quot;%&quot;"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8E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72"/>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E1A2B"/>
                </a:solidFill>
                <a:latin typeface="Calibri"/>
              </a:defRPr>
            </a:pPr>
            <a:r>
              <a:rPr sz="1300" b="0" i="0" u="none" strike="noStrike">
                <a:solidFill>
                  <a:srgbClr val="0E1A2B"/>
                </a:solidFill>
                <a:latin typeface="Calibri"/>
              </a:rPr>
              <a:t>Accuracy by question and schema complexity (insurance, 43 questions)</a:t>
            </a:r>
          </a:p>
        </c:rich>
      </c:tx>
      <c:layout/>
      <c:overlay val="0"/>
    </c:title>
    <c:autoTitleDeleted val="0"/>
    <c:plotArea>
      <c:layout/>
      <c:barChart>
        <c:barDir val="col"/>
        <c:grouping val="clustered"/>
        <c:varyColors val="0"/>
        <c:ser>
          <c:idx val="0"/>
          <c:order val="0"/>
          <c:tx>
            <c:strRef>
              <c:f>Sheet1!$B$1</c:f>
              <c:strCache>
                <c:ptCount val="1"/>
                <c:pt idx="0">
                  <c:v>GPT-4 → SQL on raw schema</c:v>
                </c:pt>
              </c:strCache>
            </c:strRef>
          </c:tx>
          <c:spPr>
            <a:solidFill>
              <a:srgbClr val="9AA5B4"/>
            </a:solidFill>
            <a:effectLst/>
          </c:spPr>
          <c:invertIfNegative val="0"/>
          <c:dLbls>
            <c:numFmt formatCode="0.0&quot;%&quot;"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Sheet1!$A$2:$A$5</c:f>
              <c:multiLvlStrCache>
                <c:ptCount val="4"/>
                <c:lvl>
                  <c:pt idx="0">
                    <c:v>Low question / low schema</c:v>
                  </c:pt>
                  <c:pt idx="1">
                    <c:v>High question / low schema</c:v>
                  </c:pt>
                  <c:pt idx="2">
                    <c:v>Low question / high schema</c:v>
                  </c:pt>
                  <c:pt idx="3">
                    <c:v>High question / high schema</c:v>
                  </c:pt>
                </c:lvl>
              </c:multiLvlStrCache>
            </c:multiLvlStrRef>
          </c:cat>
          <c:val>
            <c:numRef>
              <c:f>Sheet1!$B$2:$B$5</c:f>
              <c:numCache>
                <c:formatCode>General</c:formatCode>
                <c:ptCount val="4"/>
                <c:pt idx="0">
                  <c:v>25.5</c:v>
                </c:pt>
                <c:pt idx="1">
                  <c:v>37.4</c:v>
                </c:pt>
                <c:pt idx="2">
                  <c:v>0</c:v>
                </c:pt>
                <c:pt idx="3">
                  <c:v>0</c:v>
                </c:pt>
              </c:numCache>
            </c:numRef>
          </c:val>
        </c:ser>
        <c:ser>
          <c:idx val="1"/>
          <c:order val="1"/>
          <c:tx>
            <c:strRef>
              <c:f>Sheet1!$C$1</c:f>
              <c:strCache>
                <c:ptCount val="1"/>
                <c:pt idx="0">
                  <c:v>GPT-4 → SPARQL on knowledge graph</c:v>
                </c:pt>
              </c:strCache>
            </c:strRef>
          </c:tx>
          <c:spPr>
            <a:solidFill>
              <a:srgbClr val="F2A541"/>
            </a:solidFill>
            <a:effectLst/>
          </c:spPr>
          <c:invertIfNegative val="0"/>
          <c:dLbls>
            <c:numFmt formatCode="0.0&quot;%&quot;"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Sheet1!$A$2:$A$5</c:f>
              <c:multiLvlStrCache>
                <c:ptCount val="4"/>
                <c:lvl>
                  <c:pt idx="0">
                    <c:v>Low question / low schema</c:v>
                  </c:pt>
                  <c:pt idx="1">
                    <c:v>High question / low schema</c:v>
                  </c:pt>
                  <c:pt idx="2">
                    <c:v>Low question / high schema</c:v>
                  </c:pt>
                  <c:pt idx="3">
                    <c:v>High question / high schema</c:v>
                  </c:pt>
                </c:lvl>
              </c:multiLvlStrCache>
            </c:multiLvlStrRef>
          </c:cat>
          <c:val>
            <c:numRef>
              <c:f>Sheet1!$C$2:$C$5</c:f>
              <c:numCache>
                <c:formatCode>General</c:formatCode>
                <c:ptCount val="4"/>
                <c:pt idx="0">
                  <c:v>71.1</c:v>
                </c:pt>
                <c:pt idx="1">
                  <c:v>66.9</c:v>
                </c:pt>
                <c:pt idx="2">
                  <c:v>35.7</c:v>
                </c:pt>
                <c:pt idx="3">
                  <c:v>38.7</c:v>
                </c:pt>
              </c:numCache>
            </c:numRef>
          </c:val>
        </c:ser>
        <c:dLbls>
          <c:numFmt formatCode="0.0&quot;%&quot;"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8E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7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F293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1A2B"/>
                </a:solidFill>
                <a:latin typeface="Calibri"/>
              </a:defRPr>
            </a:pPr>
            <a:r>
              <a:rPr sz="1400" b="0" i="0" u="none" strike="noStrike">
                <a:solidFill>
                  <a:srgbClr val="0E1A2B"/>
                </a:solidFill>
                <a:latin typeface="Calibri"/>
              </a:rPr>
              <a:t>Accuracy without vs with a semantic layer</a:t>
            </a:r>
          </a:p>
        </c:rich>
      </c:tx>
      <c:layout/>
      <c:overlay val="0"/>
    </c:title>
    <c:autoTitleDeleted val="0"/>
    <c:plotArea>
      <c:layout/>
      <c:barChart>
        <c:barDir val="col"/>
        <c:grouping val="clustered"/>
        <c:varyColors val="0"/>
        <c:ser>
          <c:idx val="0"/>
          <c:order val="0"/>
          <c:tx>
            <c:strRef>
              <c:f>Sheet1!$B$1</c:f>
              <c:strCache>
                <c:ptCount val="1"/>
                <c:pt idx="0">
                  <c:v>Schema / text-to-SQL only</c:v>
                </c:pt>
              </c:strCache>
            </c:strRef>
          </c:tx>
          <c:spPr>
            <a:solidFill>
              <a:srgbClr val="9AA5B4"/>
            </a:solidFill>
            <a:effectLst/>
          </c:spPr>
          <c:invertIfNegative val="0"/>
          <c:dLbls>
            <c:numFmt formatCode="0.0&quot;%&quot;"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Sheet1!$A$2:$A$5</c:f>
              <c:multiLvlStrCache>
                <c:ptCount val="4"/>
                <c:lvl>
                  <c:pt idx="0">
                    <c:v>Cube 2026
(3 frontier models)</c:v>
                  </c:pt>
                  <c:pt idx="1">
                    <c:v>Snowflake 2025
(4 BIRD DBs)</c:v>
                  </c:pt>
                  <c:pt idx="2">
                    <c:v>AtScale 2024
(TPC-DS, 40 Qs)</c:v>
                  </c:pt>
                  <c:pt idx="3">
                    <c:v>dbt 2026
(GPT-5.3 Codex)</c:v>
                  </c:pt>
                </c:lvl>
              </c:multiLvlStrCache>
            </c:multiLvlStrRef>
          </c:cat>
          <c:val>
            <c:numRef>
              <c:f>Sheet1!$B$2:$B$5</c:f>
              <c:numCache>
                <c:formatCode>General</c:formatCode>
                <c:ptCount val="4"/>
                <c:pt idx="0">
                  <c:v>48</c:v>
                </c:pt>
                <c:pt idx="1">
                  <c:v>57</c:v>
                </c:pt>
                <c:pt idx="2">
                  <c:v>20</c:v>
                </c:pt>
                <c:pt idx="3">
                  <c:v>84.1</c:v>
                </c:pt>
              </c:numCache>
            </c:numRef>
          </c:val>
        </c:ser>
        <c:ser>
          <c:idx val="1"/>
          <c:order val="1"/>
          <c:tx>
            <c:strRef>
              <c:f>Sheet1!$C$1</c:f>
              <c:strCache>
                <c:ptCount val="1"/>
                <c:pt idx="0">
                  <c:v>With semantic layer or model</c:v>
                </c:pt>
              </c:strCache>
            </c:strRef>
          </c:tx>
          <c:spPr>
            <a:solidFill>
              <a:srgbClr val="F2A541"/>
            </a:solidFill>
            <a:effectLst/>
          </c:spPr>
          <c:invertIfNegative val="0"/>
          <c:dLbls>
            <c:numFmt formatCode="0.0&quot;%&quot;"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Sheet1!$A$2:$A$5</c:f>
              <c:multiLvlStrCache>
                <c:ptCount val="4"/>
                <c:lvl>
                  <c:pt idx="0">
                    <c:v>Cube 2026
(3 frontier models)</c:v>
                  </c:pt>
                  <c:pt idx="1">
                    <c:v>Snowflake 2025
(4 BIRD DBs)</c:v>
                  </c:pt>
                  <c:pt idx="2">
                    <c:v>AtScale 2024
(TPC-DS, 40 Qs)</c:v>
                  </c:pt>
                  <c:pt idx="3">
                    <c:v>dbt 2026
(GPT-5.3 Codex)</c:v>
                  </c:pt>
                </c:lvl>
              </c:multiLvlStrCache>
            </c:multiLvlStrRef>
          </c:cat>
          <c:val>
            <c:numRef>
              <c:f>Sheet1!$C$2:$C$5</c:f>
              <c:numCache>
                <c:formatCode>General</c:formatCode>
                <c:ptCount val="4"/>
                <c:pt idx="0">
                  <c:v>68.2</c:v>
                </c:pt>
                <c:pt idx="1">
                  <c:v>78</c:v>
                </c:pt>
                <c:pt idx="2">
                  <c:v>92.5</c:v>
                </c:pt>
                <c:pt idx="3">
                  <c:v>100</c:v>
                </c:pt>
              </c:numCache>
            </c:numRef>
          </c:val>
        </c:ser>
        <c:dLbls>
          <c:numFmt formatCode="0.0&quot;%&quot;"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8EE"/>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47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F293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1A2B"/>
                </a:solidFill>
                <a:latin typeface="Calibri"/>
              </a:defRPr>
            </a:pPr>
            <a:r>
              <a:rPr sz="1400" b="0" i="0" u="none" strike="noStrike">
                <a:solidFill>
                  <a:srgbClr val="0E1A2B"/>
                </a:solidFill>
                <a:latin typeface="Calibri"/>
              </a:rPr>
              <a:t>Hallucination rate on legal research queries</a:t>
            </a:r>
          </a:p>
        </c:rich>
      </c:tx>
      <c:layout/>
      <c:overlay val="0"/>
    </c:title>
    <c:autoTitleDeleted val="0"/>
    <c:plotArea>
      <c:layout/>
      <c:barChart>
        <c:barDir val="bar"/>
        <c:grouping val="clustered"/>
        <c:varyColors val="0"/>
        <c:ser>
          <c:idx val="0"/>
          <c:order val="0"/>
          <c:tx>
            <c:strRef>
              <c:f>Sheet1!$B$1</c:f>
              <c:strCache>
                <c:ptCount val="1"/>
                <c:pt idx="0">
                  <c:v>Hallucination rate</c:v>
                </c:pt>
              </c:strCache>
            </c:strRef>
          </c:tx>
          <c:spPr>
            <a:solidFill>
              <a:srgbClr val="E4572E"/>
            </a:solidFill>
            <a:effectLst/>
          </c:spPr>
          <c:invertIfNegative val="0"/>
          <c:dLbls>
            <c:numFmt formatCode="0.0&quot;%&quot;"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cat>
            <c:multiLvlStrRef>
              <c:f>Sheet1!$A$2:$A$5</c:f>
              <c:multiLvlStrCache>
                <c:ptCount val="4"/>
                <c:lvl>
                  <c:pt idx="0">
                    <c:v>Lexis+ AI</c:v>
                  </c:pt>
                  <c:pt idx="1">
                    <c:v>Ask Practical Law AI</c:v>
                  </c:pt>
                  <c:pt idx="2">
                    <c:v>Westlaw AI-Assisted Research</c:v>
                  </c:pt>
                  <c:pt idx="3">
                    <c:v>GPT-4 (no retrieval)</c:v>
                  </c:pt>
                </c:lvl>
              </c:multiLvlStrCache>
            </c:multiLvlStrRef>
          </c:cat>
          <c:val>
            <c:numRef>
              <c:f>Sheet1!$B$2:$B$5</c:f>
              <c:numCache>
                <c:formatCode>General</c:formatCode>
                <c:ptCount val="4"/>
                <c:pt idx="0">
                  <c:v>17</c:v>
                </c:pt>
                <c:pt idx="1">
                  <c:v>17</c:v>
                </c:pt>
                <c:pt idx="2">
                  <c:v>33</c:v>
                </c:pt>
                <c:pt idx="3">
                  <c:v>43</c:v>
                </c:pt>
              </c:numCache>
            </c:numRef>
          </c:val>
        </c:ser>
        <c:dLbls>
          <c:numFmt formatCode="0.0&quot;%&quot;" sourceLinked="0"/>
          <c:txPr>
            <a:bodyPr/>
            <a:lstStyle/>
            <a:p>
              <a:pPr>
                <a:defRPr b="0" i="0" strike="noStrike" sz="1100" u="none">
                  <a:solidFill>
                    <a:srgbClr val="1F2937"/>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max val="50"/>
          <c:min val="0"/>
        </c:scaling>
        <c:delete val="0"/>
        <c:axPos val="b"/>
        <c:majorGridlines>
          <c:spPr>
            <a:ln w="6350" cap="flat">
              <a:solidFill>
                <a:srgbClr val="E5E8EE"/>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472"/>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Helios connects to a Cloudera data lake and helps users and AI agents speak to their data. This deck covers why a semantic layer is needed, how Helios builds one, how questions are answered through governed tools, the Helios UI, and Helios-DS: the synthetic enterprise generator and planned crawler used to measure how well Helios understands unstructured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headline findings. The details are on the next slides. BEAVER (2026) is the most current: even GPT-5.2 agents get about 11% on real private warehouses, and supplying exactly what a semantic layer encodes nearly triples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BIRD is the largest widely used text-to-SQL benchmark. Adding the business 'evidence' adds about 20 points for GPT-4 and for human experts. Without it, even humans only reach 72%. That is the case for a glossary and semantic definitions: the knowledge isn't in the schema. Today's leaderboard top is about 82% vs 93% for humans, still below humans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kind of model that scores 91% on the academic Spider 1.0 scores 21% on Spider 2.0's real BigQuery and Snowflake schemas. BEAVER uses real private warehouses (about 100 tables and 870 columns per database). With GPT-5.2, agentic frameworks get 10.8%. Given oracle hints about which tables, join keys, column mappings and domain knowledge to use, they get 30.1%. Those hints are exactly what a semantic layer encodes. Honesty note: the Spider 2.0 leaderboard now shows engineered agents much higher (about 96% on Spider 2.0-Snow). Those systems get there with schema exploration, context and tools, which supports the purpose-built tooling approach rather than raw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most-cited result: the same database and GPT-4, with the same questions asked either over the raw SQL schema or over a knowledge-graph representation. When questions touched the complex part of the schema, raw SQL got zero right. The follow-up paper added an ontology-based query check with repair and reached 72%, and it lets the system say 'I don't know' instead of guessing. Caveats: 43 questions, 2023-era GPT-4, vendor authors.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studies come from companies that sell semantic layers, so they're labelled as vendor studies. They agree in direction with the independent results. The Cube paper is the most rigorous: paired questions, three current frontier models and significance testing. Its finding that the semantic document mattered more than the choice of frontier model is useful. dbt's 2026 update is also honest that raw text-to-SQL improved a lot since 2023 (32.7% to 64.5% on raw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Counterpoint, to be fair: Li et al. (EMNLP 2024) found that long-context models can beat RAG on average accuracy when budget allows, while RAG is far cheaper. Their hybrid Self-Route cut cost 39–65% at similar quality. GraphRAG results are LLM-judged, and part of the gain comes from map-reduce summarization rather than the graph itself. The argument here is for well-designed retrieval and evidence tools, not against long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Gorilla: on TorchHub, GPT-4 went from 38.7% (36.6% hallucination) zero-shot to 66.1% with oracle docs (0.5% hallucination). NESTFUL: GPT-4o managed 28% full-sequence accuracy on nested API calls. Self-Debug (ICLR 2024): execution feedback adds 2–3 points on Spider overall and 9 points on the hardest questions. That is modest, so we present it as supporting evidence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Counterpoints worth acknowledging: 'The Death of Schema Linking?' (Maamari et al., 2024) shows strong models can use a full schema when it fits in context (BIRD scale, about 7 tables). That doesn't carry over to 800-column warehouses or to business-term definitions. Long context can beat RAG with enough budget (Li et al.,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1.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slideLayout" Target="../slideLayouts/slideLayout1.xml"/><Relationship Id="rId8"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slideLayout" Target="../slideLayouts/slideLayout1.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slideLayout" Target="../slideLayouts/slideLayout1.xml"/><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slideLayout" Target="../slideLayouts/slideLayout1.xml"/><Relationship Id="rId6"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slideLayout" Target="../slideLayouts/slideLayout1.xml"/><Relationship Id="rId6"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image" Target="../media/image-55-4.png"/><Relationship Id="rId5" Type="http://schemas.openxmlformats.org/officeDocument/2006/relationships/slideLayout" Target="../slideLayouts/slideLayout1.xml"/><Relationship Id="rId6"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slideLayout" Target="../slideLayouts/slideLayout1.xml"/><Relationship Id="rId5"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3.png"/><Relationship Id="rId4" Type="http://schemas.openxmlformats.org/officeDocument/2006/relationships/image" Target="../media/image-57-4.png"/><Relationship Id="rId5" Type="http://schemas.openxmlformats.org/officeDocument/2006/relationships/slideLayout" Target="../slideLayouts/slideLayout1.xml"/><Relationship Id="rId6"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image" Target="../media/image-58-3.png"/><Relationship Id="rId4" Type="http://schemas.openxmlformats.org/officeDocument/2006/relationships/image" Target="../media/image-58-4.png"/><Relationship Id="rId5" Type="http://schemas.openxmlformats.org/officeDocument/2006/relationships/slideLayout" Target="../slideLayouts/slideLayout1.xml"/><Relationship Id="rId6"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image" Target="../media/image-61-3.png"/><Relationship Id="rId4" Type="http://schemas.openxmlformats.org/officeDocument/2006/relationships/slideLayout" Target="../slideLayouts/slideLayout1.xml"/><Relationship Id="rId5"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image" Target="../media/image-64-4.png"/><Relationship Id="rId5" Type="http://schemas.openxmlformats.org/officeDocument/2006/relationships/slideLayout" Target="../slideLayouts/slideLayout1.xml"/><Relationship Id="rId6"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B"/>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C2F4A"/>
          </a:solidFill>
          <a:ln w="12700">
            <a:solidFill>
              <a:srgbClr val="1C2F4A"/>
            </a:solidFill>
            <a:prstDash val="solid"/>
          </a:ln>
        </p:spPr>
      </p:sp>
      <p:sp>
        <p:nvSpPr>
          <p:cNvPr id="3" name="Shape 1"/>
          <p:cNvSpPr/>
          <p:nvPr/>
        </p:nvSpPr>
        <p:spPr>
          <a:xfrm>
            <a:off x="9326880" y="365760"/>
            <a:ext cx="2926080" cy="2926080"/>
          </a:xfrm>
          <a:prstGeom prst="ellipse">
            <a:avLst/>
          </a:prstGeom>
          <a:solidFill>
            <a:srgbClr val="F2A541"/>
          </a:solidFill>
          <a:ln w="12700">
            <a:solidFill>
              <a:srgbClr val="F2A541"/>
            </a:solidFill>
            <a:prstDash val="solid"/>
          </a:ln>
        </p:spPr>
      </p:sp>
      <p:sp>
        <p:nvSpPr>
          <p:cNvPr id="4" name="Text 2"/>
          <p:cNvSpPr txBox="1"/>
          <p:nvPr/>
        </p:nvSpPr>
        <p:spPr>
          <a:xfrm>
            <a:off x="731520" y="1828800"/>
            <a:ext cx="7315200" cy="1280160"/>
          </a:xfrm>
          <a:prstGeom prst="rect">
            <a:avLst/>
          </a:prstGeom>
          <a:noFill/>
          <a:ln/>
        </p:spPr>
        <p:txBody>
          <a:bodyPr wrap="square" lIns="0" tIns="0" rIns="0" bIns="0" rtlCol="0" anchor="ctr"/>
          <a:lstStyle/>
          <a:p>
            <a:pPr indent="0" marL="0">
              <a:buNone/>
            </a:pPr>
            <a:r>
              <a:rPr lang="en-US" sz="7200" b="1" dirty="0">
                <a:solidFill>
                  <a:srgbClr val="FFFFFF"/>
                </a:solidFill>
                <a:latin typeface="Cambria" pitchFamily="34" charset="0"/>
                <a:ea typeface="Cambria" pitchFamily="34" charset="-122"/>
                <a:cs typeface="Cambria" pitchFamily="34" charset="-120"/>
              </a:rPr>
              <a:t>Helios</a:t>
            </a:r>
            <a:endParaRPr lang="en-US" sz="7200" dirty="0"/>
          </a:p>
        </p:txBody>
      </p:sp>
      <p:sp>
        <p:nvSpPr>
          <p:cNvPr id="5" name="Text 3"/>
          <p:cNvSpPr txBox="1"/>
          <p:nvPr/>
        </p:nvSpPr>
        <p:spPr>
          <a:xfrm>
            <a:off x="731520" y="3108960"/>
            <a:ext cx="7315200" cy="640080"/>
          </a:xfrm>
          <a:prstGeom prst="rect">
            <a:avLst/>
          </a:prstGeom>
          <a:noFill/>
          <a:ln/>
        </p:spPr>
        <p:txBody>
          <a:bodyPr wrap="square" lIns="0" tIns="0" rIns="0" bIns="0" rtlCol="0" anchor="ctr"/>
          <a:lstStyle/>
          <a:p>
            <a:pPr indent="0" marL="0">
              <a:buNone/>
            </a:pPr>
            <a:r>
              <a:rPr lang="en-US" sz="2800" i="1" dirty="0">
                <a:solidFill>
                  <a:srgbClr val="F2A541"/>
                </a:solidFill>
                <a:latin typeface="Cambria" pitchFamily="34" charset="0"/>
                <a:ea typeface="Cambria" pitchFamily="34" charset="-122"/>
                <a:cs typeface="Cambria" pitchFamily="34" charset="-120"/>
              </a:rPr>
              <a:t>Speak to your data, governed.</a:t>
            </a:r>
            <a:endParaRPr lang="en-US" sz="2800" dirty="0"/>
          </a:p>
        </p:txBody>
      </p:sp>
      <p:sp>
        <p:nvSpPr>
          <p:cNvPr id="6" name="Text 4"/>
          <p:cNvSpPr txBox="1"/>
          <p:nvPr/>
        </p:nvSpPr>
        <p:spPr>
          <a:xfrm>
            <a:off x="731520" y="3931920"/>
            <a:ext cx="6949440" cy="914400"/>
          </a:xfrm>
          <a:prstGeom prst="rect">
            <a:avLst/>
          </a:prstGeom>
          <a:noFill/>
          <a:ln/>
        </p:spPr>
        <p:txBody>
          <a:bodyPr wrap="square" lIns="0" tIns="0" rIns="0" bIns="0" rtlCol="0" anchor="t"/>
          <a:lstStyle/>
          <a:p>
            <a:pPr indent="0" marL="0">
              <a:buNone/>
            </a:pPr>
            <a:r>
              <a:rPr lang="en-US" sz="1700" dirty="0">
                <a:solidFill>
                  <a:srgbClr val="C9D3E0"/>
                </a:solidFill>
                <a:latin typeface="Calibri" pitchFamily="34" charset="0"/>
                <a:ea typeface="Calibri" pitchFamily="34" charset="-122"/>
                <a:cs typeface="Calibri" pitchFamily="34" charset="-120"/>
              </a:rPr>
              <a:t>A semantic layer, governed agent tools and a synthetic enterprise laboratory for Cloudera: from warehouse discovery to evidence-backed answers.</a:t>
            </a:r>
            <a:endParaRPr lang="en-US" sz="1700" dirty="0"/>
          </a:p>
        </p:txBody>
      </p:sp>
      <p:sp>
        <p:nvSpPr>
          <p:cNvPr id="7" name="Text 5"/>
          <p:cNvSpPr txBox="1"/>
          <p:nvPr/>
        </p:nvSpPr>
        <p:spPr>
          <a:xfrm>
            <a:off x="731520" y="5760720"/>
            <a:ext cx="8229600" cy="365760"/>
          </a:xfrm>
          <a:prstGeom prst="rect">
            <a:avLst/>
          </a:prstGeom>
          <a:noFill/>
          <a:ln/>
        </p:spPr>
        <p:txBody>
          <a:bodyPr wrap="square" lIns="0" tIns="0" rIns="0" bIns="0" rtlCol="0" anchor="ctr"/>
          <a:lstStyle/>
          <a:p>
            <a:pPr indent="0" marL="0">
              <a:buNone/>
            </a:pPr>
            <a:r>
              <a:rPr lang="en-US" sz="1300" dirty="0">
                <a:solidFill>
                  <a:srgbClr val="8FA0B6"/>
                </a:solidFill>
                <a:latin typeface="Calibri" pitchFamily="34" charset="0"/>
                <a:ea typeface="Calibri" pitchFamily="34" charset="-122"/>
                <a:cs typeface="Calibri" pitchFamily="34" charset="-120"/>
              </a:rPr>
              <a:t>Helios Query · Helios-DS-Generation · Helios-DS-Evaluation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3200" b="1" dirty="0">
                <a:solidFill>
                  <a:srgbClr val="0E1A2B"/>
                </a:solidFill>
                <a:latin typeface="Cambria" pitchFamily="34" charset="0"/>
                <a:ea typeface="Cambria" pitchFamily="34" charset="-122"/>
                <a:cs typeface="Cambria" pitchFamily="34" charset="-120"/>
              </a:rPr>
              <a:t>What we'll cover</a:t>
            </a:r>
            <a:endParaRPr lang="en-US" sz="3200" dirty="0"/>
          </a:p>
        </p:txBody>
      </p:sp>
      <p:sp>
        <p:nvSpPr>
          <p:cNvPr id="3" name="Shape 1"/>
          <p:cNvSpPr/>
          <p:nvPr/>
        </p:nvSpPr>
        <p:spPr>
          <a:xfrm>
            <a:off x="548640" y="1417320"/>
            <a:ext cx="5394960" cy="1463040"/>
          </a:xfrm>
          <a:prstGeom prst="roundRect">
            <a:avLst>
              <a:gd name="adj" fmla="val 5000"/>
            </a:avLst>
          </a:prstGeom>
          <a:solidFill>
            <a:srgbClr val="F4F6F9"/>
          </a:solidFill>
          <a:ln w="12700">
            <a:solidFill>
              <a:srgbClr val="F4F6F9"/>
            </a:solidFill>
            <a:prstDash val="solid"/>
          </a:ln>
        </p:spPr>
      </p:sp>
      <p:sp>
        <p:nvSpPr>
          <p:cNvPr id="4" name="Shape 2"/>
          <p:cNvSpPr/>
          <p:nvPr/>
        </p:nvSpPr>
        <p:spPr>
          <a:xfrm>
            <a:off x="777240" y="1645920"/>
            <a:ext cx="502920" cy="502920"/>
          </a:xfrm>
          <a:prstGeom prst="ellipse">
            <a:avLst/>
          </a:prstGeom>
          <a:solidFill>
            <a:srgbClr val="F2A541"/>
          </a:solidFill>
          <a:ln w="12700">
            <a:solidFill>
              <a:srgbClr val="F2A541"/>
            </a:solidFill>
            <a:prstDash val="solid"/>
          </a:ln>
        </p:spPr>
      </p:sp>
      <p:pic>
        <p:nvPicPr>
          <p:cNvPr id="5" name="Image 0" descr="preencoded.png">    </p:cNvPr>
          <p:cNvPicPr>
            <a:picLocks noChangeAspect="1"/>
          </p:cNvPicPr>
          <p:nvPr/>
        </p:nvPicPr>
        <p:blipFill>
          <a:blip r:embed="rId1"/>
          <a:stretch>
            <a:fillRect/>
          </a:stretch>
        </p:blipFill>
        <p:spPr>
          <a:xfrm>
            <a:off x="897941" y="1766621"/>
            <a:ext cx="261518" cy="261518"/>
          </a:xfrm>
          <a:prstGeom prst="rect">
            <a:avLst/>
          </a:prstGeom>
        </p:spPr>
      </p:pic>
      <p:sp>
        <p:nvSpPr>
          <p:cNvPr id="6" name="Text 3"/>
          <p:cNvSpPr txBox="1"/>
          <p:nvPr/>
        </p:nvSpPr>
        <p:spPr>
          <a:xfrm>
            <a:off x="1417320" y="1618488"/>
            <a:ext cx="4343400" cy="548640"/>
          </a:xfrm>
          <a:prstGeom prst="rect">
            <a:avLst/>
          </a:prstGeom>
          <a:noFill/>
          <a:ln/>
        </p:spPr>
        <p:txBody>
          <a:bodyPr wrap="square" lIns="0" tIns="0" rIns="0" bIns="0" rtlCol="0" anchor="ctr"/>
          <a:lstStyle/>
          <a:p>
            <a:pPr indent="0" marL="0">
              <a:buNone/>
            </a:pPr>
            <a:r>
              <a:rPr lang="en-US" sz="1800" b="1" dirty="0">
                <a:solidFill>
                  <a:srgbClr val="0E1A2B"/>
                </a:solidFill>
                <a:latin typeface="Calibri" pitchFamily="34" charset="0"/>
                <a:ea typeface="Calibri" pitchFamily="34" charset="-122"/>
                <a:cs typeface="Calibri" pitchFamily="34" charset="-120"/>
              </a:rPr>
              <a:t>1  Why a semantic layer?</a:t>
            </a:r>
            <a:endParaRPr lang="en-US" sz="1800" dirty="0"/>
          </a:p>
        </p:txBody>
      </p:sp>
      <p:sp>
        <p:nvSpPr>
          <p:cNvPr id="7" name="Text 4"/>
          <p:cNvSpPr txBox="1"/>
          <p:nvPr/>
        </p:nvSpPr>
        <p:spPr>
          <a:xfrm>
            <a:off x="822960" y="2286000"/>
            <a:ext cx="4892040" cy="45720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Why asking an LLM to navigate raw data falls short, and the evidence</a:t>
            </a:r>
            <a:endParaRPr lang="en-US" sz="1400" dirty="0"/>
          </a:p>
        </p:txBody>
      </p:sp>
      <p:sp>
        <p:nvSpPr>
          <p:cNvPr id="8" name="Shape 5"/>
          <p:cNvSpPr/>
          <p:nvPr/>
        </p:nvSpPr>
        <p:spPr>
          <a:xfrm>
            <a:off x="6217920" y="1417320"/>
            <a:ext cx="5394960" cy="1463040"/>
          </a:xfrm>
          <a:prstGeom prst="roundRect">
            <a:avLst>
              <a:gd name="adj" fmla="val 5000"/>
            </a:avLst>
          </a:prstGeom>
          <a:solidFill>
            <a:srgbClr val="F4F6F9"/>
          </a:solidFill>
          <a:ln w="12700">
            <a:solidFill>
              <a:srgbClr val="F4F6F9"/>
            </a:solidFill>
            <a:prstDash val="solid"/>
          </a:ln>
        </p:spPr>
      </p:sp>
      <p:sp>
        <p:nvSpPr>
          <p:cNvPr id="9" name="Shape 6"/>
          <p:cNvSpPr/>
          <p:nvPr/>
        </p:nvSpPr>
        <p:spPr>
          <a:xfrm>
            <a:off x="6446520" y="1645920"/>
            <a:ext cx="502920" cy="502920"/>
          </a:xfrm>
          <a:prstGeom prst="ellipse">
            <a:avLst/>
          </a:prstGeom>
          <a:solidFill>
            <a:srgbClr val="F2A541"/>
          </a:solidFill>
          <a:ln w="12700">
            <a:solidFill>
              <a:srgbClr val="F2A541"/>
            </a:solidFill>
            <a:prstDash val="solid"/>
          </a:ln>
        </p:spPr>
      </p:sp>
      <p:pic>
        <p:nvPicPr>
          <p:cNvPr id="10" name="Image 1" descr="preencoded.png">    </p:cNvPr>
          <p:cNvPicPr>
            <a:picLocks noChangeAspect="1"/>
          </p:cNvPicPr>
          <p:nvPr/>
        </p:nvPicPr>
        <p:blipFill>
          <a:blip r:embed="rId2"/>
          <a:stretch>
            <a:fillRect/>
          </a:stretch>
        </p:blipFill>
        <p:spPr>
          <a:xfrm>
            <a:off x="6567221" y="1766621"/>
            <a:ext cx="261518" cy="261518"/>
          </a:xfrm>
          <a:prstGeom prst="rect">
            <a:avLst/>
          </a:prstGeom>
        </p:spPr>
      </p:pic>
      <p:sp>
        <p:nvSpPr>
          <p:cNvPr id="11" name="Text 7"/>
          <p:cNvSpPr txBox="1"/>
          <p:nvPr/>
        </p:nvSpPr>
        <p:spPr>
          <a:xfrm>
            <a:off x="7086600" y="1618488"/>
            <a:ext cx="4343400" cy="548640"/>
          </a:xfrm>
          <a:prstGeom prst="rect">
            <a:avLst/>
          </a:prstGeom>
          <a:noFill/>
          <a:ln/>
        </p:spPr>
        <p:txBody>
          <a:bodyPr wrap="square" lIns="0" tIns="0" rIns="0" bIns="0" rtlCol="0" anchor="ctr"/>
          <a:lstStyle/>
          <a:p>
            <a:pPr indent="0" marL="0">
              <a:buNone/>
            </a:pPr>
            <a:r>
              <a:rPr lang="en-US" sz="1800" b="1" dirty="0">
                <a:solidFill>
                  <a:srgbClr val="0E1A2B"/>
                </a:solidFill>
                <a:latin typeface="Calibri" pitchFamily="34" charset="0"/>
                <a:ea typeface="Calibri" pitchFamily="34" charset="-122"/>
                <a:cs typeface="Calibri" pitchFamily="34" charset="-120"/>
              </a:rPr>
              <a:t>2  What Helios is</a:t>
            </a:r>
            <a:endParaRPr lang="en-US" sz="1800" dirty="0"/>
          </a:p>
        </p:txBody>
      </p:sp>
      <p:sp>
        <p:nvSpPr>
          <p:cNvPr id="12" name="Text 8"/>
          <p:cNvSpPr txBox="1"/>
          <p:nvPr/>
        </p:nvSpPr>
        <p:spPr>
          <a:xfrm>
            <a:off x="6492240" y="2286000"/>
            <a:ext cx="4892040" cy="45720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Three layers of meaning, design principles, architecture on Cloudera</a:t>
            </a:r>
            <a:endParaRPr lang="en-US" sz="1400" dirty="0"/>
          </a:p>
        </p:txBody>
      </p:sp>
      <p:sp>
        <p:nvSpPr>
          <p:cNvPr id="13" name="Shape 9"/>
          <p:cNvSpPr/>
          <p:nvPr/>
        </p:nvSpPr>
        <p:spPr>
          <a:xfrm>
            <a:off x="548640" y="3108960"/>
            <a:ext cx="5394960" cy="1463040"/>
          </a:xfrm>
          <a:prstGeom prst="roundRect">
            <a:avLst>
              <a:gd name="adj" fmla="val 5000"/>
            </a:avLst>
          </a:prstGeom>
          <a:solidFill>
            <a:srgbClr val="F4F6F9"/>
          </a:solidFill>
          <a:ln w="12700">
            <a:solidFill>
              <a:srgbClr val="F4F6F9"/>
            </a:solidFill>
            <a:prstDash val="solid"/>
          </a:ln>
        </p:spPr>
      </p:sp>
      <p:sp>
        <p:nvSpPr>
          <p:cNvPr id="14" name="Shape 10"/>
          <p:cNvSpPr/>
          <p:nvPr/>
        </p:nvSpPr>
        <p:spPr>
          <a:xfrm>
            <a:off x="777240" y="3337560"/>
            <a:ext cx="502920" cy="502920"/>
          </a:xfrm>
          <a:prstGeom prst="ellipse">
            <a:avLst/>
          </a:prstGeom>
          <a:solidFill>
            <a:srgbClr val="F2A541"/>
          </a:solidFill>
          <a:ln w="12700">
            <a:solidFill>
              <a:srgbClr val="F2A541"/>
            </a:solidFill>
            <a:prstDash val="solid"/>
          </a:ln>
        </p:spPr>
      </p:sp>
      <p:pic>
        <p:nvPicPr>
          <p:cNvPr id="15" name="Image 2" descr="preencoded.png">    </p:cNvPr>
          <p:cNvPicPr>
            <a:picLocks noChangeAspect="1"/>
          </p:cNvPicPr>
          <p:nvPr/>
        </p:nvPicPr>
        <p:blipFill>
          <a:blip r:embed="rId3"/>
          <a:stretch>
            <a:fillRect/>
          </a:stretch>
        </p:blipFill>
        <p:spPr>
          <a:xfrm>
            <a:off x="897941" y="3458261"/>
            <a:ext cx="261518" cy="261518"/>
          </a:xfrm>
          <a:prstGeom prst="rect">
            <a:avLst/>
          </a:prstGeom>
        </p:spPr>
      </p:pic>
      <p:sp>
        <p:nvSpPr>
          <p:cNvPr id="16" name="Text 11"/>
          <p:cNvSpPr txBox="1"/>
          <p:nvPr/>
        </p:nvSpPr>
        <p:spPr>
          <a:xfrm>
            <a:off x="1417320" y="3310128"/>
            <a:ext cx="4343400" cy="548640"/>
          </a:xfrm>
          <a:prstGeom prst="rect">
            <a:avLst/>
          </a:prstGeom>
          <a:noFill/>
          <a:ln/>
        </p:spPr>
        <p:txBody>
          <a:bodyPr wrap="square" lIns="0" tIns="0" rIns="0" bIns="0" rtlCol="0" anchor="ctr"/>
          <a:lstStyle/>
          <a:p>
            <a:pPr indent="0" marL="0">
              <a:buNone/>
            </a:pPr>
            <a:r>
              <a:rPr lang="en-US" sz="1800" b="1" dirty="0">
                <a:solidFill>
                  <a:srgbClr val="0E1A2B"/>
                </a:solidFill>
                <a:latin typeface="Calibri" pitchFamily="34" charset="0"/>
                <a:ea typeface="Calibri" pitchFamily="34" charset="-122"/>
                <a:cs typeface="Calibri" pitchFamily="34" charset="-120"/>
              </a:rPr>
              <a:t>3  Building the semantic model</a:t>
            </a:r>
            <a:endParaRPr lang="en-US" sz="1800" dirty="0"/>
          </a:p>
        </p:txBody>
      </p:sp>
      <p:sp>
        <p:nvSpPr>
          <p:cNvPr id="17" name="Text 12"/>
          <p:cNvSpPr txBox="1"/>
          <p:nvPr/>
        </p:nvSpPr>
        <p:spPr>
          <a:xfrm>
            <a:off x="822960" y="3977640"/>
            <a:ext cx="4892040" cy="45720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Harvest → Profile → Propose → Review → Publish, Ossie, glossary, compiler</a:t>
            </a:r>
            <a:endParaRPr lang="en-US" sz="1400" dirty="0"/>
          </a:p>
        </p:txBody>
      </p:sp>
      <p:sp>
        <p:nvSpPr>
          <p:cNvPr id="18" name="Shape 13"/>
          <p:cNvSpPr/>
          <p:nvPr/>
        </p:nvSpPr>
        <p:spPr>
          <a:xfrm>
            <a:off x="6217920" y="3108960"/>
            <a:ext cx="5394960" cy="1463040"/>
          </a:xfrm>
          <a:prstGeom prst="roundRect">
            <a:avLst>
              <a:gd name="adj" fmla="val 5000"/>
            </a:avLst>
          </a:prstGeom>
          <a:solidFill>
            <a:srgbClr val="F4F6F9"/>
          </a:solidFill>
          <a:ln w="12700">
            <a:solidFill>
              <a:srgbClr val="F4F6F9"/>
            </a:solidFill>
            <a:prstDash val="solid"/>
          </a:ln>
        </p:spPr>
      </p:sp>
      <p:sp>
        <p:nvSpPr>
          <p:cNvPr id="19" name="Shape 14"/>
          <p:cNvSpPr/>
          <p:nvPr/>
        </p:nvSpPr>
        <p:spPr>
          <a:xfrm>
            <a:off x="6446520" y="3337560"/>
            <a:ext cx="502920" cy="502920"/>
          </a:xfrm>
          <a:prstGeom prst="ellipse">
            <a:avLst/>
          </a:prstGeom>
          <a:solidFill>
            <a:srgbClr val="F2A541"/>
          </a:solidFill>
          <a:ln w="12700">
            <a:solidFill>
              <a:srgbClr val="F2A541"/>
            </a:solidFill>
            <a:prstDash val="solid"/>
          </a:ln>
        </p:spPr>
      </p:sp>
      <p:pic>
        <p:nvPicPr>
          <p:cNvPr id="20" name="Image 3" descr="preencoded.png">    </p:cNvPr>
          <p:cNvPicPr>
            <a:picLocks noChangeAspect="1"/>
          </p:cNvPicPr>
          <p:nvPr/>
        </p:nvPicPr>
        <p:blipFill>
          <a:blip r:embed="rId4"/>
          <a:stretch>
            <a:fillRect/>
          </a:stretch>
        </p:blipFill>
        <p:spPr>
          <a:xfrm>
            <a:off x="6567221" y="3458261"/>
            <a:ext cx="261518" cy="261518"/>
          </a:xfrm>
          <a:prstGeom prst="rect">
            <a:avLst/>
          </a:prstGeom>
        </p:spPr>
      </p:pic>
      <p:sp>
        <p:nvSpPr>
          <p:cNvPr id="21" name="Text 15"/>
          <p:cNvSpPr txBox="1"/>
          <p:nvPr/>
        </p:nvSpPr>
        <p:spPr>
          <a:xfrm>
            <a:off x="7086600" y="3310128"/>
            <a:ext cx="4343400" cy="548640"/>
          </a:xfrm>
          <a:prstGeom prst="rect">
            <a:avLst/>
          </a:prstGeom>
          <a:noFill/>
          <a:ln/>
        </p:spPr>
        <p:txBody>
          <a:bodyPr wrap="square" lIns="0" tIns="0" rIns="0" bIns="0" rtlCol="0" anchor="ctr"/>
          <a:lstStyle/>
          <a:p>
            <a:pPr indent="0" marL="0">
              <a:buNone/>
            </a:pPr>
            <a:r>
              <a:rPr lang="en-US" sz="1800" b="1" dirty="0">
                <a:solidFill>
                  <a:srgbClr val="0E1A2B"/>
                </a:solidFill>
                <a:latin typeface="Calibri" pitchFamily="34" charset="0"/>
                <a:ea typeface="Calibri" pitchFamily="34" charset="-122"/>
                <a:cs typeface="Calibri" pitchFamily="34" charset="-120"/>
              </a:rPr>
              <a:t>4  Talk to your data</a:t>
            </a:r>
            <a:endParaRPr lang="en-US" sz="1800" dirty="0"/>
          </a:p>
        </p:txBody>
      </p:sp>
      <p:sp>
        <p:nvSpPr>
          <p:cNvPr id="22" name="Text 16"/>
          <p:cNvSpPr txBox="1"/>
          <p:nvPr/>
        </p:nvSpPr>
        <p:spPr>
          <a:xfrm>
            <a:off x="6492240" y="3977640"/>
            <a:ext cx="4892040" cy="45720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MCP tools, the answer loop, guardrails, security, evaluation</a:t>
            </a:r>
            <a:endParaRPr lang="en-US" sz="1400" dirty="0"/>
          </a:p>
        </p:txBody>
      </p:sp>
      <p:sp>
        <p:nvSpPr>
          <p:cNvPr id="23" name="Shape 17"/>
          <p:cNvSpPr/>
          <p:nvPr/>
        </p:nvSpPr>
        <p:spPr>
          <a:xfrm>
            <a:off x="548640" y="4800600"/>
            <a:ext cx="5394960" cy="1463040"/>
          </a:xfrm>
          <a:prstGeom prst="roundRect">
            <a:avLst>
              <a:gd name="adj" fmla="val 5000"/>
            </a:avLst>
          </a:prstGeom>
          <a:solidFill>
            <a:srgbClr val="F4F6F9"/>
          </a:solidFill>
          <a:ln w="12700">
            <a:solidFill>
              <a:srgbClr val="F4F6F9"/>
            </a:solidFill>
            <a:prstDash val="solid"/>
          </a:ln>
        </p:spPr>
      </p:sp>
      <p:sp>
        <p:nvSpPr>
          <p:cNvPr id="24" name="Shape 18"/>
          <p:cNvSpPr/>
          <p:nvPr/>
        </p:nvSpPr>
        <p:spPr>
          <a:xfrm>
            <a:off x="777240" y="5029200"/>
            <a:ext cx="502920" cy="502920"/>
          </a:xfrm>
          <a:prstGeom prst="ellipse">
            <a:avLst/>
          </a:prstGeom>
          <a:solidFill>
            <a:srgbClr val="F2A541"/>
          </a:solidFill>
          <a:ln w="12700">
            <a:solidFill>
              <a:srgbClr val="F2A541"/>
            </a:solidFill>
            <a:prstDash val="solid"/>
          </a:ln>
        </p:spPr>
      </p:sp>
      <p:pic>
        <p:nvPicPr>
          <p:cNvPr id="25" name="Image 4" descr="preencoded.png">    </p:cNvPr>
          <p:cNvPicPr>
            <a:picLocks noChangeAspect="1"/>
          </p:cNvPicPr>
          <p:nvPr/>
        </p:nvPicPr>
        <p:blipFill>
          <a:blip r:embed="rId5"/>
          <a:stretch>
            <a:fillRect/>
          </a:stretch>
        </p:blipFill>
        <p:spPr>
          <a:xfrm>
            <a:off x="897941" y="5149901"/>
            <a:ext cx="261518" cy="261518"/>
          </a:xfrm>
          <a:prstGeom prst="rect">
            <a:avLst/>
          </a:prstGeom>
        </p:spPr>
      </p:pic>
      <p:sp>
        <p:nvSpPr>
          <p:cNvPr id="26" name="Text 19"/>
          <p:cNvSpPr txBox="1"/>
          <p:nvPr/>
        </p:nvSpPr>
        <p:spPr>
          <a:xfrm>
            <a:off x="1417320" y="5001768"/>
            <a:ext cx="4343400" cy="548640"/>
          </a:xfrm>
          <a:prstGeom prst="rect">
            <a:avLst/>
          </a:prstGeom>
          <a:noFill/>
          <a:ln/>
        </p:spPr>
        <p:txBody>
          <a:bodyPr wrap="square" lIns="0" tIns="0" rIns="0" bIns="0" rtlCol="0" anchor="ctr"/>
          <a:lstStyle/>
          <a:p>
            <a:pPr indent="0" marL="0">
              <a:buNone/>
            </a:pPr>
            <a:r>
              <a:rPr lang="en-US" sz="1800" b="1" dirty="0">
                <a:solidFill>
                  <a:srgbClr val="0E1A2B"/>
                </a:solidFill>
                <a:latin typeface="Calibri" pitchFamily="34" charset="0"/>
                <a:ea typeface="Calibri" pitchFamily="34" charset="-122"/>
                <a:cs typeface="Calibri" pitchFamily="34" charset="-120"/>
              </a:rPr>
              <a:t>5  The Helios UI</a:t>
            </a:r>
            <a:endParaRPr lang="en-US" sz="1800" dirty="0"/>
          </a:p>
        </p:txBody>
      </p:sp>
      <p:sp>
        <p:nvSpPr>
          <p:cNvPr id="27" name="Text 20"/>
          <p:cNvSpPr txBox="1"/>
          <p:nvPr/>
        </p:nvSpPr>
        <p:spPr>
          <a:xfrm>
            <a:off x="822960" y="5669280"/>
            <a:ext cx="4892040" cy="45720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A guided tour of the application</a:t>
            </a:r>
            <a:endParaRPr lang="en-US" sz="1400" dirty="0"/>
          </a:p>
        </p:txBody>
      </p:sp>
      <p:sp>
        <p:nvSpPr>
          <p:cNvPr id="28" name="Shape 21"/>
          <p:cNvSpPr/>
          <p:nvPr/>
        </p:nvSpPr>
        <p:spPr>
          <a:xfrm>
            <a:off x="6217920" y="4800600"/>
            <a:ext cx="5394960" cy="1463040"/>
          </a:xfrm>
          <a:prstGeom prst="roundRect">
            <a:avLst>
              <a:gd name="adj" fmla="val 5000"/>
            </a:avLst>
          </a:prstGeom>
          <a:solidFill>
            <a:srgbClr val="F4F6F9"/>
          </a:solidFill>
          <a:ln w="12700">
            <a:solidFill>
              <a:srgbClr val="F4F6F9"/>
            </a:solidFill>
            <a:prstDash val="solid"/>
          </a:ln>
        </p:spPr>
      </p:sp>
      <p:sp>
        <p:nvSpPr>
          <p:cNvPr id="29" name="Shape 22"/>
          <p:cNvSpPr/>
          <p:nvPr/>
        </p:nvSpPr>
        <p:spPr>
          <a:xfrm>
            <a:off x="6446520" y="5029200"/>
            <a:ext cx="502920" cy="502920"/>
          </a:xfrm>
          <a:prstGeom prst="ellipse">
            <a:avLst/>
          </a:prstGeom>
          <a:solidFill>
            <a:srgbClr val="F2A541"/>
          </a:solidFill>
          <a:ln w="12700">
            <a:solidFill>
              <a:srgbClr val="F2A541"/>
            </a:solidFill>
            <a:prstDash val="solid"/>
          </a:ln>
        </p:spPr>
      </p:sp>
      <p:pic>
        <p:nvPicPr>
          <p:cNvPr id="30" name="Image 5" descr="preencoded.png">    </p:cNvPr>
          <p:cNvPicPr>
            <a:picLocks noChangeAspect="1"/>
          </p:cNvPicPr>
          <p:nvPr/>
        </p:nvPicPr>
        <p:blipFill>
          <a:blip r:embed="rId6"/>
          <a:stretch>
            <a:fillRect/>
          </a:stretch>
        </p:blipFill>
        <p:spPr>
          <a:xfrm>
            <a:off x="6567221" y="5149901"/>
            <a:ext cx="261518" cy="261518"/>
          </a:xfrm>
          <a:prstGeom prst="rect">
            <a:avLst/>
          </a:prstGeom>
        </p:spPr>
      </p:pic>
      <p:sp>
        <p:nvSpPr>
          <p:cNvPr id="31" name="Text 23"/>
          <p:cNvSpPr txBox="1"/>
          <p:nvPr/>
        </p:nvSpPr>
        <p:spPr>
          <a:xfrm>
            <a:off x="7086600" y="5001768"/>
            <a:ext cx="4343400" cy="548640"/>
          </a:xfrm>
          <a:prstGeom prst="rect">
            <a:avLst/>
          </a:prstGeom>
          <a:noFill/>
          <a:ln/>
        </p:spPr>
        <p:txBody>
          <a:bodyPr wrap="square" lIns="0" tIns="0" rIns="0" bIns="0" rtlCol="0" anchor="ctr"/>
          <a:lstStyle/>
          <a:p>
            <a:pPr indent="0" marL="0">
              <a:buNone/>
            </a:pPr>
            <a:r>
              <a:rPr lang="en-US" sz="1800" b="1" dirty="0">
                <a:solidFill>
                  <a:srgbClr val="0E1A2B"/>
                </a:solidFill>
                <a:latin typeface="Calibri" pitchFamily="34" charset="0"/>
                <a:ea typeface="Calibri" pitchFamily="34" charset="-122"/>
                <a:cs typeface="Calibri" pitchFamily="34" charset="-120"/>
              </a:rPr>
              <a:t>6  Helios-DS and the crawler</a:t>
            </a:r>
            <a:endParaRPr lang="en-US" sz="1800" dirty="0"/>
          </a:p>
        </p:txBody>
      </p:sp>
      <p:sp>
        <p:nvSpPr>
          <p:cNvPr id="32" name="Text 24"/>
          <p:cNvSpPr txBox="1"/>
          <p:nvPr/>
        </p:nvSpPr>
        <p:spPr>
          <a:xfrm>
            <a:off x="6492240" y="5669280"/>
            <a:ext cx="4892040" cy="45720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A synthetic enterprise with known ground truth, to prove it works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A2B"/>
        </a:solidFill>
      </p:bgPr>
    </p:bg>
    <p:spTree>
      <p:nvGrpSpPr>
        <p:cNvPr id="1" name=""/>
        <p:cNvGrpSpPr/>
        <p:nvPr/>
      </p:nvGrpSpPr>
      <p:grpSpPr>
        <a:xfrm>
          <a:off x="0" y="0"/>
          <a:ext cx="0" cy="0"/>
          <a:chOff x="0" y="0"/>
          <a:chExt cx="0" cy="0"/>
        </a:xfrm>
      </p:grpSpPr>
      <p:sp>
        <p:nvSpPr>
          <p:cNvPr id="2" name="Shape 0"/>
          <p:cNvSpPr/>
          <p:nvPr/>
        </p:nvSpPr>
        <p:spPr>
          <a:xfrm>
            <a:off x="8412480" y="1097280"/>
            <a:ext cx="4754880" cy="4754880"/>
          </a:xfrm>
          <a:prstGeom prst="ellipse">
            <a:avLst/>
          </a:prstGeom>
          <a:solidFill>
            <a:srgbClr val="1C2F4A"/>
          </a:solidFill>
          <a:ln w="12700">
            <a:solidFill>
              <a:srgbClr val="1C2F4A"/>
            </a:solidFill>
            <a:prstDash val="solid"/>
          </a:ln>
        </p:spPr>
      </p:sp>
      <p:sp>
        <p:nvSpPr>
          <p:cNvPr id="3" name="Shape 1"/>
          <p:cNvSpPr/>
          <p:nvPr/>
        </p:nvSpPr>
        <p:spPr>
          <a:xfrm>
            <a:off x="9966960" y="2651760"/>
            <a:ext cx="1645920" cy="1645920"/>
          </a:xfrm>
          <a:prstGeom prst="ellipse">
            <a:avLst/>
          </a:prstGeom>
          <a:solidFill>
            <a:srgbClr val="F2A541"/>
          </a:solidFill>
          <a:ln w="12700">
            <a:solidFill>
              <a:srgbClr val="F2A541"/>
            </a:solidFill>
            <a:prstDash val="solid"/>
          </a:ln>
        </p:spPr>
      </p:sp>
      <p:pic>
        <p:nvPicPr>
          <p:cNvPr id="4" name="Image 0" descr="preencoded.png">    </p:cNvPr>
          <p:cNvPicPr>
            <a:picLocks noChangeAspect="1"/>
          </p:cNvPicPr>
          <p:nvPr/>
        </p:nvPicPr>
        <p:blipFill>
          <a:blip r:embed="rId1"/>
          <a:stretch>
            <a:fillRect/>
          </a:stretch>
        </p:blipFill>
        <p:spPr>
          <a:xfrm>
            <a:off x="10361981" y="3046781"/>
            <a:ext cx="855878" cy="855878"/>
          </a:xfrm>
          <a:prstGeom prst="rect">
            <a:avLst/>
          </a:prstGeom>
        </p:spPr>
      </p:pic>
      <p:sp>
        <p:nvSpPr>
          <p:cNvPr id="5" name="Text 2"/>
          <p:cNvSpPr txBox="1"/>
          <p:nvPr/>
        </p:nvSpPr>
        <p:spPr>
          <a:xfrm>
            <a:off x="731520" y="2011680"/>
            <a:ext cx="6858000" cy="365760"/>
          </a:xfrm>
          <a:prstGeom prst="rect">
            <a:avLst/>
          </a:prstGeom>
          <a:noFill/>
          <a:ln/>
        </p:spPr>
        <p:txBody>
          <a:bodyPr wrap="square" lIns="0" tIns="0" rIns="0" bIns="0" rtlCol="0" anchor="ctr"/>
          <a:lstStyle/>
          <a:p>
            <a:pPr indent="0" marL="0">
              <a:buNone/>
            </a:pPr>
            <a:r>
              <a:rPr lang="en-US" sz="1400" b="1" spc="300" kern="0" dirty="0">
                <a:solidFill>
                  <a:srgbClr val="F2A541"/>
                </a:solidFill>
                <a:latin typeface="Calibri" pitchFamily="34" charset="0"/>
                <a:ea typeface="Calibri" pitchFamily="34" charset="-122"/>
                <a:cs typeface="Calibri" pitchFamily="34" charset="-120"/>
              </a:rPr>
              <a:t>PART 1 OF 6</a:t>
            </a:r>
            <a:endParaRPr lang="en-US" sz="1400" dirty="0"/>
          </a:p>
        </p:txBody>
      </p:sp>
      <p:sp>
        <p:nvSpPr>
          <p:cNvPr id="6" name="Text 3"/>
          <p:cNvSpPr txBox="1"/>
          <p:nvPr/>
        </p:nvSpPr>
        <p:spPr>
          <a:xfrm>
            <a:off x="731520" y="2468880"/>
            <a:ext cx="7498080" cy="118872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Why a semantic layer?</a:t>
            </a:r>
            <a:endParaRPr lang="en-US" sz="4400" dirty="0"/>
          </a:p>
        </p:txBody>
      </p:sp>
      <p:sp>
        <p:nvSpPr>
          <p:cNvPr id="7" name="Text 4"/>
          <p:cNvSpPr txBox="1"/>
          <p:nvPr/>
        </p:nvSpPr>
        <p:spPr>
          <a:xfrm>
            <a:off x="731520" y="3749040"/>
            <a:ext cx="6949440" cy="1097280"/>
          </a:xfrm>
          <a:prstGeom prst="rect">
            <a:avLst/>
          </a:prstGeom>
          <a:noFill/>
          <a:ln/>
        </p:spPr>
        <p:txBody>
          <a:bodyPr wrap="square" lIns="0" tIns="0" rIns="0" bIns="0" rtlCol="0" anchor="t"/>
          <a:lstStyle/>
          <a:p>
            <a:pPr indent="0" marL="0">
              <a:buNone/>
            </a:pPr>
            <a:r>
              <a:rPr lang="en-US" sz="1800" dirty="0">
                <a:solidFill>
                  <a:srgbClr val="C9D3E0"/>
                </a:solidFill>
                <a:latin typeface="Calibri" pitchFamily="34" charset="0"/>
                <a:ea typeface="Calibri" pitchFamily="34" charset="-122"/>
                <a:cs typeface="Calibri" pitchFamily="34" charset="-120"/>
              </a:rPr>
              <a:t>Asking an LLM to guess at raw tables or documents is not the same as giving it governed tools built from the data.</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2600" b="1" dirty="0">
                <a:solidFill>
                  <a:srgbClr val="0E1A2B"/>
                </a:solidFill>
                <a:latin typeface="Cambria" pitchFamily="34" charset="0"/>
                <a:ea typeface="Cambria" pitchFamily="34" charset="-122"/>
                <a:cs typeface="Cambria" pitchFamily="34" charset="-120"/>
              </a:rPr>
              <a:t>Text-to-SQL on a bare warehouse fails for predictable reasons</a:t>
            </a:r>
            <a:endParaRPr lang="en-US" sz="2600" dirty="0"/>
          </a:p>
        </p:txBody>
      </p:sp>
      <p:sp>
        <p:nvSpPr>
          <p:cNvPr id="3" name="Shape 1"/>
          <p:cNvSpPr/>
          <p:nvPr/>
        </p:nvSpPr>
        <p:spPr>
          <a:xfrm>
            <a:off x="548640" y="1463040"/>
            <a:ext cx="3474720" cy="2743200"/>
          </a:xfrm>
          <a:prstGeom prst="roundRect">
            <a:avLst>
              <a:gd name="adj" fmla="val 2667"/>
            </a:avLst>
          </a:prstGeom>
          <a:solidFill>
            <a:srgbClr val="F4F6F9"/>
          </a:solidFill>
          <a:ln w="12700">
            <a:solidFill>
              <a:srgbClr val="F4F6F9"/>
            </a:solidFill>
            <a:prstDash val="solid"/>
          </a:ln>
        </p:spPr>
      </p:sp>
      <p:sp>
        <p:nvSpPr>
          <p:cNvPr id="4" name="Shape 2"/>
          <p:cNvSpPr/>
          <p:nvPr/>
        </p:nvSpPr>
        <p:spPr>
          <a:xfrm>
            <a:off x="777240" y="1691640"/>
            <a:ext cx="502920" cy="502920"/>
          </a:xfrm>
          <a:prstGeom prst="ellipse">
            <a:avLst/>
          </a:prstGeom>
          <a:solidFill>
            <a:srgbClr val="F2A541"/>
          </a:solidFill>
          <a:ln w="12700">
            <a:solidFill>
              <a:srgbClr val="F2A541"/>
            </a:solidFill>
            <a:prstDash val="solid"/>
          </a:ln>
        </p:spPr>
      </p:sp>
      <p:pic>
        <p:nvPicPr>
          <p:cNvPr id="5" name="Image 0" descr="preencoded.png">    </p:cNvPr>
          <p:cNvPicPr>
            <a:picLocks noChangeAspect="1"/>
          </p:cNvPicPr>
          <p:nvPr/>
        </p:nvPicPr>
        <p:blipFill>
          <a:blip r:embed="rId1"/>
          <a:stretch>
            <a:fillRect/>
          </a:stretch>
        </p:blipFill>
        <p:spPr>
          <a:xfrm>
            <a:off x="897941" y="1812341"/>
            <a:ext cx="261518" cy="261518"/>
          </a:xfrm>
          <a:prstGeom prst="rect">
            <a:avLst/>
          </a:prstGeom>
        </p:spPr>
      </p:pic>
      <p:sp>
        <p:nvSpPr>
          <p:cNvPr id="6" name="Text 3"/>
          <p:cNvSpPr txBox="1"/>
          <p:nvPr/>
        </p:nvSpPr>
        <p:spPr>
          <a:xfrm>
            <a:off x="1417320" y="1664208"/>
            <a:ext cx="242316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Meaning</a:t>
            </a:r>
            <a:endParaRPr lang="en-US" sz="1700" dirty="0"/>
          </a:p>
        </p:txBody>
      </p:sp>
      <p:sp>
        <p:nvSpPr>
          <p:cNvPr id="7" name="Text 4"/>
          <p:cNvSpPr txBox="1"/>
          <p:nvPr/>
        </p:nvSpPr>
        <p:spPr>
          <a:xfrm>
            <a:off x="822960" y="2331720"/>
            <a:ext cx="2971800" cy="173736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The model doesn't know that ss_net_paid is revenue, and not ss_sales_price, ss_ext_sales_price or ss_net_paid_inc_tax. All four exist.</a:t>
            </a:r>
            <a:endParaRPr lang="en-US" sz="1500" dirty="0"/>
          </a:p>
        </p:txBody>
      </p:sp>
      <p:sp>
        <p:nvSpPr>
          <p:cNvPr id="8" name="Shape 5"/>
          <p:cNvSpPr/>
          <p:nvPr/>
        </p:nvSpPr>
        <p:spPr>
          <a:xfrm>
            <a:off x="4297680" y="1463040"/>
            <a:ext cx="3474720" cy="2743200"/>
          </a:xfrm>
          <a:prstGeom prst="roundRect">
            <a:avLst>
              <a:gd name="adj" fmla="val 2667"/>
            </a:avLst>
          </a:prstGeom>
          <a:solidFill>
            <a:srgbClr val="F4F6F9"/>
          </a:solidFill>
          <a:ln w="12700">
            <a:solidFill>
              <a:srgbClr val="F4F6F9"/>
            </a:solidFill>
            <a:prstDash val="solid"/>
          </a:ln>
        </p:spPr>
      </p:sp>
      <p:sp>
        <p:nvSpPr>
          <p:cNvPr id="9" name="Shape 6"/>
          <p:cNvSpPr/>
          <p:nvPr/>
        </p:nvSpPr>
        <p:spPr>
          <a:xfrm>
            <a:off x="4526280" y="1691640"/>
            <a:ext cx="502920" cy="502920"/>
          </a:xfrm>
          <a:prstGeom prst="ellipse">
            <a:avLst/>
          </a:prstGeom>
          <a:solidFill>
            <a:srgbClr val="F2A541"/>
          </a:solidFill>
          <a:ln w="12700">
            <a:solidFill>
              <a:srgbClr val="F2A541"/>
            </a:solidFill>
            <a:prstDash val="solid"/>
          </a:ln>
        </p:spPr>
      </p:sp>
      <p:pic>
        <p:nvPicPr>
          <p:cNvPr id="10" name="Image 1" descr="preencoded.png">    </p:cNvPr>
          <p:cNvPicPr>
            <a:picLocks noChangeAspect="1"/>
          </p:cNvPicPr>
          <p:nvPr/>
        </p:nvPicPr>
        <p:blipFill>
          <a:blip r:embed="rId2"/>
          <a:stretch>
            <a:fillRect/>
          </a:stretch>
        </p:blipFill>
        <p:spPr>
          <a:xfrm>
            <a:off x="4646981" y="1812341"/>
            <a:ext cx="261518" cy="261518"/>
          </a:xfrm>
          <a:prstGeom prst="rect">
            <a:avLst/>
          </a:prstGeom>
        </p:spPr>
      </p:pic>
      <p:sp>
        <p:nvSpPr>
          <p:cNvPr id="11" name="Text 7"/>
          <p:cNvSpPr txBox="1"/>
          <p:nvPr/>
        </p:nvSpPr>
        <p:spPr>
          <a:xfrm>
            <a:off x="5166360" y="1664208"/>
            <a:ext cx="242316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Joins</a:t>
            </a:r>
            <a:endParaRPr lang="en-US" sz="1700" dirty="0"/>
          </a:p>
        </p:txBody>
      </p:sp>
      <p:sp>
        <p:nvSpPr>
          <p:cNvPr id="12" name="Text 8"/>
          <p:cNvSpPr txBox="1"/>
          <p:nvPr/>
        </p:nvSpPr>
        <p:spPr>
          <a:xfrm>
            <a:off x="4572000" y="2331720"/>
            <a:ext cx="2971800" cy="173736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It doesn't know store_sales joins to date_dim on the sold date rather than the ship date. No foreign key says so.</a:t>
            </a:r>
            <a:endParaRPr lang="en-US" sz="1500" dirty="0"/>
          </a:p>
        </p:txBody>
      </p:sp>
      <p:sp>
        <p:nvSpPr>
          <p:cNvPr id="13" name="Shape 9"/>
          <p:cNvSpPr/>
          <p:nvPr/>
        </p:nvSpPr>
        <p:spPr>
          <a:xfrm>
            <a:off x="8046720" y="1463040"/>
            <a:ext cx="3474720" cy="2743200"/>
          </a:xfrm>
          <a:prstGeom prst="roundRect">
            <a:avLst>
              <a:gd name="adj" fmla="val 2667"/>
            </a:avLst>
          </a:prstGeom>
          <a:solidFill>
            <a:srgbClr val="F4F6F9"/>
          </a:solidFill>
          <a:ln w="12700">
            <a:solidFill>
              <a:srgbClr val="F4F6F9"/>
            </a:solidFill>
            <a:prstDash val="solid"/>
          </a:ln>
        </p:spPr>
      </p:sp>
      <p:sp>
        <p:nvSpPr>
          <p:cNvPr id="14" name="Shape 10"/>
          <p:cNvSpPr/>
          <p:nvPr/>
        </p:nvSpPr>
        <p:spPr>
          <a:xfrm>
            <a:off x="8275320" y="1691640"/>
            <a:ext cx="502920" cy="502920"/>
          </a:xfrm>
          <a:prstGeom prst="ellipse">
            <a:avLst/>
          </a:prstGeom>
          <a:solidFill>
            <a:srgbClr val="F2A541"/>
          </a:solidFill>
          <a:ln w="12700">
            <a:solidFill>
              <a:srgbClr val="F2A541"/>
            </a:solidFill>
            <a:prstDash val="solid"/>
          </a:ln>
        </p:spPr>
      </p:sp>
      <p:pic>
        <p:nvPicPr>
          <p:cNvPr id="15" name="Image 2" descr="preencoded.png">    </p:cNvPr>
          <p:cNvPicPr>
            <a:picLocks noChangeAspect="1"/>
          </p:cNvPicPr>
          <p:nvPr/>
        </p:nvPicPr>
        <p:blipFill>
          <a:blip r:embed="rId3"/>
          <a:stretch>
            <a:fillRect/>
          </a:stretch>
        </p:blipFill>
        <p:spPr>
          <a:xfrm>
            <a:off x="8396021" y="1812341"/>
            <a:ext cx="261518" cy="261518"/>
          </a:xfrm>
          <a:prstGeom prst="rect">
            <a:avLst/>
          </a:prstGeom>
        </p:spPr>
      </p:pic>
      <p:sp>
        <p:nvSpPr>
          <p:cNvPr id="16" name="Text 11"/>
          <p:cNvSpPr txBox="1"/>
          <p:nvPr/>
        </p:nvSpPr>
        <p:spPr>
          <a:xfrm>
            <a:off x="8915400" y="1664208"/>
            <a:ext cx="242316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Definitions</a:t>
            </a:r>
            <a:endParaRPr lang="en-US" sz="1700" dirty="0"/>
          </a:p>
        </p:txBody>
      </p:sp>
      <p:sp>
        <p:nvSpPr>
          <p:cNvPr id="17" name="Text 12"/>
          <p:cNvSpPr txBox="1"/>
          <p:nvPr/>
        </p:nvSpPr>
        <p:spPr>
          <a:xfrm>
            <a:off x="8321040" y="2331720"/>
            <a:ext cx="2971800" cy="173736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It doesn't know that "gross margin" excludes returns. Business rules live in people's heads, BI tools and old queries.</a:t>
            </a:r>
            <a:endParaRPr lang="en-US" sz="1500" dirty="0"/>
          </a:p>
        </p:txBody>
      </p:sp>
      <p:sp>
        <p:nvSpPr>
          <p:cNvPr id="18" name="Shape 13"/>
          <p:cNvSpPr/>
          <p:nvPr/>
        </p:nvSpPr>
        <p:spPr>
          <a:xfrm>
            <a:off x="548640" y="4526280"/>
            <a:ext cx="11064240" cy="1417320"/>
          </a:xfrm>
          <a:prstGeom prst="roundRect">
            <a:avLst>
              <a:gd name="adj" fmla="val 5161"/>
            </a:avLst>
          </a:prstGeom>
          <a:solidFill>
            <a:srgbClr val="FDF1DE"/>
          </a:solidFill>
          <a:ln w="12700">
            <a:solidFill>
              <a:srgbClr val="FDF1DE"/>
            </a:solidFill>
            <a:prstDash val="solid"/>
          </a:ln>
        </p:spPr>
      </p:sp>
      <p:sp>
        <p:nvSpPr>
          <p:cNvPr id="19" name="Text 14"/>
          <p:cNvSpPr txBox="1"/>
          <p:nvPr/>
        </p:nvSpPr>
        <p:spPr>
          <a:xfrm>
            <a:off x="822960" y="4663440"/>
            <a:ext cx="10515600" cy="1188720"/>
          </a:xfrm>
          <a:prstGeom prst="rect">
            <a:avLst/>
          </a:prstGeom>
          <a:noFill/>
          <a:ln/>
        </p:spPr>
        <p:txBody>
          <a:bodyPr wrap="square" lIns="0" tIns="0" rIns="0" bIns="0" rtlCol="0" anchor="t"/>
          <a:lstStyle/>
          <a:p>
            <a:pPr algn="l" indent="0" marL="0">
              <a:spcAft>
                <a:spcPts val="400"/>
              </a:spcAft>
              <a:buNone/>
            </a:pPr>
            <a:r>
              <a:rPr lang="en-US" sz="1600" i="1" dirty="0">
                <a:solidFill>
                  <a:srgbClr val="1F2937"/>
                </a:solidFill>
                <a:latin typeface="Calibri" pitchFamily="34" charset="0"/>
                <a:ea typeface="Calibri" pitchFamily="34" charset="-122"/>
                <a:cs typeface="Calibri" pitchFamily="34" charset="-120"/>
              </a:rPr>
              <a:t>"Those facts exist, but not anywhere a machine can read them. helios extracts and structures them so that 'speaking to your data' becomes a lookup against a governed model rather than a guess."</a:t>
            </a:r>
            <a:endParaRPr lang="en-US" sz="1600" dirty="0"/>
          </a:p>
          <a:p>
            <a:pPr algn="l" indent="0" marL="0">
              <a:spcAft>
                <a:spcPts val="400"/>
              </a:spcAft>
              <a:buNone/>
            </a:pPr>
            <a:r>
              <a:rPr lang="en-US" sz="1200" dirty="0">
                <a:solidFill>
                  <a:srgbClr val="5B6472"/>
                </a:solidFill>
                <a:latin typeface="Calibri" pitchFamily="34" charset="0"/>
                <a:ea typeface="Calibri" pitchFamily="34" charset="-122"/>
                <a:cs typeface="Calibri" pitchFamily="34" charset="-120"/>
              </a:rPr>
              <a:t>Helios README, "Why"</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3200" b="1" dirty="0">
                <a:solidFill>
                  <a:srgbClr val="0E1A2B"/>
                </a:solidFill>
                <a:latin typeface="Cambria" pitchFamily="34" charset="0"/>
                <a:ea typeface="Cambria" pitchFamily="34" charset="-122"/>
                <a:cs typeface="Cambria" pitchFamily="34" charset="-120"/>
              </a:rPr>
              <a:t>One question, nine money columns</a:t>
            </a:r>
            <a:endParaRPr lang="en-US" sz="3200" dirty="0"/>
          </a:p>
        </p:txBody>
      </p:sp>
      <p:sp>
        <p:nvSpPr>
          <p:cNvPr id="3" name="Text 1"/>
          <p:cNvSpPr txBox="1"/>
          <p:nvPr/>
        </p:nvSpPr>
        <p:spPr>
          <a:xfrm>
            <a:off x="548640" y="1097280"/>
            <a:ext cx="11094415" cy="457200"/>
          </a:xfrm>
          <a:prstGeom prst="rect">
            <a:avLst/>
          </a:prstGeom>
          <a:noFill/>
          <a:ln/>
        </p:spPr>
        <p:txBody>
          <a:bodyPr wrap="square" lIns="0" tIns="0" rIns="0" bIns="0" rtlCol="0" anchor="ctr"/>
          <a:lstStyle/>
          <a:p>
            <a:pPr indent="0" marL="0">
              <a:buNone/>
            </a:pPr>
            <a:r>
              <a:rPr lang="en-US" sz="1600" i="1" dirty="0">
                <a:solidFill>
                  <a:srgbClr val="5B6472"/>
                </a:solidFill>
                <a:latin typeface="Calibri" pitchFamily="34" charset="0"/>
                <a:ea typeface="Calibri" pitchFamily="34" charset="-122"/>
                <a:cs typeface="Calibri" pitchFamily="34" charset="-120"/>
              </a:rPr>
              <a:t>"Which customers spent the most in our stores last year?"</a:t>
            </a:r>
            <a:endParaRPr lang="en-US" sz="1600" dirty="0"/>
          </a:p>
        </p:txBody>
      </p:sp>
      <p:sp>
        <p:nvSpPr>
          <p:cNvPr id="4" name="Shape 2"/>
          <p:cNvSpPr/>
          <p:nvPr/>
        </p:nvSpPr>
        <p:spPr>
          <a:xfrm>
            <a:off x="548640" y="1828800"/>
            <a:ext cx="1965960" cy="658368"/>
          </a:xfrm>
          <a:prstGeom prst="roundRect">
            <a:avLst>
              <a:gd name="adj" fmla="val 11111"/>
            </a:avLst>
          </a:prstGeom>
          <a:solidFill>
            <a:srgbClr val="F4F6F9"/>
          </a:solidFill>
          <a:ln w="12700">
            <a:solidFill>
              <a:srgbClr val="F4F6F9"/>
            </a:solidFill>
            <a:prstDash val="solid"/>
          </a:ln>
        </p:spPr>
      </p:sp>
      <p:sp>
        <p:nvSpPr>
          <p:cNvPr id="5" name="Text 3"/>
          <p:cNvSpPr txBox="1"/>
          <p:nvPr/>
        </p:nvSpPr>
        <p:spPr>
          <a:xfrm>
            <a:off x="548640" y="1828800"/>
            <a:ext cx="1965960" cy="658368"/>
          </a:xfrm>
          <a:prstGeom prst="rect">
            <a:avLst/>
          </a:prstGeom>
          <a:noFill/>
          <a:ln/>
        </p:spPr>
        <p:txBody>
          <a:bodyPr wrap="square" lIns="0" tIns="0" rIns="0" bIns="0" rtlCol="0" anchor="ctr"/>
          <a:lstStyle/>
          <a:p>
            <a:pPr algn="ctr" indent="0" marL="0">
              <a:spcAft>
                <a:spcPts val="400"/>
              </a:spcAft>
              <a:buNone/>
            </a:pPr>
            <a:r>
              <a:rPr lang="en-US" sz="1400" dirty="0">
                <a:solidFill>
                  <a:srgbClr val="0E1A2B"/>
                </a:solidFill>
                <a:latin typeface="Calibri" pitchFamily="34" charset="0"/>
                <a:ea typeface="Calibri" pitchFamily="34" charset="-122"/>
                <a:cs typeface="Calibri" pitchFamily="34" charset="-120"/>
              </a:rPr>
              <a:t>ss_sales_price</a:t>
            </a:r>
            <a:endParaRPr lang="en-US" sz="1400" dirty="0"/>
          </a:p>
        </p:txBody>
      </p:sp>
      <p:sp>
        <p:nvSpPr>
          <p:cNvPr id="6" name="Shape 4"/>
          <p:cNvSpPr/>
          <p:nvPr/>
        </p:nvSpPr>
        <p:spPr>
          <a:xfrm>
            <a:off x="2697480" y="1828800"/>
            <a:ext cx="1965960" cy="658368"/>
          </a:xfrm>
          <a:prstGeom prst="roundRect">
            <a:avLst>
              <a:gd name="adj" fmla="val 11111"/>
            </a:avLst>
          </a:prstGeom>
          <a:solidFill>
            <a:srgbClr val="F4F6F9"/>
          </a:solidFill>
          <a:ln w="12700">
            <a:solidFill>
              <a:srgbClr val="F4F6F9"/>
            </a:solidFill>
            <a:prstDash val="solid"/>
          </a:ln>
        </p:spPr>
      </p:sp>
      <p:sp>
        <p:nvSpPr>
          <p:cNvPr id="7" name="Text 5"/>
          <p:cNvSpPr txBox="1"/>
          <p:nvPr/>
        </p:nvSpPr>
        <p:spPr>
          <a:xfrm>
            <a:off x="2697480" y="1828800"/>
            <a:ext cx="1965960" cy="658368"/>
          </a:xfrm>
          <a:prstGeom prst="rect">
            <a:avLst/>
          </a:prstGeom>
          <a:noFill/>
          <a:ln/>
        </p:spPr>
        <p:txBody>
          <a:bodyPr wrap="square" lIns="0" tIns="0" rIns="0" bIns="0" rtlCol="0" anchor="ctr"/>
          <a:lstStyle/>
          <a:p>
            <a:pPr algn="ctr" indent="0" marL="0">
              <a:spcAft>
                <a:spcPts val="400"/>
              </a:spcAft>
              <a:buNone/>
            </a:pPr>
            <a:r>
              <a:rPr lang="en-US" sz="1400" dirty="0">
                <a:solidFill>
                  <a:srgbClr val="0E1A2B"/>
                </a:solidFill>
                <a:latin typeface="Calibri" pitchFamily="34" charset="0"/>
                <a:ea typeface="Calibri" pitchFamily="34" charset="-122"/>
                <a:cs typeface="Calibri" pitchFamily="34" charset="-120"/>
              </a:rPr>
              <a:t>ss_ext_sales_price</a:t>
            </a:r>
            <a:endParaRPr lang="en-US" sz="1400" dirty="0"/>
          </a:p>
        </p:txBody>
      </p:sp>
      <p:sp>
        <p:nvSpPr>
          <p:cNvPr id="8" name="Shape 6"/>
          <p:cNvSpPr/>
          <p:nvPr/>
        </p:nvSpPr>
        <p:spPr>
          <a:xfrm>
            <a:off x="4846320" y="1828800"/>
            <a:ext cx="1965960" cy="658368"/>
          </a:xfrm>
          <a:prstGeom prst="roundRect">
            <a:avLst>
              <a:gd name="adj" fmla="val 11111"/>
            </a:avLst>
          </a:prstGeom>
          <a:solidFill>
            <a:srgbClr val="F4F6F9"/>
          </a:solidFill>
          <a:ln w="12700">
            <a:solidFill>
              <a:srgbClr val="F4F6F9"/>
            </a:solidFill>
            <a:prstDash val="solid"/>
          </a:ln>
        </p:spPr>
      </p:sp>
      <p:sp>
        <p:nvSpPr>
          <p:cNvPr id="9" name="Text 7"/>
          <p:cNvSpPr txBox="1"/>
          <p:nvPr/>
        </p:nvSpPr>
        <p:spPr>
          <a:xfrm>
            <a:off x="4846320" y="1828800"/>
            <a:ext cx="1965960" cy="658368"/>
          </a:xfrm>
          <a:prstGeom prst="rect">
            <a:avLst/>
          </a:prstGeom>
          <a:noFill/>
          <a:ln/>
        </p:spPr>
        <p:txBody>
          <a:bodyPr wrap="square" lIns="0" tIns="0" rIns="0" bIns="0" rtlCol="0" anchor="ctr"/>
          <a:lstStyle/>
          <a:p>
            <a:pPr algn="ctr" indent="0" marL="0">
              <a:spcAft>
                <a:spcPts val="400"/>
              </a:spcAft>
              <a:buNone/>
            </a:pPr>
            <a:r>
              <a:rPr lang="en-US" sz="1400" dirty="0">
                <a:solidFill>
                  <a:srgbClr val="0E1A2B"/>
                </a:solidFill>
                <a:latin typeface="Calibri" pitchFamily="34" charset="0"/>
                <a:ea typeface="Calibri" pitchFamily="34" charset="-122"/>
                <a:cs typeface="Calibri" pitchFamily="34" charset="-120"/>
              </a:rPr>
              <a:t>ss_list_price</a:t>
            </a:r>
            <a:endParaRPr lang="en-US" sz="1400" dirty="0"/>
          </a:p>
        </p:txBody>
      </p:sp>
      <p:sp>
        <p:nvSpPr>
          <p:cNvPr id="10" name="Shape 8"/>
          <p:cNvSpPr/>
          <p:nvPr/>
        </p:nvSpPr>
        <p:spPr>
          <a:xfrm>
            <a:off x="548640" y="2697480"/>
            <a:ext cx="1965960" cy="658368"/>
          </a:xfrm>
          <a:prstGeom prst="roundRect">
            <a:avLst>
              <a:gd name="adj" fmla="val 11111"/>
            </a:avLst>
          </a:prstGeom>
          <a:solidFill>
            <a:srgbClr val="F4F6F9"/>
          </a:solidFill>
          <a:ln w="12700">
            <a:solidFill>
              <a:srgbClr val="F4F6F9"/>
            </a:solidFill>
            <a:prstDash val="solid"/>
          </a:ln>
        </p:spPr>
      </p:sp>
      <p:sp>
        <p:nvSpPr>
          <p:cNvPr id="11" name="Text 9"/>
          <p:cNvSpPr txBox="1"/>
          <p:nvPr/>
        </p:nvSpPr>
        <p:spPr>
          <a:xfrm>
            <a:off x="548640" y="2697480"/>
            <a:ext cx="1965960" cy="658368"/>
          </a:xfrm>
          <a:prstGeom prst="rect">
            <a:avLst/>
          </a:prstGeom>
          <a:noFill/>
          <a:ln/>
        </p:spPr>
        <p:txBody>
          <a:bodyPr wrap="square" lIns="0" tIns="0" rIns="0" bIns="0" rtlCol="0" anchor="ctr"/>
          <a:lstStyle/>
          <a:p>
            <a:pPr algn="ctr" indent="0" marL="0">
              <a:spcAft>
                <a:spcPts val="400"/>
              </a:spcAft>
              <a:buNone/>
            </a:pPr>
            <a:r>
              <a:rPr lang="en-US" sz="1400" dirty="0">
                <a:solidFill>
                  <a:srgbClr val="0E1A2B"/>
                </a:solidFill>
                <a:latin typeface="Calibri" pitchFamily="34" charset="0"/>
                <a:ea typeface="Calibri" pitchFamily="34" charset="-122"/>
                <a:cs typeface="Calibri" pitchFamily="34" charset="-120"/>
              </a:rPr>
              <a:t>ss_ext_list_price</a:t>
            </a:r>
            <a:endParaRPr lang="en-US" sz="1400" dirty="0"/>
          </a:p>
        </p:txBody>
      </p:sp>
      <p:sp>
        <p:nvSpPr>
          <p:cNvPr id="12" name="Shape 10"/>
          <p:cNvSpPr/>
          <p:nvPr/>
        </p:nvSpPr>
        <p:spPr>
          <a:xfrm>
            <a:off x="2697480" y="2697480"/>
            <a:ext cx="1965960" cy="658368"/>
          </a:xfrm>
          <a:prstGeom prst="roundRect">
            <a:avLst>
              <a:gd name="adj" fmla="val 11111"/>
            </a:avLst>
          </a:prstGeom>
          <a:solidFill>
            <a:srgbClr val="F4F6F9"/>
          </a:solidFill>
          <a:ln w="12700">
            <a:solidFill>
              <a:srgbClr val="F4F6F9"/>
            </a:solidFill>
            <a:prstDash val="solid"/>
          </a:ln>
        </p:spPr>
      </p:sp>
      <p:sp>
        <p:nvSpPr>
          <p:cNvPr id="13" name="Text 11"/>
          <p:cNvSpPr txBox="1"/>
          <p:nvPr/>
        </p:nvSpPr>
        <p:spPr>
          <a:xfrm>
            <a:off x="2697480" y="2697480"/>
            <a:ext cx="1965960" cy="658368"/>
          </a:xfrm>
          <a:prstGeom prst="rect">
            <a:avLst/>
          </a:prstGeom>
          <a:noFill/>
          <a:ln/>
        </p:spPr>
        <p:txBody>
          <a:bodyPr wrap="square" lIns="0" tIns="0" rIns="0" bIns="0" rtlCol="0" anchor="ctr"/>
          <a:lstStyle/>
          <a:p>
            <a:pPr algn="ctr" indent="0" marL="0">
              <a:spcAft>
                <a:spcPts val="400"/>
              </a:spcAft>
              <a:buNone/>
            </a:pPr>
            <a:r>
              <a:rPr lang="en-US" sz="1400" dirty="0">
                <a:solidFill>
                  <a:srgbClr val="0E1A2B"/>
                </a:solidFill>
                <a:latin typeface="Calibri" pitchFamily="34" charset="0"/>
                <a:ea typeface="Calibri" pitchFamily="34" charset="-122"/>
                <a:cs typeface="Calibri" pitchFamily="34" charset="-120"/>
              </a:rPr>
              <a:t>ss_coupon_amt</a:t>
            </a:r>
            <a:endParaRPr lang="en-US" sz="1400" dirty="0"/>
          </a:p>
        </p:txBody>
      </p:sp>
      <p:sp>
        <p:nvSpPr>
          <p:cNvPr id="14" name="Shape 12"/>
          <p:cNvSpPr/>
          <p:nvPr/>
        </p:nvSpPr>
        <p:spPr>
          <a:xfrm>
            <a:off x="4846320" y="2697480"/>
            <a:ext cx="1965960" cy="658368"/>
          </a:xfrm>
          <a:prstGeom prst="roundRect">
            <a:avLst>
              <a:gd name="adj" fmla="val 11111"/>
            </a:avLst>
          </a:prstGeom>
          <a:solidFill>
            <a:srgbClr val="F2A541"/>
          </a:solidFill>
          <a:ln w="12700">
            <a:solidFill>
              <a:srgbClr val="F2A541"/>
            </a:solidFill>
            <a:prstDash val="solid"/>
          </a:ln>
        </p:spPr>
      </p:sp>
      <p:sp>
        <p:nvSpPr>
          <p:cNvPr id="15" name="Text 13"/>
          <p:cNvSpPr txBox="1"/>
          <p:nvPr/>
        </p:nvSpPr>
        <p:spPr>
          <a:xfrm>
            <a:off x="4846320" y="2697480"/>
            <a:ext cx="1965960" cy="658368"/>
          </a:xfrm>
          <a:prstGeom prst="rect">
            <a:avLst/>
          </a:prstGeom>
          <a:noFill/>
          <a:ln/>
        </p:spPr>
        <p:txBody>
          <a:bodyPr wrap="square" lIns="0" tIns="0" rIns="0" bIns="0" rtlCol="0" anchor="ctr"/>
          <a:lstStyle/>
          <a:p>
            <a:pPr algn="ctr" indent="0" marL="0">
              <a:spcAft>
                <a:spcPts val="400"/>
              </a:spcAft>
              <a:buNone/>
            </a:pPr>
            <a:r>
              <a:rPr lang="en-US" sz="1400" b="1" dirty="0">
                <a:solidFill>
                  <a:srgbClr val="0E1A2B"/>
                </a:solidFill>
                <a:latin typeface="Calibri" pitchFamily="34" charset="0"/>
                <a:ea typeface="Calibri" pitchFamily="34" charset="-122"/>
                <a:cs typeface="Calibri" pitchFamily="34" charset="-120"/>
              </a:rPr>
              <a:t>ss_net_paid</a:t>
            </a:r>
            <a:endParaRPr lang="en-US" sz="1400" dirty="0"/>
          </a:p>
        </p:txBody>
      </p:sp>
      <p:sp>
        <p:nvSpPr>
          <p:cNvPr id="16" name="Shape 14"/>
          <p:cNvSpPr/>
          <p:nvPr/>
        </p:nvSpPr>
        <p:spPr>
          <a:xfrm>
            <a:off x="548640" y="3566160"/>
            <a:ext cx="1965960" cy="658368"/>
          </a:xfrm>
          <a:prstGeom prst="roundRect">
            <a:avLst>
              <a:gd name="adj" fmla="val 11111"/>
            </a:avLst>
          </a:prstGeom>
          <a:solidFill>
            <a:srgbClr val="F4F6F9"/>
          </a:solidFill>
          <a:ln w="12700">
            <a:solidFill>
              <a:srgbClr val="F4F6F9"/>
            </a:solidFill>
            <a:prstDash val="solid"/>
          </a:ln>
        </p:spPr>
      </p:sp>
      <p:sp>
        <p:nvSpPr>
          <p:cNvPr id="17" name="Text 15"/>
          <p:cNvSpPr txBox="1"/>
          <p:nvPr/>
        </p:nvSpPr>
        <p:spPr>
          <a:xfrm>
            <a:off x="548640" y="3566160"/>
            <a:ext cx="1965960" cy="658368"/>
          </a:xfrm>
          <a:prstGeom prst="rect">
            <a:avLst/>
          </a:prstGeom>
          <a:noFill/>
          <a:ln/>
        </p:spPr>
        <p:txBody>
          <a:bodyPr wrap="square" lIns="0" tIns="0" rIns="0" bIns="0" rtlCol="0" anchor="ctr"/>
          <a:lstStyle/>
          <a:p>
            <a:pPr algn="ctr" indent="0" marL="0">
              <a:spcAft>
                <a:spcPts val="400"/>
              </a:spcAft>
              <a:buNone/>
            </a:pPr>
            <a:r>
              <a:rPr lang="en-US" sz="1400" dirty="0">
                <a:solidFill>
                  <a:srgbClr val="0E1A2B"/>
                </a:solidFill>
                <a:latin typeface="Calibri" pitchFamily="34" charset="0"/>
                <a:ea typeface="Calibri" pitchFamily="34" charset="-122"/>
                <a:cs typeface="Calibri" pitchFamily="34" charset="-120"/>
              </a:rPr>
              <a:t>ss_net_paid_inc_tax</a:t>
            </a:r>
            <a:endParaRPr lang="en-US" sz="1400" dirty="0"/>
          </a:p>
        </p:txBody>
      </p:sp>
      <p:sp>
        <p:nvSpPr>
          <p:cNvPr id="18" name="Shape 16"/>
          <p:cNvSpPr/>
          <p:nvPr/>
        </p:nvSpPr>
        <p:spPr>
          <a:xfrm>
            <a:off x="2697480" y="3566160"/>
            <a:ext cx="1965960" cy="658368"/>
          </a:xfrm>
          <a:prstGeom prst="roundRect">
            <a:avLst>
              <a:gd name="adj" fmla="val 11111"/>
            </a:avLst>
          </a:prstGeom>
          <a:solidFill>
            <a:srgbClr val="F4F6F9"/>
          </a:solidFill>
          <a:ln w="12700">
            <a:solidFill>
              <a:srgbClr val="F4F6F9"/>
            </a:solidFill>
            <a:prstDash val="solid"/>
          </a:ln>
        </p:spPr>
      </p:sp>
      <p:sp>
        <p:nvSpPr>
          <p:cNvPr id="19" name="Text 17"/>
          <p:cNvSpPr txBox="1"/>
          <p:nvPr/>
        </p:nvSpPr>
        <p:spPr>
          <a:xfrm>
            <a:off x="2697480" y="3566160"/>
            <a:ext cx="1965960" cy="658368"/>
          </a:xfrm>
          <a:prstGeom prst="rect">
            <a:avLst/>
          </a:prstGeom>
          <a:noFill/>
          <a:ln/>
        </p:spPr>
        <p:txBody>
          <a:bodyPr wrap="square" lIns="0" tIns="0" rIns="0" bIns="0" rtlCol="0" anchor="ctr"/>
          <a:lstStyle/>
          <a:p>
            <a:pPr algn="ctr" indent="0" marL="0">
              <a:spcAft>
                <a:spcPts val="400"/>
              </a:spcAft>
              <a:buNone/>
            </a:pPr>
            <a:r>
              <a:rPr lang="en-US" sz="1400" dirty="0">
                <a:solidFill>
                  <a:srgbClr val="0E1A2B"/>
                </a:solidFill>
                <a:latin typeface="Calibri" pitchFamily="34" charset="0"/>
                <a:ea typeface="Calibri" pitchFamily="34" charset="-122"/>
                <a:cs typeface="Calibri" pitchFamily="34" charset="-120"/>
              </a:rPr>
              <a:t>ss_net_profit</a:t>
            </a:r>
            <a:endParaRPr lang="en-US" sz="1400" dirty="0"/>
          </a:p>
        </p:txBody>
      </p:sp>
      <p:sp>
        <p:nvSpPr>
          <p:cNvPr id="20" name="Shape 18"/>
          <p:cNvSpPr/>
          <p:nvPr/>
        </p:nvSpPr>
        <p:spPr>
          <a:xfrm>
            <a:off x="4846320" y="3566160"/>
            <a:ext cx="1965960" cy="658368"/>
          </a:xfrm>
          <a:prstGeom prst="roundRect">
            <a:avLst>
              <a:gd name="adj" fmla="val 11111"/>
            </a:avLst>
          </a:prstGeom>
          <a:solidFill>
            <a:srgbClr val="F4F6F9"/>
          </a:solidFill>
          <a:ln w="12700">
            <a:solidFill>
              <a:srgbClr val="F4F6F9"/>
            </a:solidFill>
            <a:prstDash val="solid"/>
          </a:ln>
        </p:spPr>
      </p:sp>
      <p:sp>
        <p:nvSpPr>
          <p:cNvPr id="21" name="Text 19"/>
          <p:cNvSpPr txBox="1"/>
          <p:nvPr/>
        </p:nvSpPr>
        <p:spPr>
          <a:xfrm>
            <a:off x="4846320" y="3566160"/>
            <a:ext cx="1965960" cy="658368"/>
          </a:xfrm>
          <a:prstGeom prst="rect">
            <a:avLst/>
          </a:prstGeom>
          <a:noFill/>
          <a:ln/>
        </p:spPr>
        <p:txBody>
          <a:bodyPr wrap="square" lIns="0" tIns="0" rIns="0" bIns="0" rtlCol="0" anchor="ctr"/>
          <a:lstStyle/>
          <a:p>
            <a:pPr algn="ctr" indent="0" marL="0">
              <a:spcAft>
                <a:spcPts val="400"/>
              </a:spcAft>
              <a:buNone/>
            </a:pPr>
            <a:r>
              <a:rPr lang="en-US" sz="1400" dirty="0">
                <a:solidFill>
                  <a:srgbClr val="0E1A2B"/>
                </a:solidFill>
                <a:latin typeface="Calibri" pitchFamily="34" charset="0"/>
                <a:ea typeface="Calibri" pitchFamily="34" charset="-122"/>
                <a:cs typeface="Calibri" pitchFamily="34" charset="-120"/>
              </a:rPr>
              <a:t>ss_ext_discount_amt</a:t>
            </a:r>
            <a:endParaRPr lang="en-US" sz="1400" dirty="0"/>
          </a:p>
        </p:txBody>
      </p:sp>
      <p:sp>
        <p:nvSpPr>
          <p:cNvPr id="22" name="Text 20"/>
          <p:cNvSpPr txBox="1"/>
          <p:nvPr/>
        </p:nvSpPr>
        <p:spPr>
          <a:xfrm>
            <a:off x="548640" y="4572000"/>
            <a:ext cx="6309360" cy="822960"/>
          </a:xfrm>
          <a:prstGeom prst="rect">
            <a:avLst/>
          </a:prstGeom>
          <a:noFill/>
          <a:ln/>
        </p:spPr>
        <p:txBody>
          <a:bodyPr wrap="square" lIns="0" tIns="0" rIns="0" bIns="0" rtlCol="0" anchor="t"/>
          <a:lstStyle/>
          <a:p>
            <a:pPr algn="l" indent="0" marL="0">
              <a:spcAft>
                <a:spcPts val="400"/>
              </a:spcAft>
              <a:buNone/>
            </a:pPr>
            <a:r>
              <a:rPr lang="en-US" sz="1400" dirty="0">
                <a:solidFill>
                  <a:srgbClr val="5B6472"/>
                </a:solidFill>
                <a:latin typeface="Calibri" pitchFamily="34" charset="0"/>
                <a:ea typeface="Calibri" pitchFamily="34" charset="-122"/>
                <a:cs typeface="Calibri" pitchFamily="34" charset="-120"/>
              </a:rPr>
              <a:t>store_sales (2.9M rows) has nine plausible "money" columns. Only one means what the customer paid.</a:t>
            </a:r>
            <a:endParaRPr lang="en-US" sz="1400" dirty="0"/>
          </a:p>
        </p:txBody>
      </p:sp>
      <p:sp>
        <p:nvSpPr>
          <p:cNvPr id="23" name="Shape 21"/>
          <p:cNvSpPr/>
          <p:nvPr/>
        </p:nvSpPr>
        <p:spPr>
          <a:xfrm>
            <a:off x="7223760" y="1783080"/>
            <a:ext cx="4389120" cy="4160520"/>
          </a:xfrm>
          <a:prstGeom prst="roundRect">
            <a:avLst>
              <a:gd name="adj" fmla="val 1758"/>
            </a:avLst>
          </a:prstGeom>
          <a:solidFill>
            <a:srgbClr val="0E1A2B"/>
          </a:solidFill>
          <a:ln w="12700">
            <a:solidFill>
              <a:srgbClr val="0E1A2B"/>
            </a:solidFill>
            <a:prstDash val="solid"/>
          </a:ln>
        </p:spPr>
      </p:sp>
      <p:sp>
        <p:nvSpPr>
          <p:cNvPr id="24" name="Text 22"/>
          <p:cNvSpPr txBox="1"/>
          <p:nvPr/>
        </p:nvSpPr>
        <p:spPr>
          <a:xfrm>
            <a:off x="7498080" y="2011680"/>
            <a:ext cx="3886200" cy="3749040"/>
          </a:xfrm>
          <a:prstGeom prst="rect">
            <a:avLst/>
          </a:prstGeom>
          <a:noFill/>
          <a:ln/>
        </p:spPr>
        <p:txBody>
          <a:bodyPr wrap="square" lIns="0" tIns="0" rIns="0" bIns="0" rtlCol="0" anchor="t"/>
          <a:lstStyle/>
          <a:p>
            <a:pPr indent="0" marL="0">
              <a:spcAft>
                <a:spcPts val="800"/>
              </a:spcAft>
              <a:buNone/>
            </a:pPr>
            <a:r>
              <a:rPr lang="en-US" sz="1800" b="1" dirty="0">
                <a:solidFill>
                  <a:srgbClr val="F2A541"/>
                </a:solidFill>
                <a:latin typeface="Calibri" pitchFamily="34" charset="0"/>
                <a:ea typeface="Calibri" pitchFamily="34" charset="-122"/>
                <a:cs typeface="Calibri" pitchFamily="34" charset="-120"/>
              </a:rPr>
              <a:t>What the answer needs</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SUM(ss_net_paid), the metric</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join ss_customer_sk = c_customer_sk</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filter on the sold date via date_dim</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store channel only</a:t>
            </a:r>
            <a:endParaRPr lang="en-US" sz="1500" dirty="0"/>
          </a:p>
          <a:p>
            <a:pPr indent="0" marL="0">
              <a:spcAft>
                <a:spcPts val="800"/>
              </a:spcAft>
              <a:buNone/>
            </a:pPr>
            <a:r>
              <a:rPr lang="en-US" sz="1500" i="1" dirty="0">
                <a:solidFill>
                  <a:srgbClr val="C9D3E0"/>
                </a:solidFill>
                <a:latin typeface="Calibri" pitchFamily="34" charset="0"/>
                <a:ea typeface="Calibri" pitchFamily="34" charset="-122"/>
                <a:cs typeface="Calibri" pitchFamily="34" charset="-120"/>
              </a:rPr>
              <a:t>"None of that is written down anywhere a computer can read."</a:t>
            </a:r>
            <a:endParaRPr lang="en-US" sz="1500" dirty="0"/>
          </a:p>
        </p:txBody>
      </p:sp>
      <p:sp>
        <p:nvSpPr>
          <p:cNvPr id="25" name="Text 23"/>
          <p:cNvSpPr txBox="1"/>
          <p:nvPr/>
        </p:nvSpPr>
        <p:spPr>
          <a:xfrm>
            <a:off x="548640" y="6291072"/>
            <a:ext cx="11094415" cy="411480"/>
          </a:xfrm>
          <a:prstGeom prst="rect">
            <a:avLst/>
          </a:prstGeom>
          <a:noFill/>
          <a:ln/>
        </p:spPr>
        <p:txBody>
          <a:bodyPr wrap="square" lIns="0" tIns="0" rIns="0" bIns="0" rtlCol="0" anchor="b"/>
          <a:lstStyle/>
          <a:p>
            <a:pPr indent="0" marL="0">
              <a:buNone/>
            </a:pPr>
            <a:r>
              <a:rPr lang="en-US" sz="950" i="1" dirty="0">
                <a:solidFill>
                  <a:srgbClr val="5B6472"/>
                </a:solidFill>
                <a:latin typeface="Calibri" pitchFamily="34" charset="0"/>
                <a:ea typeface="Calibri" pitchFamily="34" charset="-122"/>
                <a:cs typeface="Calibri" pitchFamily="34" charset="-120"/>
              </a:rPr>
              <a:t>Source: Helios end-to-end walkthrough (docs/helios-walkthrough.md), TPC-DS SF1</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3200" b="1" dirty="0">
                <a:solidFill>
                  <a:srgbClr val="0E1A2B"/>
                </a:solidFill>
                <a:latin typeface="Cambria" pitchFamily="34" charset="0"/>
                <a:ea typeface="Cambria" pitchFamily="34" charset="-122"/>
                <a:cs typeface="Cambria" pitchFamily="34" charset="-120"/>
              </a:rPr>
              <a:t>What the research says</a:t>
            </a:r>
            <a:endParaRPr lang="en-US" sz="3200" dirty="0"/>
          </a:p>
        </p:txBody>
      </p:sp>
      <p:sp>
        <p:nvSpPr>
          <p:cNvPr id="3" name="Text 1"/>
          <p:cNvSpPr txBox="1"/>
          <p:nvPr/>
        </p:nvSpPr>
        <p:spPr>
          <a:xfrm>
            <a:off x="548640" y="1097280"/>
            <a:ext cx="11094415" cy="457200"/>
          </a:xfrm>
          <a:prstGeom prst="rect">
            <a:avLst/>
          </a:prstGeom>
          <a:noFill/>
          <a:ln/>
        </p:spPr>
        <p:txBody>
          <a:bodyPr wrap="square" lIns="0" tIns="0" rIns="0" bIns="0" rtlCol="0" anchor="ctr"/>
          <a:lstStyle/>
          <a:p>
            <a:pPr indent="0" marL="0">
              <a:buNone/>
            </a:pPr>
            <a:r>
              <a:rPr lang="en-US" sz="1600" i="1" dirty="0">
                <a:solidFill>
                  <a:srgbClr val="5B6472"/>
                </a:solidFill>
                <a:latin typeface="Calibri" pitchFamily="34" charset="0"/>
                <a:ea typeface="Calibri" pitchFamily="34" charset="-122"/>
                <a:cs typeface="Calibri" pitchFamily="34" charset="-120"/>
              </a:rPr>
              <a:t>Independent benchmarks and vendor studies point the same way.</a:t>
            </a:r>
            <a:endParaRPr lang="en-US" sz="1600" dirty="0"/>
          </a:p>
        </p:txBody>
      </p:sp>
      <p:sp>
        <p:nvSpPr>
          <p:cNvPr id="4" name="Shape 2"/>
          <p:cNvSpPr/>
          <p:nvPr/>
        </p:nvSpPr>
        <p:spPr>
          <a:xfrm>
            <a:off x="548640" y="1737360"/>
            <a:ext cx="5394960" cy="1920240"/>
          </a:xfrm>
          <a:prstGeom prst="roundRect">
            <a:avLst>
              <a:gd name="adj" fmla="val 3810"/>
            </a:avLst>
          </a:prstGeom>
          <a:solidFill>
            <a:srgbClr val="F4F6F9"/>
          </a:solidFill>
          <a:ln w="12700">
            <a:solidFill>
              <a:srgbClr val="F4F6F9"/>
            </a:solidFill>
            <a:prstDash val="solid"/>
          </a:ln>
        </p:spPr>
      </p:sp>
      <p:sp>
        <p:nvSpPr>
          <p:cNvPr id="5" name="Text 3"/>
          <p:cNvSpPr txBox="1"/>
          <p:nvPr/>
        </p:nvSpPr>
        <p:spPr>
          <a:xfrm>
            <a:off x="822960" y="1874520"/>
            <a:ext cx="4846320" cy="731520"/>
          </a:xfrm>
          <a:prstGeom prst="rect">
            <a:avLst/>
          </a:prstGeom>
          <a:noFill/>
          <a:ln/>
        </p:spPr>
        <p:txBody>
          <a:bodyPr wrap="square" lIns="0" tIns="0" rIns="0" bIns="0" rtlCol="0" anchor="ctr"/>
          <a:lstStyle/>
          <a:p>
            <a:pPr indent="0" marL="0">
              <a:buNone/>
            </a:pPr>
            <a:r>
              <a:rPr lang="en-US" sz="3600" b="1" dirty="0">
                <a:solidFill>
                  <a:srgbClr val="0E1A2B"/>
                </a:solidFill>
                <a:latin typeface="Cambria" pitchFamily="34" charset="0"/>
                <a:ea typeface="Cambria" pitchFamily="34" charset="-122"/>
                <a:cs typeface="Cambria" pitchFamily="34" charset="-120"/>
              </a:rPr>
              <a:t>+20 pts</a:t>
            </a:r>
            <a:endParaRPr lang="en-US" sz="3600" dirty="0"/>
          </a:p>
        </p:txBody>
      </p:sp>
      <p:sp>
        <p:nvSpPr>
          <p:cNvPr id="6" name="Text 4"/>
          <p:cNvSpPr txBox="1"/>
          <p:nvPr/>
        </p:nvSpPr>
        <p:spPr>
          <a:xfrm>
            <a:off x="822960" y="2606040"/>
            <a:ext cx="4846320" cy="731520"/>
          </a:xfrm>
          <a:prstGeom prst="rect">
            <a:avLst/>
          </a:prstGeom>
          <a:noFill/>
          <a:ln/>
        </p:spPr>
        <p:txBody>
          <a:bodyPr wrap="square" lIns="0" tIns="0" rIns="0" bIns="0" rtlCol="0" anchor="t"/>
          <a:lstStyle/>
          <a:p>
            <a:pPr algn="l" indent="0" marL="0">
              <a:spcAft>
                <a:spcPts val="400"/>
              </a:spcAft>
              <a:buNone/>
            </a:pPr>
            <a:r>
              <a:rPr lang="en-US" sz="1400" dirty="0">
                <a:solidFill>
                  <a:srgbClr val="1F2937"/>
                </a:solidFill>
                <a:latin typeface="Calibri" pitchFamily="34" charset="0"/>
                <a:ea typeface="Calibri" pitchFamily="34" charset="-122"/>
                <a:cs typeface="Calibri" pitchFamily="34" charset="-120"/>
              </a:rPr>
              <a:t>GPT-4 on BIRD when given one line of business definition (34.9% → 54.9%). Human experts gain the same.</a:t>
            </a:r>
            <a:endParaRPr lang="en-US" sz="1400" dirty="0"/>
          </a:p>
        </p:txBody>
      </p:sp>
      <p:sp>
        <p:nvSpPr>
          <p:cNvPr id="7" name="Text 5"/>
          <p:cNvSpPr txBox="1"/>
          <p:nvPr/>
        </p:nvSpPr>
        <p:spPr>
          <a:xfrm>
            <a:off x="822960" y="3291840"/>
            <a:ext cx="4846320" cy="274320"/>
          </a:xfrm>
          <a:prstGeom prst="rect">
            <a:avLst/>
          </a:prstGeom>
          <a:noFill/>
          <a:ln/>
        </p:spPr>
        <p:txBody>
          <a:bodyPr wrap="square" lIns="0" tIns="0" rIns="0" bIns="0" rtlCol="0" anchor="t"/>
          <a:lstStyle/>
          <a:p>
            <a:pPr algn="l" indent="0" marL="0">
              <a:spcAft>
                <a:spcPts val="400"/>
              </a:spcAft>
              <a:buNone/>
            </a:pPr>
            <a:r>
              <a:rPr lang="en-US" sz="1100" i="1" dirty="0">
                <a:solidFill>
                  <a:srgbClr val="5B6472"/>
                </a:solidFill>
                <a:latin typeface="Calibri" pitchFamily="34" charset="0"/>
                <a:ea typeface="Calibri" pitchFamily="34" charset="-122"/>
                <a:cs typeface="Calibri" pitchFamily="34" charset="-120"/>
              </a:rPr>
              <a:t>BIRD, NeurIPS 2023</a:t>
            </a:r>
            <a:endParaRPr lang="en-US" sz="1100" dirty="0"/>
          </a:p>
        </p:txBody>
      </p:sp>
      <p:sp>
        <p:nvSpPr>
          <p:cNvPr id="8" name="Shape 6"/>
          <p:cNvSpPr/>
          <p:nvPr/>
        </p:nvSpPr>
        <p:spPr>
          <a:xfrm>
            <a:off x="6217920" y="1737360"/>
            <a:ext cx="5394960" cy="1920240"/>
          </a:xfrm>
          <a:prstGeom prst="roundRect">
            <a:avLst>
              <a:gd name="adj" fmla="val 3810"/>
            </a:avLst>
          </a:prstGeom>
          <a:solidFill>
            <a:srgbClr val="F4F6F9"/>
          </a:solidFill>
          <a:ln w="12700">
            <a:solidFill>
              <a:srgbClr val="F4F6F9"/>
            </a:solidFill>
            <a:prstDash val="solid"/>
          </a:ln>
        </p:spPr>
      </p:sp>
      <p:sp>
        <p:nvSpPr>
          <p:cNvPr id="9" name="Text 7"/>
          <p:cNvSpPr txBox="1"/>
          <p:nvPr/>
        </p:nvSpPr>
        <p:spPr>
          <a:xfrm>
            <a:off x="6492240" y="1874520"/>
            <a:ext cx="4846320" cy="731520"/>
          </a:xfrm>
          <a:prstGeom prst="rect">
            <a:avLst/>
          </a:prstGeom>
          <a:noFill/>
          <a:ln/>
        </p:spPr>
        <p:txBody>
          <a:bodyPr wrap="square" lIns="0" tIns="0" rIns="0" bIns="0" rtlCol="0" anchor="ctr"/>
          <a:lstStyle/>
          <a:p>
            <a:pPr indent="0" marL="0">
              <a:buNone/>
            </a:pPr>
            <a:r>
              <a:rPr lang="en-US" sz="3600" b="1" dirty="0">
                <a:solidFill>
                  <a:srgbClr val="0E1A2B"/>
                </a:solidFill>
                <a:latin typeface="Cambria" pitchFamily="34" charset="0"/>
                <a:ea typeface="Cambria" pitchFamily="34" charset="-122"/>
                <a:cs typeface="Cambria" pitchFamily="34" charset="-120"/>
              </a:rPr>
              <a:t>21%</a:t>
            </a:r>
            <a:endParaRPr lang="en-US" sz="3600" dirty="0"/>
          </a:p>
        </p:txBody>
      </p:sp>
      <p:sp>
        <p:nvSpPr>
          <p:cNvPr id="10" name="Text 8"/>
          <p:cNvSpPr txBox="1"/>
          <p:nvPr/>
        </p:nvSpPr>
        <p:spPr>
          <a:xfrm>
            <a:off x="6492240" y="2606040"/>
            <a:ext cx="4846320" cy="731520"/>
          </a:xfrm>
          <a:prstGeom prst="rect">
            <a:avLst/>
          </a:prstGeom>
          <a:noFill/>
          <a:ln/>
        </p:spPr>
        <p:txBody>
          <a:bodyPr wrap="square" lIns="0" tIns="0" rIns="0" bIns="0" rtlCol="0" anchor="t"/>
          <a:lstStyle/>
          <a:p>
            <a:pPr algn="l" indent="0" marL="0">
              <a:spcAft>
                <a:spcPts val="400"/>
              </a:spcAft>
              <a:buNone/>
            </a:pPr>
            <a:r>
              <a:rPr lang="en-US" sz="1400" dirty="0">
                <a:solidFill>
                  <a:srgbClr val="1F2937"/>
                </a:solidFill>
                <a:latin typeface="Calibri" pitchFamily="34" charset="0"/>
                <a:ea typeface="Calibri" pitchFamily="34" charset="-122"/>
                <a:cs typeface="Calibri" pitchFamily="34" charset="-120"/>
              </a:rPr>
              <a:t>Best agent on real enterprise schemas (Spider 2.0), vs 91% on the academic Spider 1.0.</a:t>
            </a:r>
            <a:endParaRPr lang="en-US" sz="1400" dirty="0"/>
          </a:p>
        </p:txBody>
      </p:sp>
      <p:sp>
        <p:nvSpPr>
          <p:cNvPr id="11" name="Text 9"/>
          <p:cNvSpPr txBox="1"/>
          <p:nvPr/>
        </p:nvSpPr>
        <p:spPr>
          <a:xfrm>
            <a:off x="6492240" y="3291840"/>
            <a:ext cx="4846320" cy="274320"/>
          </a:xfrm>
          <a:prstGeom prst="rect">
            <a:avLst/>
          </a:prstGeom>
          <a:noFill/>
          <a:ln/>
        </p:spPr>
        <p:txBody>
          <a:bodyPr wrap="square" lIns="0" tIns="0" rIns="0" bIns="0" rtlCol="0" anchor="t"/>
          <a:lstStyle/>
          <a:p>
            <a:pPr algn="l" indent="0" marL="0">
              <a:spcAft>
                <a:spcPts val="400"/>
              </a:spcAft>
              <a:buNone/>
            </a:pPr>
            <a:r>
              <a:rPr lang="en-US" sz="1100" i="1" dirty="0">
                <a:solidFill>
                  <a:srgbClr val="5B6472"/>
                </a:solidFill>
                <a:latin typeface="Calibri" pitchFamily="34" charset="0"/>
                <a:ea typeface="Calibri" pitchFamily="34" charset="-122"/>
                <a:cs typeface="Calibri" pitchFamily="34" charset="-120"/>
              </a:rPr>
              <a:t>Spider 2.0, ICLR 2025</a:t>
            </a:r>
            <a:endParaRPr lang="en-US" sz="1100" dirty="0"/>
          </a:p>
        </p:txBody>
      </p:sp>
      <p:sp>
        <p:nvSpPr>
          <p:cNvPr id="12" name="Shape 10"/>
          <p:cNvSpPr/>
          <p:nvPr/>
        </p:nvSpPr>
        <p:spPr>
          <a:xfrm>
            <a:off x="548640" y="3886200"/>
            <a:ext cx="5394960" cy="1920240"/>
          </a:xfrm>
          <a:prstGeom prst="roundRect">
            <a:avLst>
              <a:gd name="adj" fmla="val 3810"/>
            </a:avLst>
          </a:prstGeom>
          <a:solidFill>
            <a:srgbClr val="0E1A2B"/>
          </a:solidFill>
          <a:ln w="12700">
            <a:solidFill>
              <a:srgbClr val="0E1A2B"/>
            </a:solidFill>
            <a:prstDash val="solid"/>
          </a:ln>
        </p:spPr>
      </p:sp>
      <p:sp>
        <p:nvSpPr>
          <p:cNvPr id="13" name="Text 11"/>
          <p:cNvSpPr txBox="1"/>
          <p:nvPr/>
        </p:nvSpPr>
        <p:spPr>
          <a:xfrm>
            <a:off x="822960" y="4023360"/>
            <a:ext cx="4846320" cy="731520"/>
          </a:xfrm>
          <a:prstGeom prst="rect">
            <a:avLst/>
          </a:prstGeom>
          <a:noFill/>
          <a:ln/>
        </p:spPr>
        <p:txBody>
          <a:bodyPr wrap="square" lIns="0" tIns="0" rIns="0" bIns="0" rtlCol="0" anchor="ctr"/>
          <a:lstStyle/>
          <a:p>
            <a:pPr indent="0" marL="0">
              <a:buNone/>
            </a:pPr>
            <a:r>
              <a:rPr lang="en-US" sz="3600" b="1" dirty="0">
                <a:solidFill>
                  <a:srgbClr val="F2A541"/>
                </a:solidFill>
                <a:latin typeface="Cambria" pitchFamily="34" charset="0"/>
                <a:ea typeface="Cambria" pitchFamily="34" charset="-122"/>
                <a:cs typeface="Cambria" pitchFamily="34" charset="-120"/>
              </a:rPr>
              <a:t>11% → 30%</a:t>
            </a:r>
            <a:endParaRPr lang="en-US" sz="3600" dirty="0"/>
          </a:p>
        </p:txBody>
      </p:sp>
      <p:sp>
        <p:nvSpPr>
          <p:cNvPr id="14" name="Text 12"/>
          <p:cNvSpPr txBox="1"/>
          <p:nvPr/>
        </p:nvSpPr>
        <p:spPr>
          <a:xfrm>
            <a:off x="822960" y="4754880"/>
            <a:ext cx="4846320" cy="731520"/>
          </a:xfrm>
          <a:prstGeom prst="rect">
            <a:avLst/>
          </a:prstGeom>
          <a:noFill/>
          <a:ln/>
        </p:spPr>
        <p:txBody>
          <a:bodyPr wrap="square" lIns="0" tIns="0" rIns="0" bIns="0" rtlCol="0" anchor="t"/>
          <a:lstStyle/>
          <a:p>
            <a:pPr algn="l" indent="0" marL="0">
              <a:spcAft>
                <a:spcPts val="400"/>
              </a:spcAft>
              <a:buNone/>
            </a:pPr>
            <a:r>
              <a:rPr lang="en-US" sz="1400" dirty="0">
                <a:solidFill>
                  <a:srgbClr val="FFFFFF"/>
                </a:solidFill>
                <a:latin typeface="Calibri" pitchFamily="34" charset="0"/>
                <a:ea typeface="Calibri" pitchFamily="34" charset="-122"/>
                <a:cs typeface="Calibri" pitchFamily="34" charset="-120"/>
              </a:rPr>
              <a:t>GPT-5.2 agents on private enterprise warehouses, before and after being handed joins, column mappings and domain knowledge.</a:t>
            </a:r>
            <a:endParaRPr lang="en-US" sz="1400" dirty="0"/>
          </a:p>
        </p:txBody>
      </p:sp>
      <p:sp>
        <p:nvSpPr>
          <p:cNvPr id="15" name="Text 13"/>
          <p:cNvSpPr txBox="1"/>
          <p:nvPr/>
        </p:nvSpPr>
        <p:spPr>
          <a:xfrm>
            <a:off x="822960" y="5440680"/>
            <a:ext cx="4846320" cy="274320"/>
          </a:xfrm>
          <a:prstGeom prst="rect">
            <a:avLst/>
          </a:prstGeom>
          <a:noFill/>
          <a:ln/>
        </p:spPr>
        <p:txBody>
          <a:bodyPr wrap="square" lIns="0" tIns="0" rIns="0" bIns="0" rtlCol="0" anchor="t"/>
          <a:lstStyle/>
          <a:p>
            <a:pPr algn="l" indent="0" marL="0">
              <a:spcAft>
                <a:spcPts val="400"/>
              </a:spcAft>
              <a:buNone/>
            </a:pPr>
            <a:r>
              <a:rPr lang="en-US" sz="1100" i="1" dirty="0">
                <a:solidFill>
                  <a:srgbClr val="C9D3E0"/>
                </a:solidFill>
                <a:latin typeface="Calibri" pitchFamily="34" charset="0"/>
                <a:ea typeface="Calibri" pitchFamily="34" charset="-122"/>
                <a:cs typeface="Calibri" pitchFamily="34" charset="-120"/>
              </a:rPr>
              <a:t>BEAVER, MIT, 2026</a:t>
            </a:r>
            <a:endParaRPr lang="en-US" sz="1100" dirty="0"/>
          </a:p>
        </p:txBody>
      </p:sp>
      <p:sp>
        <p:nvSpPr>
          <p:cNvPr id="16" name="Shape 14"/>
          <p:cNvSpPr/>
          <p:nvPr/>
        </p:nvSpPr>
        <p:spPr>
          <a:xfrm>
            <a:off x="6217920" y="3886200"/>
            <a:ext cx="5394960" cy="1920240"/>
          </a:xfrm>
          <a:prstGeom prst="roundRect">
            <a:avLst>
              <a:gd name="adj" fmla="val 3810"/>
            </a:avLst>
          </a:prstGeom>
          <a:solidFill>
            <a:srgbClr val="F4F6F9"/>
          </a:solidFill>
          <a:ln w="12700">
            <a:solidFill>
              <a:srgbClr val="F4F6F9"/>
            </a:solidFill>
            <a:prstDash val="solid"/>
          </a:ln>
        </p:spPr>
      </p:sp>
      <p:sp>
        <p:nvSpPr>
          <p:cNvPr id="17" name="Text 15"/>
          <p:cNvSpPr txBox="1"/>
          <p:nvPr/>
        </p:nvSpPr>
        <p:spPr>
          <a:xfrm>
            <a:off x="6492240" y="4023360"/>
            <a:ext cx="4846320" cy="731520"/>
          </a:xfrm>
          <a:prstGeom prst="rect">
            <a:avLst/>
          </a:prstGeom>
          <a:noFill/>
          <a:ln/>
        </p:spPr>
        <p:txBody>
          <a:bodyPr wrap="square" lIns="0" tIns="0" rIns="0" bIns="0" rtlCol="0" anchor="ctr"/>
          <a:lstStyle/>
          <a:p>
            <a:pPr indent="0" marL="0">
              <a:buNone/>
            </a:pPr>
            <a:r>
              <a:rPr lang="en-US" sz="3600" b="1" dirty="0">
                <a:solidFill>
                  <a:srgbClr val="0E1A2B"/>
                </a:solidFill>
                <a:latin typeface="Cambria" pitchFamily="34" charset="0"/>
                <a:ea typeface="Cambria" pitchFamily="34" charset="-122"/>
                <a:cs typeface="Cambria" pitchFamily="34" charset="-120"/>
              </a:rPr>
              <a:t>16.7% → 54.2%</a:t>
            </a:r>
            <a:endParaRPr lang="en-US" sz="3600" dirty="0"/>
          </a:p>
        </p:txBody>
      </p:sp>
      <p:sp>
        <p:nvSpPr>
          <p:cNvPr id="18" name="Text 16"/>
          <p:cNvSpPr txBox="1"/>
          <p:nvPr/>
        </p:nvSpPr>
        <p:spPr>
          <a:xfrm>
            <a:off x="6492240" y="4754880"/>
            <a:ext cx="4846320" cy="731520"/>
          </a:xfrm>
          <a:prstGeom prst="rect">
            <a:avLst/>
          </a:prstGeom>
          <a:noFill/>
          <a:ln/>
        </p:spPr>
        <p:txBody>
          <a:bodyPr wrap="square" lIns="0" tIns="0" rIns="0" bIns="0" rtlCol="0" anchor="t"/>
          <a:lstStyle/>
          <a:p>
            <a:pPr algn="l" indent="0" marL="0">
              <a:spcAft>
                <a:spcPts val="400"/>
              </a:spcAft>
              <a:buNone/>
            </a:pPr>
            <a:r>
              <a:rPr lang="en-US" sz="1400" dirty="0">
                <a:solidFill>
                  <a:srgbClr val="1F2937"/>
                </a:solidFill>
                <a:latin typeface="Calibri" pitchFamily="34" charset="0"/>
                <a:ea typeface="Calibri" pitchFamily="34" charset="-122"/>
                <a:cs typeface="Calibri" pitchFamily="34" charset="-120"/>
              </a:rPr>
              <a:t>GPT-4 answering insurance questions from raw SQL vs a knowledge-graph representation.</a:t>
            </a:r>
            <a:endParaRPr lang="en-US" sz="1400" dirty="0"/>
          </a:p>
        </p:txBody>
      </p:sp>
      <p:sp>
        <p:nvSpPr>
          <p:cNvPr id="19" name="Text 17"/>
          <p:cNvSpPr txBox="1"/>
          <p:nvPr/>
        </p:nvSpPr>
        <p:spPr>
          <a:xfrm>
            <a:off x="6492240" y="5440680"/>
            <a:ext cx="4846320" cy="274320"/>
          </a:xfrm>
          <a:prstGeom prst="rect">
            <a:avLst/>
          </a:prstGeom>
          <a:noFill/>
          <a:ln/>
        </p:spPr>
        <p:txBody>
          <a:bodyPr wrap="square" lIns="0" tIns="0" rIns="0" bIns="0" rtlCol="0" anchor="t"/>
          <a:lstStyle/>
          <a:p>
            <a:pPr algn="l" indent="0" marL="0">
              <a:spcAft>
                <a:spcPts val="400"/>
              </a:spcAft>
              <a:buNone/>
            </a:pPr>
            <a:r>
              <a:rPr lang="en-US" sz="1100" i="1" dirty="0">
                <a:solidFill>
                  <a:srgbClr val="5B6472"/>
                </a:solidFill>
                <a:latin typeface="Calibri" pitchFamily="34" charset="0"/>
                <a:ea typeface="Calibri" pitchFamily="34" charset="-122"/>
                <a:cs typeface="Calibri" pitchFamily="34" charset="-120"/>
              </a:rPr>
              <a:t>data.world, 2023</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2600" b="1" dirty="0">
                <a:solidFill>
                  <a:srgbClr val="0E1A2B"/>
                </a:solidFill>
                <a:latin typeface="Cambria" pitchFamily="34" charset="0"/>
                <a:ea typeface="Cambria" pitchFamily="34" charset="-122"/>
                <a:cs typeface="Cambria" pitchFamily="34" charset="-120"/>
              </a:rPr>
              <a:t>Business definitions are worth ~20 points, even for humans</a:t>
            </a:r>
            <a:endParaRPr lang="en-US" sz="2600" dirty="0"/>
          </a:p>
        </p:txBody>
      </p:sp>
      <p:graphicFrame>
        <p:nvGraphicFramePr>
          <p:cNvPr id="3" name="Chart 0" descr=""/>
          <p:cNvGraphicFramePr/>
          <p:nvPr/>
        </p:nvGraphicFramePr>
        <p:xfrm>
          <a:off x="548640" y="1280160"/>
          <a:ext cx="6766560" cy="457200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680960" y="1280160"/>
            <a:ext cx="3931920" cy="4572000"/>
          </a:xfrm>
          <a:prstGeom prst="roundRect">
            <a:avLst>
              <a:gd name="adj" fmla="val 1860"/>
            </a:avLst>
          </a:prstGeom>
          <a:solidFill>
            <a:srgbClr val="F4F6F9"/>
          </a:solidFill>
          <a:ln w="12700">
            <a:solidFill>
              <a:srgbClr val="F4F6F9"/>
            </a:solidFill>
            <a:prstDash val="solid"/>
          </a:ln>
        </p:spPr>
      </p:sp>
      <p:sp>
        <p:nvSpPr>
          <p:cNvPr id="5" name="Text 2"/>
          <p:cNvSpPr txBox="1"/>
          <p:nvPr/>
        </p:nvSpPr>
        <p:spPr>
          <a:xfrm>
            <a:off x="7955280" y="1463040"/>
            <a:ext cx="3474720" cy="4206240"/>
          </a:xfrm>
          <a:prstGeom prst="rect">
            <a:avLst/>
          </a:prstGeom>
          <a:noFill/>
          <a:ln/>
        </p:spPr>
        <p:txBody>
          <a:bodyPr wrap="square" lIns="0" tIns="0" rIns="0" bIns="0" rtlCol="0" anchor="t"/>
          <a:lstStyle/>
          <a:p>
            <a:pPr indent="0" marL="0">
              <a:spcAft>
                <a:spcPts val="600"/>
              </a:spcAft>
              <a:buNone/>
            </a:pPr>
            <a:r>
              <a:rPr lang="en-US" sz="1700" b="1" dirty="0">
                <a:solidFill>
                  <a:srgbClr val="0E1A2B"/>
                </a:solidFill>
                <a:latin typeface="Calibri" pitchFamily="34" charset="0"/>
                <a:ea typeface="Calibri" pitchFamily="34" charset="-122"/>
                <a:cs typeface="Calibri" pitchFamily="34" charset="-120"/>
              </a:rPr>
              <a:t>What "evidence" means</a:t>
            </a:r>
            <a:endParaRPr lang="en-US" sz="1700" dirty="0"/>
          </a:p>
          <a:p>
            <a:pPr indent="0" marL="0">
              <a:spcAft>
                <a:spcPts val="600"/>
              </a:spcAft>
              <a:buNone/>
            </a:pPr>
            <a:r>
              <a:rPr lang="en-US" sz="1400" dirty="0">
                <a:solidFill>
                  <a:srgbClr val="1F2937"/>
                </a:solidFill>
                <a:latin typeface="Calibri" pitchFamily="34" charset="0"/>
                <a:ea typeface="Calibri" pitchFamily="34" charset="-122"/>
                <a:cs typeface="Calibri" pitchFamily="34" charset="-120"/>
              </a:rPr>
              <a:t>A short business definition, e.g. which column or formula a term refers to.</a:t>
            </a:r>
            <a:endParaRPr lang="en-US" sz="1700" dirty="0"/>
          </a:p>
          <a:p>
            <a:pPr indent="0" marL="0">
              <a:spcAft>
                <a:spcPts val="600"/>
              </a:spcAft>
              <a:buNone/>
            </a:pPr>
            <a:r>
              <a:rPr lang="en-US" sz="800" dirty="0">
                <a:solidFill>
                  <a:srgbClr val="1F2937"/>
                </a:solidFill>
                <a:latin typeface="Calibri" pitchFamily="34" charset="0"/>
                <a:ea typeface="Calibri" pitchFamily="34" charset="-122"/>
                <a:cs typeface="Calibri" pitchFamily="34" charset="-120"/>
              </a:rPr>
              <a:t> </a:t>
            </a:r>
            <a:endParaRPr lang="en-US" sz="1700" dirty="0"/>
          </a:p>
          <a:p>
            <a:pPr indent="0" marL="0">
              <a:spcAft>
                <a:spcPts val="600"/>
              </a:spcAft>
              <a:buNone/>
            </a:pPr>
            <a:r>
              <a:rPr lang="en-US" sz="1700" b="1" dirty="0">
                <a:solidFill>
                  <a:srgbClr val="0E1A2B"/>
                </a:solidFill>
                <a:latin typeface="Calibri" pitchFamily="34" charset="0"/>
                <a:ea typeface="Calibri" pitchFamily="34" charset="-122"/>
                <a:cs typeface="Calibri" pitchFamily="34" charset="-120"/>
              </a:rPr>
              <a:t>Why errors happen</a:t>
            </a:r>
            <a:endParaRPr lang="en-US" sz="17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Wrong schema linking: 41.6%</a:t>
            </a:r>
            <a:endParaRPr lang="en-US" sz="17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Misunderstood database content, including invented tables and columns: 40.8%</a:t>
            </a:r>
            <a:endParaRPr lang="en-US" sz="1700" dirty="0"/>
          </a:p>
        </p:txBody>
      </p:sp>
      <p:sp>
        <p:nvSpPr>
          <p:cNvPr id="6" name="Text 3"/>
          <p:cNvSpPr txBox="1"/>
          <p:nvPr/>
        </p:nvSpPr>
        <p:spPr>
          <a:xfrm>
            <a:off x="548640" y="6291072"/>
            <a:ext cx="11094415" cy="411480"/>
          </a:xfrm>
          <a:prstGeom prst="rect">
            <a:avLst/>
          </a:prstGeom>
          <a:noFill/>
          <a:ln/>
        </p:spPr>
        <p:txBody>
          <a:bodyPr wrap="square" lIns="0" tIns="0" rIns="0" bIns="0" rtlCol="0" anchor="b"/>
          <a:lstStyle/>
          <a:p>
            <a:pPr indent="0" marL="0">
              <a:buNone/>
            </a:pPr>
            <a:r>
              <a:rPr lang="en-US" sz="950" i="1" dirty="0">
                <a:solidFill>
                  <a:srgbClr val="5B6472"/>
                </a:solidFill>
                <a:latin typeface="Calibri" pitchFamily="34" charset="0"/>
                <a:ea typeface="Calibri" pitchFamily="34" charset="-122"/>
                <a:cs typeface="Calibri" pitchFamily="34" charset="-120"/>
              </a:rPr>
              <a:t>Li et al., "Can LLM Already Serve as a Database Interface?" (BIRD), NeurIPS 2023. Error analysis of 500 ChatGPT failures.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2900" b="1" dirty="0">
                <a:solidFill>
                  <a:srgbClr val="0E1A2B"/>
                </a:solidFill>
                <a:latin typeface="Cambria" pitchFamily="34" charset="0"/>
                <a:ea typeface="Cambria" pitchFamily="34" charset="-122"/>
                <a:cs typeface="Cambria" pitchFamily="34" charset="-120"/>
              </a:rPr>
              <a:t>Real enterprise schemas break the academic results</a:t>
            </a:r>
            <a:endParaRPr lang="en-US" sz="2900" dirty="0"/>
          </a:p>
        </p:txBody>
      </p:sp>
      <p:graphicFrame>
        <p:nvGraphicFramePr>
          <p:cNvPr id="3" name="Chart 0" descr=""/>
          <p:cNvGraphicFramePr/>
          <p:nvPr/>
        </p:nvGraphicFramePr>
        <p:xfrm>
          <a:off x="548640" y="1280160"/>
          <a:ext cx="6766560" cy="457200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680960" y="1280160"/>
            <a:ext cx="3931920" cy="1371600"/>
          </a:xfrm>
          <a:prstGeom prst="roundRect">
            <a:avLst>
              <a:gd name="adj" fmla="val 5333"/>
            </a:avLst>
          </a:prstGeom>
          <a:solidFill>
            <a:srgbClr val="F4F6F9"/>
          </a:solidFill>
          <a:ln w="12700">
            <a:solidFill>
              <a:srgbClr val="F4F6F9"/>
            </a:solidFill>
            <a:prstDash val="solid"/>
          </a:ln>
        </p:spPr>
      </p:sp>
      <p:sp>
        <p:nvSpPr>
          <p:cNvPr id="5" name="Text 2"/>
          <p:cNvSpPr txBox="1"/>
          <p:nvPr/>
        </p:nvSpPr>
        <p:spPr>
          <a:xfrm>
            <a:off x="7909560" y="1325880"/>
            <a:ext cx="3520440" cy="1280160"/>
          </a:xfrm>
          <a:prstGeom prst="rect">
            <a:avLst/>
          </a:prstGeom>
          <a:noFill/>
          <a:ln/>
        </p:spPr>
        <p:txBody>
          <a:bodyPr wrap="square" lIns="0" tIns="0" rIns="0" bIns="0" rtlCol="0" anchor="ctr"/>
          <a:lstStyle/>
          <a:p>
            <a:pPr indent="0" marL="0">
              <a:buNone/>
            </a:pPr>
            <a:r>
              <a:rPr lang="en-US" sz="2000" b="1" dirty="0">
                <a:solidFill>
                  <a:srgbClr val="0E1A2B"/>
                </a:solidFill>
                <a:latin typeface="Calibri" pitchFamily="34" charset="0"/>
                <a:ea typeface="Calibri" pitchFamily="34" charset="-122"/>
                <a:cs typeface="Calibri" pitchFamily="34" charset="-120"/>
              </a:rPr>
              <a:t>~54 → 755+ → 869</a:t>
            </a:r>
            <a:endParaRPr lang="en-US" sz="2000" dirty="0"/>
          </a:p>
          <a:p>
            <a:pPr indent="0" marL="0">
              <a:buNone/>
            </a:pPr>
            <a:r>
              <a:rPr lang="en-US" sz="1250" dirty="0">
                <a:solidFill>
                  <a:srgbClr val="1F2937"/>
                </a:solidFill>
                <a:latin typeface="Calibri" pitchFamily="34" charset="0"/>
                <a:ea typeface="Calibri" pitchFamily="34" charset="-122"/>
                <a:cs typeface="Calibri" pitchFamily="34" charset="-120"/>
              </a:rPr>
              <a:t>columns per database: BIRD, Spider 2.0-lite, BEAVER</a:t>
            </a:r>
            <a:endParaRPr lang="en-US" sz="2000" dirty="0"/>
          </a:p>
        </p:txBody>
      </p:sp>
      <p:sp>
        <p:nvSpPr>
          <p:cNvPr id="6" name="Shape 3"/>
          <p:cNvSpPr/>
          <p:nvPr/>
        </p:nvSpPr>
        <p:spPr>
          <a:xfrm>
            <a:off x="7680960" y="2834640"/>
            <a:ext cx="3931920" cy="1371600"/>
          </a:xfrm>
          <a:prstGeom prst="roundRect">
            <a:avLst>
              <a:gd name="adj" fmla="val 5333"/>
            </a:avLst>
          </a:prstGeom>
          <a:solidFill>
            <a:srgbClr val="F4F6F9"/>
          </a:solidFill>
          <a:ln w="12700">
            <a:solidFill>
              <a:srgbClr val="F4F6F9"/>
            </a:solidFill>
            <a:prstDash val="solid"/>
          </a:ln>
        </p:spPr>
      </p:sp>
      <p:sp>
        <p:nvSpPr>
          <p:cNvPr id="7" name="Text 4"/>
          <p:cNvSpPr txBox="1"/>
          <p:nvPr/>
        </p:nvSpPr>
        <p:spPr>
          <a:xfrm>
            <a:off x="7909560" y="2880360"/>
            <a:ext cx="3520440" cy="1280160"/>
          </a:xfrm>
          <a:prstGeom prst="rect">
            <a:avLst/>
          </a:prstGeom>
          <a:noFill/>
          <a:ln/>
        </p:spPr>
        <p:txBody>
          <a:bodyPr wrap="square" lIns="0" tIns="0" rIns="0" bIns="0" rtlCol="0" anchor="ctr"/>
          <a:lstStyle/>
          <a:p>
            <a:pPr indent="0" marL="0">
              <a:buNone/>
            </a:pPr>
            <a:r>
              <a:rPr lang="en-US" sz="2000" b="1" dirty="0">
                <a:solidFill>
                  <a:srgbClr val="0E1A2B"/>
                </a:solidFill>
                <a:latin typeface="Calibri" pitchFamily="34" charset="0"/>
                <a:ea typeface="Calibri" pitchFamily="34" charset="-122"/>
                <a:cs typeface="Calibri" pitchFamily="34" charset="-120"/>
              </a:rPr>
              <a:t>27.6%</a:t>
            </a:r>
            <a:endParaRPr lang="en-US" sz="2000" dirty="0"/>
          </a:p>
          <a:p>
            <a:pPr indent="0" marL="0">
              <a:buNone/>
            </a:pPr>
            <a:r>
              <a:rPr lang="en-US" sz="1250" dirty="0">
                <a:solidFill>
                  <a:srgbClr val="1F2937"/>
                </a:solidFill>
                <a:latin typeface="Calibri" pitchFamily="34" charset="0"/>
                <a:ea typeface="Calibri" pitchFamily="34" charset="-122"/>
                <a:cs typeface="Calibri" pitchFamily="34" charset="-120"/>
              </a:rPr>
              <a:t>of Spider 2.0 errors are wrong schema linking; a further 8.3% are JOIN errors, since no foreign keys are declared</a:t>
            </a:r>
            <a:endParaRPr lang="en-US" sz="2000" dirty="0"/>
          </a:p>
        </p:txBody>
      </p:sp>
      <p:sp>
        <p:nvSpPr>
          <p:cNvPr id="8" name="Shape 5"/>
          <p:cNvSpPr/>
          <p:nvPr/>
        </p:nvSpPr>
        <p:spPr>
          <a:xfrm>
            <a:off x="7680960" y="4389120"/>
            <a:ext cx="3931920" cy="1371600"/>
          </a:xfrm>
          <a:prstGeom prst="roundRect">
            <a:avLst>
              <a:gd name="adj" fmla="val 5333"/>
            </a:avLst>
          </a:prstGeom>
          <a:solidFill>
            <a:srgbClr val="FDF1DE"/>
          </a:solidFill>
          <a:ln w="12700">
            <a:solidFill>
              <a:srgbClr val="FDF1DE"/>
            </a:solidFill>
            <a:prstDash val="solid"/>
          </a:ln>
        </p:spPr>
      </p:sp>
      <p:sp>
        <p:nvSpPr>
          <p:cNvPr id="9" name="Text 6"/>
          <p:cNvSpPr txBox="1"/>
          <p:nvPr/>
        </p:nvSpPr>
        <p:spPr>
          <a:xfrm>
            <a:off x="7909560" y="4434840"/>
            <a:ext cx="3520440" cy="1280160"/>
          </a:xfrm>
          <a:prstGeom prst="rect">
            <a:avLst/>
          </a:prstGeom>
          <a:noFill/>
          <a:ln/>
        </p:spPr>
        <p:txBody>
          <a:bodyPr wrap="square" lIns="0" tIns="0" rIns="0" bIns="0" rtlCol="0" anchor="ctr"/>
          <a:lstStyle/>
          <a:p>
            <a:pPr indent="0" marL="0">
              <a:buNone/>
            </a:pPr>
            <a:r>
              <a:rPr lang="en-US" sz="2000" b="1" dirty="0">
                <a:solidFill>
                  <a:srgbClr val="0E1A2B"/>
                </a:solidFill>
                <a:latin typeface="Calibri" pitchFamily="34" charset="0"/>
                <a:ea typeface="Calibri" pitchFamily="34" charset="-122"/>
                <a:cs typeface="Calibri" pitchFamily="34" charset="-120"/>
              </a:rPr>
              <a:t>10.8% → 30.1%</a:t>
            </a:r>
            <a:endParaRPr lang="en-US" sz="2000" dirty="0"/>
          </a:p>
          <a:p>
            <a:pPr indent="0" marL="0">
              <a:buNone/>
            </a:pPr>
            <a:r>
              <a:rPr lang="en-US" sz="1250" dirty="0">
                <a:solidFill>
                  <a:srgbClr val="1F2937"/>
                </a:solidFill>
                <a:latin typeface="Calibri" pitchFamily="34" charset="0"/>
                <a:ea typeface="Calibri" pitchFamily="34" charset="-122"/>
                <a:cs typeface="Calibri" pitchFamily="34" charset="-120"/>
              </a:rPr>
              <a:t>BEAVER, when agents are given table retrieval, join keys, column mapping and domain knowledge</a:t>
            </a:r>
            <a:endParaRPr lang="en-US" sz="2000" dirty="0"/>
          </a:p>
        </p:txBody>
      </p:sp>
      <p:sp>
        <p:nvSpPr>
          <p:cNvPr id="10" name="Text 7"/>
          <p:cNvSpPr txBox="1"/>
          <p:nvPr/>
        </p:nvSpPr>
        <p:spPr>
          <a:xfrm>
            <a:off x="548640" y="6291072"/>
            <a:ext cx="11094415" cy="411480"/>
          </a:xfrm>
          <a:prstGeom prst="rect">
            <a:avLst/>
          </a:prstGeom>
          <a:noFill/>
          <a:ln/>
        </p:spPr>
        <p:txBody>
          <a:bodyPr wrap="square" lIns="0" tIns="0" rIns="0" bIns="0" rtlCol="0" anchor="b"/>
          <a:lstStyle/>
          <a:p>
            <a:pPr indent="0" marL="0">
              <a:buNone/>
            </a:pPr>
            <a:r>
              <a:rPr lang="en-US" sz="950" i="1" dirty="0">
                <a:solidFill>
                  <a:srgbClr val="5B6472"/>
                </a:solidFill>
                <a:latin typeface="Calibri" pitchFamily="34" charset="0"/>
                <a:ea typeface="Calibri" pitchFamily="34" charset="-122"/>
                <a:cs typeface="Calibri" pitchFamily="34" charset="-120"/>
              </a:rPr>
              <a:t>Lei et al., Spider 2.0, ICLR 2025 (Oral) · Chen et al. (MIT, Stonebraker), BEAVER, arXiv 2409.02038 v3, May 2026.</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2600" b="1" dirty="0">
                <a:solidFill>
                  <a:srgbClr val="0E1A2B"/>
                </a:solidFill>
                <a:latin typeface="Cambria" pitchFamily="34" charset="0"/>
                <a:ea typeface="Cambria" pitchFamily="34" charset="-122"/>
                <a:cs typeface="Cambria" pitchFamily="34" charset="-120"/>
              </a:rPr>
              <a:t>A knowledge graph over the same database: 16.7% → 54.2%</a:t>
            </a:r>
            <a:endParaRPr lang="en-US" sz="2600" dirty="0"/>
          </a:p>
        </p:txBody>
      </p:sp>
      <p:graphicFrame>
        <p:nvGraphicFramePr>
          <p:cNvPr id="3" name="Chart 0" descr=""/>
          <p:cNvGraphicFramePr/>
          <p:nvPr/>
        </p:nvGraphicFramePr>
        <p:xfrm>
          <a:off x="548640" y="1280160"/>
          <a:ext cx="7132320" cy="457200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8046720" y="1280160"/>
            <a:ext cx="3566160" cy="2148840"/>
          </a:xfrm>
          <a:prstGeom prst="roundRect">
            <a:avLst>
              <a:gd name="adj" fmla="val 3404"/>
            </a:avLst>
          </a:prstGeom>
          <a:solidFill>
            <a:srgbClr val="0E1A2B"/>
          </a:solidFill>
          <a:ln w="12700">
            <a:solidFill>
              <a:srgbClr val="0E1A2B"/>
            </a:solidFill>
            <a:prstDash val="solid"/>
          </a:ln>
        </p:spPr>
      </p:sp>
      <p:sp>
        <p:nvSpPr>
          <p:cNvPr id="5" name="Text 2"/>
          <p:cNvSpPr txBox="1"/>
          <p:nvPr/>
        </p:nvSpPr>
        <p:spPr>
          <a:xfrm>
            <a:off x="8321040" y="1417320"/>
            <a:ext cx="3108960" cy="1920240"/>
          </a:xfrm>
          <a:prstGeom prst="rect">
            <a:avLst/>
          </a:prstGeom>
          <a:noFill/>
          <a:ln/>
        </p:spPr>
        <p:txBody>
          <a:bodyPr wrap="square" lIns="0" tIns="0" rIns="0" bIns="0" rtlCol="0" anchor="t"/>
          <a:lstStyle/>
          <a:p>
            <a:pPr indent="0" marL="0">
              <a:buNone/>
            </a:pPr>
            <a:r>
              <a:rPr lang="en-US" sz="4000" b="1" dirty="0">
                <a:solidFill>
                  <a:srgbClr val="F2A541"/>
                </a:solidFill>
                <a:latin typeface="Cambria" pitchFamily="34" charset="0"/>
                <a:ea typeface="Cambria" pitchFamily="34" charset="-122"/>
                <a:cs typeface="Cambria" pitchFamily="34" charset="-120"/>
              </a:rPr>
              <a:t>0%</a:t>
            </a:r>
            <a:endParaRPr lang="en-US" sz="4000" dirty="0"/>
          </a:p>
          <a:p>
            <a:pPr indent="0" marL="0">
              <a:buNone/>
            </a:pPr>
            <a:r>
              <a:rPr lang="en-US" sz="1400" dirty="0">
                <a:solidFill>
                  <a:srgbClr val="FFFFFF"/>
                </a:solidFill>
                <a:latin typeface="Calibri" pitchFamily="34" charset="0"/>
                <a:ea typeface="Calibri" pitchFamily="34" charset="-122"/>
                <a:cs typeface="Calibri" pitchFamily="34" charset="-120"/>
              </a:rPr>
              <a:t>raw-SQL accuracy on every question that needs a complex schema</a:t>
            </a:r>
            <a:endParaRPr lang="en-US" sz="4000" dirty="0"/>
          </a:p>
        </p:txBody>
      </p:sp>
      <p:sp>
        <p:nvSpPr>
          <p:cNvPr id="6" name="Shape 3"/>
          <p:cNvSpPr/>
          <p:nvPr/>
        </p:nvSpPr>
        <p:spPr>
          <a:xfrm>
            <a:off x="8046720" y="3657600"/>
            <a:ext cx="3566160" cy="2194560"/>
          </a:xfrm>
          <a:prstGeom prst="roundRect">
            <a:avLst>
              <a:gd name="adj" fmla="val 3333"/>
            </a:avLst>
          </a:prstGeom>
          <a:solidFill>
            <a:srgbClr val="F4F6F9"/>
          </a:solidFill>
          <a:ln w="12700">
            <a:solidFill>
              <a:srgbClr val="F4F6F9"/>
            </a:solidFill>
            <a:prstDash val="solid"/>
          </a:ln>
        </p:spPr>
      </p:sp>
      <p:sp>
        <p:nvSpPr>
          <p:cNvPr id="7" name="Text 4"/>
          <p:cNvSpPr txBox="1"/>
          <p:nvPr/>
        </p:nvSpPr>
        <p:spPr>
          <a:xfrm>
            <a:off x="8321040" y="3794760"/>
            <a:ext cx="3108960" cy="1965960"/>
          </a:xfrm>
          <a:prstGeom prst="rect">
            <a:avLst/>
          </a:prstGeom>
          <a:noFill/>
          <a:ln/>
        </p:spPr>
        <p:txBody>
          <a:bodyPr wrap="square" lIns="0" tIns="0" rIns="0" bIns="0" rtlCol="0" anchor="t"/>
          <a:lstStyle/>
          <a:p>
            <a:pPr indent="0" marL="0">
              <a:buNone/>
            </a:pPr>
            <a:r>
              <a:rPr lang="en-US" sz="4000" b="1" dirty="0">
                <a:solidFill>
                  <a:srgbClr val="0E1A2B"/>
                </a:solidFill>
                <a:latin typeface="Cambria" pitchFamily="34" charset="0"/>
                <a:ea typeface="Cambria" pitchFamily="34" charset="-122"/>
                <a:cs typeface="Cambria" pitchFamily="34" charset="-120"/>
              </a:rPr>
              <a:t>72%</a:t>
            </a:r>
            <a:endParaRPr lang="en-US" sz="4000" dirty="0"/>
          </a:p>
          <a:p>
            <a:pPr indent="0" marL="0">
              <a:buNone/>
            </a:pPr>
            <a:r>
              <a:rPr lang="en-US" sz="1400" dirty="0">
                <a:solidFill>
                  <a:srgbClr val="1F2937"/>
                </a:solidFill>
                <a:latin typeface="Calibri" pitchFamily="34" charset="0"/>
                <a:ea typeface="Calibri" pitchFamily="34" charset="-122"/>
                <a:cs typeface="Calibri" pitchFamily="34" charset="-120"/>
              </a:rPr>
              <a:t>when the ontology also checks and repairs each query, including 8% honest "I don't know"</a:t>
            </a:r>
            <a:endParaRPr lang="en-US" sz="4000" dirty="0"/>
          </a:p>
        </p:txBody>
      </p:sp>
      <p:sp>
        <p:nvSpPr>
          <p:cNvPr id="8" name="Text 5"/>
          <p:cNvSpPr txBox="1"/>
          <p:nvPr/>
        </p:nvSpPr>
        <p:spPr>
          <a:xfrm>
            <a:off x="548640" y="6291072"/>
            <a:ext cx="11094415" cy="411480"/>
          </a:xfrm>
          <a:prstGeom prst="rect">
            <a:avLst/>
          </a:prstGeom>
          <a:noFill/>
          <a:ln/>
        </p:spPr>
        <p:txBody>
          <a:bodyPr wrap="square" lIns="0" tIns="0" rIns="0" bIns="0" rtlCol="0" anchor="b"/>
          <a:lstStyle/>
          <a:p>
            <a:pPr indent="0" marL="0">
              <a:buNone/>
            </a:pPr>
            <a:r>
              <a:rPr lang="en-US" sz="950" i="1" dirty="0">
                <a:solidFill>
                  <a:srgbClr val="5B6472"/>
                </a:solidFill>
                <a:latin typeface="Calibri" pitchFamily="34" charset="0"/>
                <a:ea typeface="Calibri" pitchFamily="34" charset="-122"/>
                <a:cs typeface="Calibri" pitchFamily="34" charset="-120"/>
              </a:rPr>
              <a:t>Sequeda, Allemang, Jacob, arXiv 2311.07509 (2023) · Allemang, Sequeda, arXiv 2405.11706 (2024). Small (43 questions, one domain, GPT-4) and authored by a KG vendor.</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2900" b="1" dirty="0">
                <a:solidFill>
                  <a:srgbClr val="0E1A2B"/>
                </a:solidFill>
                <a:latin typeface="Cambria" pitchFamily="34" charset="0"/>
                <a:ea typeface="Cambria" pitchFamily="34" charset="-122"/>
                <a:cs typeface="Cambria" pitchFamily="34" charset="-120"/>
              </a:rPr>
              <a:t>Semantic-layer vendors report the same pattern</a:t>
            </a:r>
            <a:endParaRPr lang="en-US" sz="2900" dirty="0"/>
          </a:p>
        </p:txBody>
      </p:sp>
      <p:sp>
        <p:nvSpPr>
          <p:cNvPr id="3" name="Shape 1"/>
          <p:cNvSpPr/>
          <p:nvPr/>
        </p:nvSpPr>
        <p:spPr>
          <a:xfrm>
            <a:off x="10469880" y="566928"/>
            <a:ext cx="1143000" cy="329184"/>
          </a:xfrm>
          <a:prstGeom prst="roundRect">
            <a:avLst>
              <a:gd name="adj" fmla="val 16667"/>
            </a:avLst>
          </a:prstGeom>
          <a:solidFill>
            <a:srgbClr val="E4572E"/>
          </a:solidFill>
          <a:ln w="12700">
            <a:solidFill>
              <a:srgbClr val="E4572E"/>
            </a:solidFill>
            <a:prstDash val="solid"/>
          </a:ln>
        </p:spPr>
      </p:sp>
      <p:sp>
        <p:nvSpPr>
          <p:cNvPr id="4" name="Text 2"/>
          <p:cNvSpPr txBox="1"/>
          <p:nvPr/>
        </p:nvSpPr>
        <p:spPr>
          <a:xfrm>
            <a:off x="10469880" y="566928"/>
            <a:ext cx="114300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VENDOR STUDY</a:t>
            </a:r>
            <a:endParaRPr lang="en-US" sz="1000" dirty="0"/>
          </a:p>
        </p:txBody>
      </p:sp>
      <p:graphicFrame>
        <p:nvGraphicFramePr>
          <p:cNvPr id="5" name="Chart 0" descr=""/>
          <p:cNvGraphicFramePr/>
          <p:nvPr/>
        </p:nvGraphicFramePr>
        <p:xfrm>
          <a:off x="548640" y="128016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7863840" y="1371600"/>
            <a:ext cx="3749040" cy="457200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Cube: +17 to +23 pts from a 4 KB semantic document for Opus 4.7, Sonnet 4.6 and GPT-5.4 (p ≤ 0.0015). Model choice mattered less than semantics</a:t>
            </a:r>
            <a:endParaRPr lang="en-US" sz="1350" dirty="0"/>
          </a:p>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dbt 2026: 98–100% with the semantic layer vs 84–90% for text-to-SQL on modelled data</a:t>
            </a:r>
            <a:endParaRPr lang="en-US" sz="1350" dirty="0"/>
          </a:p>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Treat these as directional: small question sets, single domains, sometimes lenient or LLM-judged scoring</a:t>
            </a:r>
            <a:endParaRPr lang="en-US" sz="1350" dirty="0"/>
          </a:p>
        </p:txBody>
      </p:sp>
      <p:sp>
        <p:nvSpPr>
          <p:cNvPr id="7" name="Text 4"/>
          <p:cNvSpPr txBox="1"/>
          <p:nvPr/>
        </p:nvSpPr>
        <p:spPr>
          <a:xfrm>
            <a:off x="548640" y="6291072"/>
            <a:ext cx="11094415" cy="411480"/>
          </a:xfrm>
          <a:prstGeom prst="rect">
            <a:avLst/>
          </a:prstGeom>
          <a:noFill/>
          <a:ln/>
        </p:spPr>
        <p:txBody>
          <a:bodyPr wrap="square" lIns="0" tIns="0" rIns="0" bIns="0" rtlCol="0" anchor="b"/>
          <a:lstStyle/>
          <a:p>
            <a:pPr indent="0" marL="0">
              <a:buNone/>
            </a:pPr>
            <a:r>
              <a:rPr lang="en-US" sz="950" i="1" dirty="0">
                <a:solidFill>
                  <a:srgbClr val="5B6472"/>
                </a:solidFill>
                <a:latin typeface="Calibri" pitchFamily="34" charset="0"/>
                <a:ea typeface="Calibri" pitchFamily="34" charset="-122"/>
                <a:cs typeface="Calibri" pitchFamily="34" charset="-120"/>
              </a:rPr>
              <a:t>Rumiantsau &amp; Fokeev (Cube), arXiv 2604.25149 · Zayats (Snowflake), Mar 2025 · AtScale, Aug 2024 · Ganz &amp; Perigaud (dbt Labs), Apr 2026. Cube shown as midpoint of 45.5–50.5% and 67.7–68.7%.</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2600" b="1" dirty="0">
                <a:solidFill>
                  <a:srgbClr val="0E1A2B"/>
                </a:solidFill>
                <a:latin typeface="Cambria" pitchFamily="34" charset="0"/>
                <a:ea typeface="Cambria" pitchFamily="34" charset="-122"/>
                <a:cs typeface="Cambria" pitchFamily="34" charset="-120"/>
              </a:rPr>
              <a:t>The bigger risk isn't wrong answers. It's plausible wrong answers</a:t>
            </a:r>
            <a:endParaRPr lang="en-US" sz="2600" dirty="0"/>
          </a:p>
        </p:txBody>
      </p:sp>
      <p:sp>
        <p:nvSpPr>
          <p:cNvPr id="3" name="Shape 1"/>
          <p:cNvSpPr/>
          <p:nvPr/>
        </p:nvSpPr>
        <p:spPr>
          <a:xfrm>
            <a:off x="548640" y="1371600"/>
            <a:ext cx="6766560" cy="1325880"/>
          </a:xfrm>
          <a:prstGeom prst="roundRect">
            <a:avLst>
              <a:gd name="adj" fmla="val 5517"/>
            </a:avLst>
          </a:prstGeom>
          <a:solidFill>
            <a:srgbClr val="F4F6F9"/>
          </a:solidFill>
          <a:ln w="12700">
            <a:solidFill>
              <a:srgbClr val="F4F6F9"/>
            </a:solidFill>
            <a:prstDash val="solid"/>
          </a:ln>
        </p:spPr>
      </p:sp>
      <p:sp>
        <p:nvSpPr>
          <p:cNvPr id="4" name="Text 2"/>
          <p:cNvSpPr txBox="1"/>
          <p:nvPr/>
        </p:nvSpPr>
        <p:spPr>
          <a:xfrm>
            <a:off x="822960" y="1417320"/>
            <a:ext cx="6217920" cy="1234440"/>
          </a:xfrm>
          <a:prstGeom prst="rect">
            <a:avLst/>
          </a:prstGeom>
          <a:noFill/>
          <a:ln/>
        </p:spPr>
        <p:txBody>
          <a:bodyPr wrap="square" lIns="0" tIns="0" rIns="0" bIns="0" rtlCol="0" anchor="ctr"/>
          <a:lstStyle/>
          <a:p>
            <a:pPr indent="0" marL="0">
              <a:buNone/>
            </a:pPr>
            <a:r>
              <a:rPr lang="en-US" sz="1600" i="1" dirty="0">
                <a:solidFill>
                  <a:srgbClr val="1F2937"/>
                </a:solidFill>
                <a:latin typeface="Calibri" pitchFamily="34" charset="0"/>
                <a:ea typeface="Calibri" pitchFamily="34" charset="-122"/>
                <a:cs typeface="Calibri" pitchFamily="34" charset="-120"/>
              </a:rPr>
              <a:t>"Text-to-SQL silently returns plausible but incorrect answers." Semantic-layer failures are explicit errors.</a:t>
            </a:r>
            <a:endParaRPr lang="en-US" sz="1600" dirty="0"/>
          </a:p>
          <a:p>
            <a:pPr indent="0" marL="0">
              <a:buNone/>
            </a:pPr>
            <a:r>
              <a:rPr lang="en-US" sz="1200" dirty="0">
                <a:solidFill>
                  <a:srgbClr val="5B6472"/>
                </a:solidFill>
                <a:latin typeface="Calibri" pitchFamily="34" charset="0"/>
                <a:ea typeface="Calibri" pitchFamily="34" charset="-122"/>
                <a:cs typeface="Calibri" pitchFamily="34" charset="-120"/>
              </a:rPr>
              <a:t>dbt Labs, 2026 benchmark update</a:t>
            </a:r>
            <a:endParaRPr lang="en-US" sz="1600" dirty="0"/>
          </a:p>
        </p:txBody>
      </p:sp>
      <p:sp>
        <p:nvSpPr>
          <p:cNvPr id="5" name="Shape 3"/>
          <p:cNvSpPr/>
          <p:nvPr/>
        </p:nvSpPr>
        <p:spPr>
          <a:xfrm>
            <a:off x="548640" y="2880360"/>
            <a:ext cx="6766560" cy="1325880"/>
          </a:xfrm>
          <a:prstGeom prst="roundRect">
            <a:avLst>
              <a:gd name="adj" fmla="val 5517"/>
            </a:avLst>
          </a:prstGeom>
          <a:solidFill>
            <a:srgbClr val="F4F6F9"/>
          </a:solidFill>
          <a:ln w="12700">
            <a:solidFill>
              <a:srgbClr val="F4F6F9"/>
            </a:solidFill>
            <a:prstDash val="solid"/>
          </a:ln>
        </p:spPr>
      </p:sp>
      <p:sp>
        <p:nvSpPr>
          <p:cNvPr id="6" name="Text 4"/>
          <p:cNvSpPr txBox="1"/>
          <p:nvPr/>
        </p:nvSpPr>
        <p:spPr>
          <a:xfrm>
            <a:off x="822960" y="2926080"/>
            <a:ext cx="6217920" cy="1234440"/>
          </a:xfrm>
          <a:prstGeom prst="rect">
            <a:avLst/>
          </a:prstGeom>
          <a:noFill/>
          <a:ln/>
        </p:spPr>
        <p:txBody>
          <a:bodyPr wrap="square" lIns="0" tIns="0" rIns="0" bIns="0" rtlCol="0" anchor="ctr"/>
          <a:lstStyle/>
          <a:p>
            <a:pPr indent="0" marL="0">
              <a:buNone/>
            </a:pPr>
            <a:r>
              <a:rPr lang="en-US" sz="1600" i="1" dirty="0">
                <a:solidFill>
                  <a:srgbClr val="1F2937"/>
                </a:solidFill>
                <a:latin typeface="Calibri" pitchFamily="34" charset="0"/>
                <a:ea typeface="Calibri" pitchFamily="34" charset="-122"/>
                <a:cs typeface="Calibri" pitchFamily="34" charset="-120"/>
              </a:rPr>
              <a:t>"Silent hallucination": SQL that runs and returns numbers, but means the wrong thing.</a:t>
            </a:r>
            <a:endParaRPr lang="en-US" sz="1600" dirty="0"/>
          </a:p>
          <a:p>
            <a:pPr indent="0" marL="0">
              <a:buNone/>
            </a:pPr>
            <a:r>
              <a:rPr lang="en-US" sz="1200" dirty="0">
                <a:solidFill>
                  <a:srgbClr val="5B6472"/>
                </a:solidFill>
                <a:latin typeface="Calibri" pitchFamily="34" charset="0"/>
                <a:ea typeface="Calibri" pitchFamily="34" charset="-122"/>
                <a:cs typeface="Calibri" pitchFamily="34" charset="-120"/>
              </a:rPr>
              <a:t>Cube paired benchmark, 2026</a:t>
            </a:r>
            <a:endParaRPr lang="en-US" sz="1600" dirty="0"/>
          </a:p>
        </p:txBody>
      </p:sp>
      <p:sp>
        <p:nvSpPr>
          <p:cNvPr id="7" name="Shape 5"/>
          <p:cNvSpPr/>
          <p:nvPr/>
        </p:nvSpPr>
        <p:spPr>
          <a:xfrm>
            <a:off x="548640" y="4389120"/>
            <a:ext cx="6766560" cy="1325880"/>
          </a:xfrm>
          <a:prstGeom prst="roundRect">
            <a:avLst>
              <a:gd name="adj" fmla="val 5517"/>
            </a:avLst>
          </a:prstGeom>
          <a:solidFill>
            <a:srgbClr val="F4F6F9"/>
          </a:solidFill>
          <a:ln w="12700">
            <a:solidFill>
              <a:srgbClr val="F4F6F9"/>
            </a:solidFill>
            <a:prstDash val="solid"/>
          </a:ln>
        </p:spPr>
      </p:sp>
      <p:sp>
        <p:nvSpPr>
          <p:cNvPr id="8" name="Text 6"/>
          <p:cNvSpPr txBox="1"/>
          <p:nvPr/>
        </p:nvSpPr>
        <p:spPr>
          <a:xfrm>
            <a:off x="822960" y="4434840"/>
            <a:ext cx="6217920" cy="1234440"/>
          </a:xfrm>
          <a:prstGeom prst="rect">
            <a:avLst/>
          </a:prstGeom>
          <a:noFill/>
          <a:ln/>
        </p:spPr>
        <p:txBody>
          <a:bodyPr wrap="square" lIns="0" tIns="0" rIns="0" bIns="0" rtlCol="0" anchor="ctr"/>
          <a:lstStyle/>
          <a:p>
            <a:pPr indent="0" marL="0">
              <a:buNone/>
            </a:pPr>
            <a:r>
              <a:rPr lang="en-US" sz="1600" i="1" dirty="0">
                <a:solidFill>
                  <a:srgbClr val="1F2937"/>
                </a:solidFill>
                <a:latin typeface="Calibri" pitchFamily="34" charset="0"/>
                <a:ea typeface="Calibri" pitchFamily="34" charset="-122"/>
                <a:cs typeface="Calibri" pitchFamily="34" charset="-120"/>
              </a:rPr>
              <a:t>Models "generate fake schema items": tables and columns that don't exist.</a:t>
            </a:r>
            <a:endParaRPr lang="en-US" sz="1600" dirty="0"/>
          </a:p>
          <a:p>
            <a:pPr indent="0" marL="0">
              <a:buNone/>
            </a:pPr>
            <a:r>
              <a:rPr lang="en-US" sz="1200" dirty="0">
                <a:solidFill>
                  <a:srgbClr val="5B6472"/>
                </a:solidFill>
                <a:latin typeface="Calibri" pitchFamily="34" charset="0"/>
                <a:ea typeface="Calibri" pitchFamily="34" charset="-122"/>
                <a:cs typeface="Calibri" pitchFamily="34" charset="-120"/>
              </a:rPr>
              <a:t>BIRD error analysis, 2023</a:t>
            </a:r>
            <a:endParaRPr lang="en-US" sz="1600" dirty="0"/>
          </a:p>
        </p:txBody>
      </p:sp>
      <p:sp>
        <p:nvSpPr>
          <p:cNvPr id="9" name="Shape 7"/>
          <p:cNvSpPr/>
          <p:nvPr/>
        </p:nvSpPr>
        <p:spPr>
          <a:xfrm>
            <a:off x="7680960" y="1371600"/>
            <a:ext cx="3931920" cy="4343400"/>
          </a:xfrm>
          <a:prstGeom prst="roundRect">
            <a:avLst>
              <a:gd name="adj" fmla="val 1860"/>
            </a:avLst>
          </a:prstGeom>
          <a:solidFill>
            <a:srgbClr val="0E1A2B"/>
          </a:solidFill>
          <a:ln w="12700">
            <a:solidFill>
              <a:srgbClr val="0E1A2B"/>
            </a:solidFill>
            <a:prstDash val="solid"/>
          </a:ln>
        </p:spPr>
      </p:sp>
      <p:sp>
        <p:nvSpPr>
          <p:cNvPr id="10" name="Text 8"/>
          <p:cNvSpPr txBox="1"/>
          <p:nvPr/>
        </p:nvSpPr>
        <p:spPr>
          <a:xfrm>
            <a:off x="7955280" y="1554480"/>
            <a:ext cx="3474720" cy="4023360"/>
          </a:xfrm>
          <a:prstGeom prst="rect">
            <a:avLst/>
          </a:prstGeom>
          <a:noFill/>
          <a:ln/>
        </p:spPr>
        <p:txBody>
          <a:bodyPr wrap="square" lIns="0" tIns="0" rIns="0" bIns="0" rtlCol="0" anchor="t"/>
          <a:lstStyle/>
          <a:p>
            <a:pPr indent="0" marL="0">
              <a:spcAft>
                <a:spcPts val="1000"/>
              </a:spcAft>
              <a:buNone/>
            </a:pPr>
            <a:r>
              <a:rPr lang="en-US" sz="1800" b="1" dirty="0">
                <a:solidFill>
                  <a:srgbClr val="F2A541"/>
                </a:solidFill>
                <a:latin typeface="Calibri" pitchFamily="34" charset="0"/>
                <a:ea typeface="Calibri" pitchFamily="34" charset="-122"/>
                <a:cs typeface="Calibri" pitchFamily="34" charset="-120"/>
              </a:rPr>
              <a:t>How Helios responds</a:t>
            </a:r>
            <a:endParaRPr lang="en-US" sz="1500" dirty="0"/>
          </a:p>
          <a:p>
            <a:pPr marL="342900" indent="-3429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Agents can only request published metrics and dimensions</a:t>
            </a:r>
            <a:endParaRPr lang="en-US" sz="1500" dirty="0"/>
          </a:p>
          <a:p>
            <a:pPr marL="342900" indent="-3429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Invalid requests fail with a classified error, not a guess</a:t>
            </a:r>
            <a:endParaRPr lang="en-US" sz="1500" dirty="0"/>
          </a:p>
          <a:p>
            <a:pPr marL="342900" indent="-3429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Every answer carries its SQL, model revision and answer path</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2600" b="1" dirty="0">
                <a:solidFill>
                  <a:srgbClr val="0E1A2B"/>
                </a:solidFill>
                <a:latin typeface="Cambria" pitchFamily="34" charset="0"/>
                <a:ea typeface="Cambria" pitchFamily="34" charset="-122"/>
                <a:cs typeface="Cambria" pitchFamily="34" charset="-120"/>
              </a:rPr>
              <a:t>Unstructured data: more context isn't the same as more understanding</a:t>
            </a:r>
            <a:endParaRPr lang="en-US" sz="2600" dirty="0"/>
          </a:p>
        </p:txBody>
      </p:sp>
      <p:sp>
        <p:nvSpPr>
          <p:cNvPr id="3" name="Shape 1"/>
          <p:cNvSpPr/>
          <p:nvPr/>
        </p:nvSpPr>
        <p:spPr>
          <a:xfrm>
            <a:off x="548640" y="1371600"/>
            <a:ext cx="3474720" cy="4023360"/>
          </a:xfrm>
          <a:prstGeom prst="roundRect">
            <a:avLst>
              <a:gd name="adj" fmla="val 2105"/>
            </a:avLst>
          </a:prstGeom>
          <a:solidFill>
            <a:srgbClr val="F4F6F9"/>
          </a:solidFill>
          <a:ln w="12700">
            <a:solidFill>
              <a:srgbClr val="F4F6F9"/>
            </a:solidFill>
            <a:prstDash val="solid"/>
          </a:ln>
        </p:spPr>
      </p:sp>
      <p:sp>
        <p:nvSpPr>
          <p:cNvPr id="4" name="Shape 2"/>
          <p:cNvSpPr/>
          <p:nvPr/>
        </p:nvSpPr>
        <p:spPr>
          <a:xfrm>
            <a:off x="822960" y="1600200"/>
            <a:ext cx="548640" cy="548640"/>
          </a:xfrm>
          <a:prstGeom prst="ellipse">
            <a:avLst/>
          </a:prstGeom>
          <a:solidFill>
            <a:srgbClr val="F2A541"/>
          </a:solidFill>
          <a:ln w="12700">
            <a:solidFill>
              <a:srgbClr val="F2A541"/>
            </a:solidFill>
            <a:prstDash val="solid"/>
          </a:ln>
        </p:spPr>
      </p:sp>
      <p:pic>
        <p:nvPicPr>
          <p:cNvPr id="5" name="Image 0" descr="preencoded.png">    </p:cNvPr>
          <p:cNvPicPr>
            <a:picLocks noChangeAspect="1"/>
          </p:cNvPicPr>
          <p:nvPr/>
        </p:nvPicPr>
        <p:blipFill>
          <a:blip r:embed="rId1"/>
          <a:stretch>
            <a:fillRect/>
          </a:stretch>
        </p:blipFill>
        <p:spPr>
          <a:xfrm>
            <a:off x="954634" y="1731874"/>
            <a:ext cx="285293" cy="285293"/>
          </a:xfrm>
          <a:prstGeom prst="rect">
            <a:avLst/>
          </a:prstGeom>
        </p:spPr>
      </p:pic>
      <p:sp>
        <p:nvSpPr>
          <p:cNvPr id="6" name="Text 3"/>
          <p:cNvSpPr txBox="1"/>
          <p:nvPr/>
        </p:nvSpPr>
        <p:spPr>
          <a:xfrm>
            <a:off x="1508760" y="1600200"/>
            <a:ext cx="2377440" cy="548640"/>
          </a:xfrm>
          <a:prstGeom prst="rect">
            <a:avLst/>
          </a:prstGeom>
          <a:noFill/>
          <a:ln/>
        </p:spPr>
        <p:txBody>
          <a:bodyPr wrap="square" lIns="0" tIns="0" rIns="0" bIns="0" rtlCol="0" anchor="ctr"/>
          <a:lstStyle/>
          <a:p>
            <a:pPr algn="l" indent="0" marL="0">
              <a:spcAft>
                <a:spcPts val="400"/>
              </a:spcAft>
              <a:buNone/>
            </a:pPr>
            <a:r>
              <a:rPr lang="en-US" sz="1800" b="1" dirty="0">
                <a:solidFill>
                  <a:srgbClr val="0E1A2B"/>
                </a:solidFill>
                <a:latin typeface="Calibri" pitchFamily="34" charset="0"/>
                <a:ea typeface="Calibri" pitchFamily="34" charset="-122"/>
                <a:cs typeface="Calibri" pitchFamily="34" charset="-120"/>
              </a:rPr>
              <a:t>Lost in the Middle</a:t>
            </a:r>
            <a:endParaRPr lang="en-US" sz="1800" dirty="0"/>
          </a:p>
        </p:txBody>
      </p:sp>
      <p:sp>
        <p:nvSpPr>
          <p:cNvPr id="7" name="Text 4"/>
          <p:cNvSpPr txBox="1"/>
          <p:nvPr/>
        </p:nvSpPr>
        <p:spPr>
          <a:xfrm>
            <a:off x="822960" y="2377440"/>
            <a:ext cx="2971800" cy="2377440"/>
          </a:xfrm>
          <a:prstGeom prst="rect">
            <a:avLst/>
          </a:prstGeom>
          <a:noFill/>
          <a:ln/>
        </p:spPr>
        <p:txBody>
          <a:bodyPr wrap="square" lIns="0" tIns="0" rIns="0" bIns="0" rtlCol="0" anchor="t"/>
          <a:lstStyle/>
          <a:p>
            <a:pPr algn="l" indent="0" marL="0">
              <a:spcAft>
                <a:spcPts val="400"/>
              </a:spcAft>
              <a:buNone/>
            </a:pPr>
            <a:r>
              <a:rPr lang="en-US" sz="1400" dirty="0">
                <a:solidFill>
                  <a:srgbClr val="1F2937"/>
                </a:solidFill>
                <a:latin typeface="Calibri" pitchFamily="34" charset="0"/>
                <a:ea typeface="Calibri" pitchFamily="34" charset="-122"/>
                <a:cs typeface="Calibri" pitchFamily="34" charset="-120"/>
              </a:rPr>
              <a:t>With the answer in the middle of 20–30 documents, GPT-3.5-Turbo scored below its no-documents baseline (56.1%). Given only the right passage: 88.3%.</a:t>
            </a:r>
            <a:endParaRPr lang="en-US" sz="1400" dirty="0"/>
          </a:p>
        </p:txBody>
      </p:sp>
      <p:sp>
        <p:nvSpPr>
          <p:cNvPr id="8" name="Text 5"/>
          <p:cNvSpPr txBox="1"/>
          <p:nvPr/>
        </p:nvSpPr>
        <p:spPr>
          <a:xfrm>
            <a:off x="822960" y="4892040"/>
            <a:ext cx="2971800" cy="365760"/>
          </a:xfrm>
          <a:prstGeom prst="rect">
            <a:avLst/>
          </a:prstGeom>
          <a:noFill/>
          <a:ln/>
        </p:spPr>
        <p:txBody>
          <a:bodyPr wrap="square" lIns="0" tIns="0" rIns="0" bIns="0" rtlCol="0" anchor="t"/>
          <a:lstStyle/>
          <a:p>
            <a:pPr algn="l" indent="0" marL="0">
              <a:spcAft>
                <a:spcPts val="400"/>
              </a:spcAft>
              <a:buNone/>
            </a:pPr>
            <a:r>
              <a:rPr lang="en-US" sz="1100" i="1" dirty="0">
                <a:solidFill>
                  <a:srgbClr val="5B6472"/>
                </a:solidFill>
                <a:latin typeface="Calibri" pitchFamily="34" charset="0"/>
                <a:ea typeface="Calibri" pitchFamily="34" charset="-122"/>
                <a:cs typeface="Calibri" pitchFamily="34" charset="-120"/>
              </a:rPr>
              <a:t>Liu et al., TACL 2024</a:t>
            </a:r>
            <a:endParaRPr lang="en-US" sz="1100" dirty="0"/>
          </a:p>
        </p:txBody>
      </p:sp>
      <p:sp>
        <p:nvSpPr>
          <p:cNvPr id="9" name="Shape 6"/>
          <p:cNvSpPr/>
          <p:nvPr/>
        </p:nvSpPr>
        <p:spPr>
          <a:xfrm>
            <a:off x="4297680" y="1371600"/>
            <a:ext cx="3474720" cy="4023360"/>
          </a:xfrm>
          <a:prstGeom prst="roundRect">
            <a:avLst>
              <a:gd name="adj" fmla="val 2105"/>
            </a:avLst>
          </a:prstGeom>
          <a:solidFill>
            <a:srgbClr val="F4F6F9"/>
          </a:solidFill>
          <a:ln w="12700">
            <a:solidFill>
              <a:srgbClr val="F4F6F9"/>
            </a:solidFill>
            <a:prstDash val="solid"/>
          </a:ln>
        </p:spPr>
      </p:sp>
      <p:sp>
        <p:nvSpPr>
          <p:cNvPr id="10" name="Shape 7"/>
          <p:cNvSpPr/>
          <p:nvPr/>
        </p:nvSpPr>
        <p:spPr>
          <a:xfrm>
            <a:off x="4572000" y="1600200"/>
            <a:ext cx="548640" cy="548640"/>
          </a:xfrm>
          <a:prstGeom prst="ellipse">
            <a:avLst/>
          </a:prstGeom>
          <a:solidFill>
            <a:srgbClr val="F2A541"/>
          </a:solidFill>
          <a:ln w="12700">
            <a:solidFill>
              <a:srgbClr val="F2A541"/>
            </a:solidFill>
            <a:prstDash val="solid"/>
          </a:ln>
        </p:spPr>
      </p:sp>
      <p:pic>
        <p:nvPicPr>
          <p:cNvPr id="11" name="Image 1" descr="preencoded.png">    </p:cNvPr>
          <p:cNvPicPr>
            <a:picLocks noChangeAspect="1"/>
          </p:cNvPicPr>
          <p:nvPr/>
        </p:nvPicPr>
        <p:blipFill>
          <a:blip r:embed="rId2"/>
          <a:stretch>
            <a:fillRect/>
          </a:stretch>
        </p:blipFill>
        <p:spPr>
          <a:xfrm>
            <a:off x="4703674" y="1731874"/>
            <a:ext cx="285293" cy="285293"/>
          </a:xfrm>
          <a:prstGeom prst="rect">
            <a:avLst/>
          </a:prstGeom>
        </p:spPr>
      </p:pic>
      <p:sp>
        <p:nvSpPr>
          <p:cNvPr id="12" name="Text 8"/>
          <p:cNvSpPr txBox="1"/>
          <p:nvPr/>
        </p:nvSpPr>
        <p:spPr>
          <a:xfrm>
            <a:off x="5257800" y="1600200"/>
            <a:ext cx="2377440" cy="548640"/>
          </a:xfrm>
          <a:prstGeom prst="rect">
            <a:avLst/>
          </a:prstGeom>
          <a:noFill/>
          <a:ln/>
        </p:spPr>
        <p:txBody>
          <a:bodyPr wrap="square" lIns="0" tIns="0" rIns="0" bIns="0" rtlCol="0" anchor="ctr"/>
          <a:lstStyle/>
          <a:p>
            <a:pPr algn="l" indent="0" marL="0">
              <a:spcAft>
                <a:spcPts val="400"/>
              </a:spcAft>
              <a:buNone/>
            </a:pPr>
            <a:r>
              <a:rPr lang="en-US" sz="1800" b="1" dirty="0">
                <a:solidFill>
                  <a:srgbClr val="0E1A2B"/>
                </a:solidFill>
                <a:latin typeface="Calibri" pitchFamily="34" charset="0"/>
                <a:ea typeface="Calibri" pitchFamily="34" charset="-122"/>
                <a:cs typeface="Calibri" pitchFamily="34" charset="-120"/>
              </a:rPr>
              <a:t>NoLiMa</a:t>
            </a:r>
            <a:endParaRPr lang="en-US" sz="1800" dirty="0"/>
          </a:p>
        </p:txBody>
      </p:sp>
      <p:sp>
        <p:nvSpPr>
          <p:cNvPr id="13" name="Text 9"/>
          <p:cNvSpPr txBox="1"/>
          <p:nvPr/>
        </p:nvSpPr>
        <p:spPr>
          <a:xfrm>
            <a:off x="4572000" y="2377440"/>
            <a:ext cx="2971800" cy="2377440"/>
          </a:xfrm>
          <a:prstGeom prst="rect">
            <a:avLst/>
          </a:prstGeom>
          <a:noFill/>
          <a:ln/>
        </p:spPr>
        <p:txBody>
          <a:bodyPr wrap="square" lIns="0" tIns="0" rIns="0" bIns="0" rtlCol="0" anchor="t"/>
          <a:lstStyle/>
          <a:p>
            <a:pPr algn="l" indent="0" marL="0">
              <a:spcAft>
                <a:spcPts val="400"/>
              </a:spcAft>
              <a:buNone/>
            </a:pPr>
            <a:r>
              <a:rPr lang="en-US" sz="1400" dirty="0">
                <a:solidFill>
                  <a:srgbClr val="1F2937"/>
                </a:solidFill>
                <a:latin typeface="Calibri" pitchFamily="34" charset="0"/>
                <a:ea typeface="Calibri" pitchFamily="34" charset="-122"/>
                <a:cs typeface="Calibri" pitchFamily="34" charset="-120"/>
              </a:rPr>
              <a:t>When the question doesn't literally match the text, GPT-4o drops from 99.3% to 69.7% at 32K tokens. 11 of 13 models fall below half their short-context score.</a:t>
            </a:r>
            <a:endParaRPr lang="en-US" sz="1400" dirty="0"/>
          </a:p>
        </p:txBody>
      </p:sp>
      <p:sp>
        <p:nvSpPr>
          <p:cNvPr id="14" name="Text 10"/>
          <p:cNvSpPr txBox="1"/>
          <p:nvPr/>
        </p:nvSpPr>
        <p:spPr>
          <a:xfrm>
            <a:off x="4572000" y="4892040"/>
            <a:ext cx="2971800" cy="365760"/>
          </a:xfrm>
          <a:prstGeom prst="rect">
            <a:avLst/>
          </a:prstGeom>
          <a:noFill/>
          <a:ln/>
        </p:spPr>
        <p:txBody>
          <a:bodyPr wrap="square" lIns="0" tIns="0" rIns="0" bIns="0" rtlCol="0" anchor="t"/>
          <a:lstStyle/>
          <a:p>
            <a:pPr algn="l" indent="0" marL="0">
              <a:spcAft>
                <a:spcPts val="400"/>
              </a:spcAft>
              <a:buNone/>
            </a:pPr>
            <a:r>
              <a:rPr lang="en-US" sz="1100" i="1" dirty="0">
                <a:solidFill>
                  <a:srgbClr val="5B6472"/>
                </a:solidFill>
                <a:latin typeface="Calibri" pitchFamily="34" charset="0"/>
                <a:ea typeface="Calibri" pitchFamily="34" charset="-122"/>
                <a:cs typeface="Calibri" pitchFamily="34" charset="-120"/>
              </a:rPr>
              <a:t>Modarressi et al., ICML 2025</a:t>
            </a:r>
            <a:endParaRPr lang="en-US" sz="1100" dirty="0"/>
          </a:p>
        </p:txBody>
      </p:sp>
      <p:sp>
        <p:nvSpPr>
          <p:cNvPr id="15" name="Shape 11"/>
          <p:cNvSpPr/>
          <p:nvPr/>
        </p:nvSpPr>
        <p:spPr>
          <a:xfrm>
            <a:off x="8046720" y="1371600"/>
            <a:ext cx="3474720" cy="4023360"/>
          </a:xfrm>
          <a:prstGeom prst="roundRect">
            <a:avLst>
              <a:gd name="adj" fmla="val 2105"/>
            </a:avLst>
          </a:prstGeom>
          <a:solidFill>
            <a:srgbClr val="F4F6F9"/>
          </a:solidFill>
          <a:ln w="12700">
            <a:solidFill>
              <a:srgbClr val="F4F6F9"/>
            </a:solidFill>
            <a:prstDash val="solid"/>
          </a:ln>
        </p:spPr>
      </p:sp>
      <p:sp>
        <p:nvSpPr>
          <p:cNvPr id="16" name="Shape 12"/>
          <p:cNvSpPr/>
          <p:nvPr/>
        </p:nvSpPr>
        <p:spPr>
          <a:xfrm>
            <a:off x="8321040" y="1600200"/>
            <a:ext cx="548640" cy="548640"/>
          </a:xfrm>
          <a:prstGeom prst="ellipse">
            <a:avLst/>
          </a:prstGeom>
          <a:solidFill>
            <a:srgbClr val="F2A541"/>
          </a:solidFill>
          <a:ln w="12700">
            <a:solidFill>
              <a:srgbClr val="F2A541"/>
            </a:solidFill>
            <a:prstDash val="solid"/>
          </a:ln>
        </p:spPr>
      </p:sp>
      <p:pic>
        <p:nvPicPr>
          <p:cNvPr id="17" name="Image 2" descr="preencoded.png">    </p:cNvPr>
          <p:cNvPicPr>
            <a:picLocks noChangeAspect="1"/>
          </p:cNvPicPr>
          <p:nvPr/>
        </p:nvPicPr>
        <p:blipFill>
          <a:blip r:embed="rId3"/>
          <a:stretch>
            <a:fillRect/>
          </a:stretch>
        </p:blipFill>
        <p:spPr>
          <a:xfrm>
            <a:off x="8452714" y="1731874"/>
            <a:ext cx="285293" cy="285293"/>
          </a:xfrm>
          <a:prstGeom prst="rect">
            <a:avLst/>
          </a:prstGeom>
        </p:spPr>
      </p:pic>
      <p:sp>
        <p:nvSpPr>
          <p:cNvPr id="18" name="Text 13"/>
          <p:cNvSpPr txBox="1"/>
          <p:nvPr/>
        </p:nvSpPr>
        <p:spPr>
          <a:xfrm>
            <a:off x="9006840" y="1600200"/>
            <a:ext cx="2377440" cy="548640"/>
          </a:xfrm>
          <a:prstGeom prst="rect">
            <a:avLst/>
          </a:prstGeom>
          <a:noFill/>
          <a:ln/>
        </p:spPr>
        <p:txBody>
          <a:bodyPr wrap="square" lIns="0" tIns="0" rIns="0" bIns="0" rtlCol="0" anchor="ctr"/>
          <a:lstStyle/>
          <a:p>
            <a:pPr algn="l" indent="0" marL="0">
              <a:spcAft>
                <a:spcPts val="400"/>
              </a:spcAft>
              <a:buNone/>
            </a:pPr>
            <a:r>
              <a:rPr lang="en-US" sz="1800" b="1" dirty="0">
                <a:solidFill>
                  <a:srgbClr val="0E1A2B"/>
                </a:solidFill>
                <a:latin typeface="Calibri" pitchFamily="34" charset="0"/>
                <a:ea typeface="Calibri" pitchFamily="34" charset="-122"/>
                <a:cs typeface="Calibri" pitchFamily="34" charset="-120"/>
              </a:rPr>
              <a:t>GraphRAG</a:t>
            </a:r>
            <a:endParaRPr lang="en-US" sz="1800" dirty="0"/>
          </a:p>
        </p:txBody>
      </p:sp>
      <p:sp>
        <p:nvSpPr>
          <p:cNvPr id="19" name="Text 14"/>
          <p:cNvSpPr txBox="1"/>
          <p:nvPr/>
        </p:nvSpPr>
        <p:spPr>
          <a:xfrm>
            <a:off x="8321040" y="2377440"/>
            <a:ext cx="2971800" cy="2377440"/>
          </a:xfrm>
          <a:prstGeom prst="rect">
            <a:avLst/>
          </a:prstGeom>
          <a:noFill/>
          <a:ln/>
        </p:spPr>
        <p:txBody>
          <a:bodyPr wrap="square" lIns="0" tIns="0" rIns="0" bIns="0" rtlCol="0" anchor="t"/>
          <a:lstStyle/>
          <a:p>
            <a:pPr algn="l" indent="0" marL="0">
              <a:spcAft>
                <a:spcPts val="400"/>
              </a:spcAft>
              <a:buNone/>
            </a:pPr>
            <a:r>
              <a:rPr lang="en-US" sz="1400" dirty="0">
                <a:solidFill>
                  <a:srgbClr val="1F2937"/>
                </a:solidFill>
                <a:latin typeface="Calibri" pitchFamily="34" charset="0"/>
                <a:ea typeface="Calibri" pitchFamily="34" charset="-122"/>
                <a:cs typeface="Calibri" pitchFamily="34" charset="-120"/>
              </a:rPr>
              <a:t>On whole-corpus questions over ~1M tokens, graph-structured answers beat vector RAG on comprehensiveness 72–83% of the time.</a:t>
            </a:r>
            <a:endParaRPr lang="en-US" sz="1400" dirty="0"/>
          </a:p>
        </p:txBody>
      </p:sp>
      <p:sp>
        <p:nvSpPr>
          <p:cNvPr id="20" name="Text 15"/>
          <p:cNvSpPr txBox="1"/>
          <p:nvPr/>
        </p:nvSpPr>
        <p:spPr>
          <a:xfrm>
            <a:off x="8321040" y="4892040"/>
            <a:ext cx="2971800" cy="365760"/>
          </a:xfrm>
          <a:prstGeom prst="rect">
            <a:avLst/>
          </a:prstGeom>
          <a:noFill/>
          <a:ln/>
        </p:spPr>
        <p:txBody>
          <a:bodyPr wrap="square" lIns="0" tIns="0" rIns="0" bIns="0" rtlCol="0" anchor="t"/>
          <a:lstStyle/>
          <a:p>
            <a:pPr algn="l" indent="0" marL="0">
              <a:spcAft>
                <a:spcPts val="400"/>
              </a:spcAft>
              <a:buNone/>
            </a:pPr>
            <a:r>
              <a:rPr lang="en-US" sz="1100" i="1" dirty="0">
                <a:solidFill>
                  <a:srgbClr val="5B6472"/>
                </a:solidFill>
                <a:latin typeface="Calibri" pitchFamily="34" charset="0"/>
                <a:ea typeface="Calibri" pitchFamily="34" charset="-122"/>
                <a:cs typeface="Calibri" pitchFamily="34" charset="-120"/>
              </a:rPr>
              <a:t>Edge et al., Microsoft Research 2024</a:t>
            </a:r>
            <a:endParaRPr lang="en-US" sz="1100" dirty="0"/>
          </a:p>
        </p:txBody>
      </p:sp>
      <p:sp>
        <p:nvSpPr>
          <p:cNvPr id="21" name="Shape 16"/>
          <p:cNvSpPr/>
          <p:nvPr/>
        </p:nvSpPr>
        <p:spPr>
          <a:xfrm>
            <a:off x="548640" y="5577840"/>
            <a:ext cx="11064240" cy="548640"/>
          </a:xfrm>
          <a:prstGeom prst="roundRect">
            <a:avLst>
              <a:gd name="adj" fmla="val 13333"/>
            </a:avLst>
          </a:prstGeom>
          <a:solidFill>
            <a:srgbClr val="FDF1DE"/>
          </a:solidFill>
          <a:ln w="12700">
            <a:solidFill>
              <a:srgbClr val="FDF1DE"/>
            </a:solidFill>
            <a:prstDash val="solid"/>
          </a:ln>
        </p:spPr>
      </p:sp>
      <p:sp>
        <p:nvSpPr>
          <p:cNvPr id="22" name="Text 17"/>
          <p:cNvSpPr txBox="1"/>
          <p:nvPr/>
        </p:nvSpPr>
        <p:spPr>
          <a:xfrm>
            <a:off x="822960" y="5577840"/>
            <a:ext cx="10515600" cy="548640"/>
          </a:xfrm>
          <a:prstGeom prst="rect">
            <a:avLst/>
          </a:prstGeom>
          <a:noFill/>
          <a:ln/>
        </p:spPr>
        <p:txBody>
          <a:bodyPr wrap="square" lIns="0" tIns="0" rIns="0" bIns="0" rtlCol="0" anchor="ctr"/>
          <a:lstStyle/>
          <a:p>
            <a:pPr algn="l" indent="0" marL="0">
              <a:spcAft>
                <a:spcPts val="400"/>
              </a:spcAft>
              <a:buNone/>
            </a:pPr>
            <a:r>
              <a:rPr lang="en-US" sz="1400" b="1" dirty="0">
                <a:solidFill>
                  <a:srgbClr val="0E1A2B"/>
                </a:solidFill>
                <a:latin typeface="Calibri" pitchFamily="34" charset="0"/>
                <a:ea typeface="Calibri" pitchFamily="34" charset="-122"/>
                <a:cs typeface="Calibri" pitchFamily="34" charset="-120"/>
              </a:rPr>
              <a:t>Implication for Helios-DS and the crawler: index entities, claims and evidence up front, then retrieve precisely, rather than handing a model the whole corpus.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2600" b="1" dirty="0">
                <a:solidFill>
                  <a:srgbClr val="0E1A2B"/>
                </a:solidFill>
                <a:latin typeface="Cambria" pitchFamily="34" charset="0"/>
                <a:ea typeface="Cambria" pitchFamily="34" charset="-122"/>
                <a:cs typeface="Cambria" pitchFamily="34" charset="-120"/>
              </a:rPr>
              <a:t>Even grounded systems hallucinate without verifiable provenance</a:t>
            </a:r>
            <a:endParaRPr lang="en-US" sz="2600" dirty="0"/>
          </a:p>
        </p:txBody>
      </p:sp>
      <p:graphicFrame>
        <p:nvGraphicFramePr>
          <p:cNvPr id="3" name="Chart 0" descr=""/>
          <p:cNvGraphicFramePr/>
          <p:nvPr/>
        </p:nvGraphicFramePr>
        <p:xfrm>
          <a:off x="548640" y="1280160"/>
          <a:ext cx="6949440" cy="43891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280160"/>
            <a:ext cx="3749040" cy="4389120"/>
          </a:xfrm>
          <a:prstGeom prst="roundRect">
            <a:avLst>
              <a:gd name="adj" fmla="val 1951"/>
            </a:avLst>
          </a:prstGeom>
          <a:solidFill>
            <a:srgbClr val="F4F6F9"/>
          </a:solidFill>
          <a:ln w="12700">
            <a:solidFill>
              <a:srgbClr val="F4F6F9"/>
            </a:solidFill>
            <a:prstDash val="solid"/>
          </a:ln>
        </p:spPr>
      </p:sp>
      <p:sp>
        <p:nvSpPr>
          <p:cNvPr id="5" name="Text 2"/>
          <p:cNvSpPr txBox="1"/>
          <p:nvPr/>
        </p:nvSpPr>
        <p:spPr>
          <a:xfrm>
            <a:off x="8138160" y="1463040"/>
            <a:ext cx="3291840" cy="4114800"/>
          </a:xfrm>
          <a:prstGeom prst="rect">
            <a:avLst/>
          </a:prstGeom>
          <a:noFill/>
          <a:ln/>
        </p:spPr>
        <p:txBody>
          <a:bodyPr wrap="square" lIns="0" tIns="0" rIns="0" bIns="0" rtlCol="0" anchor="t"/>
          <a:lstStyle/>
          <a:p>
            <a:pPr indent="0" marL="0">
              <a:buNone/>
            </a:pPr>
            <a:r>
              <a:rPr lang="en-US" sz="1700" b="1" dirty="0">
                <a:solidFill>
                  <a:srgbClr val="0E1A2B"/>
                </a:solidFill>
                <a:latin typeface="Calibri" pitchFamily="34" charset="0"/>
                <a:ea typeface="Calibri" pitchFamily="34" charset="-122"/>
                <a:cs typeface="Calibri" pitchFamily="34" charset="-120"/>
              </a:rPr>
              <a:t>Marketed as "hallucination-free"</a:t>
            </a:r>
            <a:endParaRPr lang="en-US" sz="1700" dirty="0"/>
          </a:p>
          <a:p>
            <a:pPr indent="0" marL="0">
              <a:buNone/>
            </a:pPr>
            <a:r>
              <a:rPr lang="en-US" sz="1400" dirty="0">
                <a:solidFill>
                  <a:srgbClr val="1F2937"/>
                </a:solidFill>
                <a:latin typeface="Calibri" pitchFamily="34" charset="0"/>
                <a:ea typeface="Calibri" pitchFamily="34" charset="-122"/>
                <a:cs typeface="Calibri" pitchFamily="34" charset="-120"/>
              </a:rPr>
              <a:t>Retrieval-grounded legal tools still fabricated in 1 of 6 to 1 of 3 answers.</a:t>
            </a:r>
            <a:endParaRPr lang="en-US" sz="1700" dirty="0"/>
          </a:p>
          <a:p>
            <a:pPr indent="0" marL="0">
              <a:buNone/>
            </a:pPr>
            <a:r>
              <a:rPr lang="en-US" sz="800" dirty="0">
                <a:solidFill>
                  <a:srgbClr val="1F2937"/>
                </a:solidFill>
                <a:latin typeface="Calibri" pitchFamily="34" charset="0"/>
                <a:ea typeface="Calibri" pitchFamily="34" charset="-122"/>
                <a:cs typeface="Calibri" pitchFamily="34" charset="-120"/>
              </a:rPr>
              <a:t> </a:t>
            </a:r>
            <a:endParaRPr lang="en-US" sz="1700" dirty="0"/>
          </a:p>
          <a:p>
            <a:pPr indent="0" marL="0">
              <a:buNone/>
            </a:pPr>
            <a:r>
              <a:rPr lang="en-US" sz="1700" b="1" dirty="0">
                <a:solidFill>
                  <a:srgbClr val="0E1A2B"/>
                </a:solidFill>
                <a:latin typeface="Calibri" pitchFamily="34" charset="0"/>
                <a:ea typeface="Calibri" pitchFamily="34" charset="-122"/>
                <a:cs typeface="Calibri" pitchFamily="34" charset="-120"/>
              </a:rPr>
              <a:t>Lesson</a:t>
            </a:r>
            <a:endParaRPr lang="en-US" sz="1700" dirty="0"/>
          </a:p>
          <a:p>
            <a:pPr indent="0" marL="0">
              <a:buNone/>
            </a:pPr>
            <a:r>
              <a:rPr lang="en-US" sz="1400" dirty="0">
                <a:solidFill>
                  <a:srgbClr val="1F2937"/>
                </a:solidFill>
                <a:latin typeface="Calibri" pitchFamily="34" charset="0"/>
                <a:ea typeface="Calibri" pitchFamily="34" charset="-122"/>
                <a:cs typeface="Calibri" pitchFamily="34" charset="-120"/>
              </a:rPr>
              <a:t>Retrieval reduces hallucination but doesn't remove it. Answers need citations a person can check, which is why Helios-DS measures citation accuracy against known evidence.</a:t>
            </a:r>
            <a:endParaRPr lang="en-US" sz="1700" dirty="0"/>
          </a:p>
        </p:txBody>
      </p:sp>
      <p:sp>
        <p:nvSpPr>
          <p:cNvPr id="6" name="Text 3"/>
          <p:cNvSpPr txBox="1"/>
          <p:nvPr/>
        </p:nvSpPr>
        <p:spPr>
          <a:xfrm>
            <a:off x="548640" y="6291072"/>
            <a:ext cx="11094415" cy="411480"/>
          </a:xfrm>
          <a:prstGeom prst="rect">
            <a:avLst/>
          </a:prstGeom>
          <a:noFill/>
          <a:ln/>
        </p:spPr>
        <p:txBody>
          <a:bodyPr wrap="square" lIns="0" tIns="0" rIns="0" bIns="0" rtlCol="0" anchor="b"/>
          <a:lstStyle/>
          <a:p>
            <a:pPr indent="0" marL="0">
              <a:buNone/>
            </a:pPr>
            <a:r>
              <a:rPr lang="en-US" sz="950" i="1" dirty="0">
                <a:solidFill>
                  <a:srgbClr val="5B6472"/>
                </a:solidFill>
                <a:latin typeface="Calibri" pitchFamily="34" charset="0"/>
                <a:ea typeface="Calibri" pitchFamily="34" charset="-122"/>
                <a:cs typeface="Calibri" pitchFamily="34" charset="-120"/>
              </a:rPr>
              <a:t>Magesh, Surani, Dahl, Suzgun, Manning, Ho (Stanford/Yale), "Hallucination-Free?", arXiv 2405.20362, 2024. Preregistered, 200+ queries.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2600" b="1" dirty="0">
                <a:solidFill>
                  <a:srgbClr val="0E1A2B"/>
                </a:solidFill>
                <a:latin typeface="Cambria" pitchFamily="34" charset="0"/>
                <a:ea typeface="Cambria" pitchFamily="34" charset="-122"/>
                <a:cs typeface="Cambria" pitchFamily="34" charset="-120"/>
              </a:rPr>
              <a:t>Give the model precise tools, and reliability changes dramatically</a:t>
            </a:r>
            <a:endParaRPr lang="en-US" sz="2600" dirty="0"/>
          </a:p>
        </p:txBody>
      </p:sp>
      <p:sp>
        <p:nvSpPr>
          <p:cNvPr id="3" name="Text 1"/>
          <p:cNvSpPr txBox="1"/>
          <p:nvPr/>
        </p:nvSpPr>
        <p:spPr>
          <a:xfrm>
            <a:off x="548640" y="1463040"/>
            <a:ext cx="3474720" cy="914400"/>
          </a:xfrm>
          <a:prstGeom prst="rect">
            <a:avLst/>
          </a:prstGeom>
          <a:noFill/>
          <a:ln/>
        </p:spPr>
        <p:txBody>
          <a:bodyPr wrap="square" lIns="0" tIns="0" rIns="0" bIns="0" rtlCol="0" anchor="ctr"/>
          <a:lstStyle/>
          <a:p>
            <a:pPr algn="l" indent="0" marL="0">
              <a:buNone/>
            </a:pPr>
            <a:r>
              <a:rPr lang="en-US" sz="5400" b="1" dirty="0">
                <a:solidFill>
                  <a:srgbClr val="0E1A2B"/>
                </a:solidFill>
                <a:latin typeface="Cambria" pitchFamily="34" charset="0"/>
                <a:ea typeface="Cambria" pitchFamily="34" charset="-122"/>
                <a:cs typeface="Cambria" pitchFamily="34" charset="-120"/>
              </a:rPr>
              <a:t>19.8%</a:t>
            </a:r>
            <a:endParaRPr lang="en-US" sz="5400" dirty="0"/>
          </a:p>
        </p:txBody>
      </p:sp>
      <p:sp>
        <p:nvSpPr>
          <p:cNvPr id="4" name="Text 2"/>
          <p:cNvSpPr txBox="1"/>
          <p:nvPr/>
        </p:nvSpPr>
        <p:spPr>
          <a:xfrm>
            <a:off x="548640" y="2377440"/>
            <a:ext cx="3474720" cy="548640"/>
          </a:xfrm>
          <a:prstGeom prst="rect">
            <a:avLst/>
          </a:prstGeom>
          <a:noFill/>
          <a:ln/>
        </p:spPr>
        <p:txBody>
          <a:bodyPr wrap="square" lIns="0" tIns="0" rIns="0" bIns="0" rtlCol="0" anchor="ctr"/>
          <a:lstStyle/>
          <a:p>
            <a:pPr algn="l" indent="0" marL="0">
              <a:buNone/>
            </a:pPr>
            <a:r>
              <a:rPr lang="en-US" sz="1300" dirty="0">
                <a:solidFill>
                  <a:srgbClr val="5B6472"/>
                </a:solidFill>
                <a:latin typeface="Calibri" pitchFamily="34" charset="0"/>
                <a:ea typeface="Calibri" pitchFamily="34" charset="-122"/>
                <a:cs typeface="Calibri" pitchFamily="34" charset="-120"/>
              </a:rPr>
              <a:t>GPT-4 accuracy calling HuggingFace APIs zero-shot</a:t>
            </a:r>
            <a:endParaRPr lang="en-US" sz="1300" dirty="0"/>
          </a:p>
        </p:txBody>
      </p:sp>
      <p:sp>
        <p:nvSpPr>
          <p:cNvPr id="5" name="Text 3"/>
          <p:cNvSpPr txBox="1"/>
          <p:nvPr/>
        </p:nvSpPr>
        <p:spPr>
          <a:xfrm>
            <a:off x="4206240" y="1463040"/>
            <a:ext cx="3474720" cy="914400"/>
          </a:xfrm>
          <a:prstGeom prst="rect">
            <a:avLst/>
          </a:prstGeom>
          <a:noFill/>
          <a:ln/>
        </p:spPr>
        <p:txBody>
          <a:bodyPr wrap="square" lIns="0" tIns="0" rIns="0" bIns="0" rtlCol="0" anchor="ctr"/>
          <a:lstStyle/>
          <a:p>
            <a:pPr algn="l" indent="0" marL="0">
              <a:buNone/>
            </a:pPr>
            <a:r>
              <a:rPr lang="en-US" sz="5400" b="1" dirty="0">
                <a:solidFill>
                  <a:srgbClr val="E4572E"/>
                </a:solidFill>
                <a:latin typeface="Cambria" pitchFamily="34" charset="0"/>
                <a:ea typeface="Cambria" pitchFamily="34" charset="-122"/>
                <a:cs typeface="Cambria" pitchFamily="34" charset="-120"/>
              </a:rPr>
              <a:t>37.2%</a:t>
            </a:r>
            <a:endParaRPr lang="en-US" sz="5400" dirty="0"/>
          </a:p>
        </p:txBody>
      </p:sp>
      <p:sp>
        <p:nvSpPr>
          <p:cNvPr id="6" name="Text 4"/>
          <p:cNvSpPr txBox="1"/>
          <p:nvPr/>
        </p:nvSpPr>
        <p:spPr>
          <a:xfrm>
            <a:off x="4206240" y="2377440"/>
            <a:ext cx="3474720" cy="548640"/>
          </a:xfrm>
          <a:prstGeom prst="rect">
            <a:avLst/>
          </a:prstGeom>
          <a:noFill/>
          <a:ln/>
        </p:spPr>
        <p:txBody>
          <a:bodyPr wrap="square" lIns="0" tIns="0" rIns="0" bIns="0" rtlCol="0" anchor="ctr"/>
          <a:lstStyle/>
          <a:p>
            <a:pPr algn="l" indent="0" marL="0">
              <a:buNone/>
            </a:pPr>
            <a:r>
              <a:rPr lang="en-US" sz="1300" dirty="0">
                <a:solidFill>
                  <a:srgbClr val="5B6472"/>
                </a:solidFill>
                <a:latin typeface="Calibri" pitchFamily="34" charset="0"/>
                <a:ea typeface="Calibri" pitchFamily="34" charset="-122"/>
                <a:cs typeface="Calibri" pitchFamily="34" charset="-120"/>
              </a:rPr>
              <a:t>of its calls were hallucinated APIs</a:t>
            </a:r>
            <a:endParaRPr lang="en-US" sz="1300" dirty="0"/>
          </a:p>
        </p:txBody>
      </p:sp>
      <p:sp>
        <p:nvSpPr>
          <p:cNvPr id="7" name="Text 5"/>
          <p:cNvSpPr txBox="1"/>
          <p:nvPr/>
        </p:nvSpPr>
        <p:spPr>
          <a:xfrm>
            <a:off x="7863840" y="1463040"/>
            <a:ext cx="3474720" cy="914400"/>
          </a:xfrm>
          <a:prstGeom prst="rect">
            <a:avLst/>
          </a:prstGeom>
          <a:noFill/>
          <a:ln/>
        </p:spPr>
        <p:txBody>
          <a:bodyPr wrap="square" lIns="0" tIns="0" rIns="0" bIns="0" rtlCol="0" anchor="ctr"/>
          <a:lstStyle/>
          <a:p>
            <a:pPr algn="l" indent="0" marL="0">
              <a:buNone/>
            </a:pPr>
            <a:r>
              <a:rPr lang="en-US" sz="5400" b="1" dirty="0">
                <a:solidFill>
                  <a:srgbClr val="2E8B57"/>
                </a:solidFill>
                <a:latin typeface="Cambria" pitchFamily="34" charset="0"/>
                <a:ea typeface="Cambria" pitchFamily="34" charset="-122"/>
                <a:cs typeface="Cambria" pitchFamily="34" charset="-120"/>
              </a:rPr>
              <a:t>85.1%</a:t>
            </a:r>
            <a:endParaRPr lang="en-US" sz="5400" dirty="0"/>
          </a:p>
        </p:txBody>
      </p:sp>
      <p:sp>
        <p:nvSpPr>
          <p:cNvPr id="8" name="Text 6"/>
          <p:cNvSpPr txBox="1"/>
          <p:nvPr/>
        </p:nvSpPr>
        <p:spPr>
          <a:xfrm>
            <a:off x="7863840" y="2377440"/>
            <a:ext cx="3474720" cy="548640"/>
          </a:xfrm>
          <a:prstGeom prst="rect">
            <a:avLst/>
          </a:prstGeom>
          <a:noFill/>
          <a:ln/>
        </p:spPr>
        <p:txBody>
          <a:bodyPr wrap="square" lIns="0" tIns="0" rIns="0" bIns="0" rtlCol="0" anchor="ctr"/>
          <a:lstStyle/>
          <a:p>
            <a:pPr algn="l" indent="0" marL="0">
              <a:buNone/>
            </a:pPr>
            <a:r>
              <a:rPr lang="en-US" sz="1300" dirty="0">
                <a:solidFill>
                  <a:srgbClr val="5B6472"/>
                </a:solidFill>
                <a:latin typeface="Calibri" pitchFamily="34" charset="0"/>
                <a:ea typeface="Calibri" pitchFamily="34" charset="-122"/>
                <a:cs typeface="Calibri" pitchFamily="34" charset="-120"/>
              </a:rPr>
              <a:t>accuracy when given the correct API documentation</a:t>
            </a:r>
            <a:endParaRPr lang="en-US" sz="1300" dirty="0"/>
          </a:p>
        </p:txBody>
      </p:sp>
      <p:sp>
        <p:nvSpPr>
          <p:cNvPr id="9" name="Text 7"/>
          <p:cNvSpPr txBox="1"/>
          <p:nvPr/>
        </p:nvSpPr>
        <p:spPr>
          <a:xfrm>
            <a:off x="548640" y="3063240"/>
            <a:ext cx="11064240" cy="365760"/>
          </a:xfrm>
          <a:prstGeom prst="rect">
            <a:avLst/>
          </a:prstGeom>
          <a:noFill/>
          <a:ln/>
        </p:spPr>
        <p:txBody>
          <a:bodyPr wrap="square" lIns="0" tIns="0" rIns="0" bIns="0" rtlCol="0" anchor="t"/>
          <a:lstStyle/>
          <a:p>
            <a:pPr algn="l" indent="0" marL="0">
              <a:spcAft>
                <a:spcPts val="400"/>
              </a:spcAft>
              <a:buNone/>
            </a:pPr>
            <a:r>
              <a:rPr lang="en-US" sz="1200" i="1" dirty="0">
                <a:solidFill>
                  <a:srgbClr val="5B6472"/>
                </a:solidFill>
                <a:latin typeface="Calibri" pitchFamily="34" charset="0"/>
                <a:ea typeface="Calibri" pitchFamily="34" charset="-122"/>
                <a:cs typeface="Calibri" pitchFamily="34" charset="-120"/>
              </a:rPr>
              <a:t>Gorilla, Patil et al. (UC Berkeley), NeurIPS 2024. A poor retriever hurt: the wrong docs cost 29–52%.</a:t>
            </a:r>
            <a:endParaRPr lang="en-US" sz="1200" dirty="0"/>
          </a:p>
        </p:txBody>
      </p:sp>
      <p:sp>
        <p:nvSpPr>
          <p:cNvPr id="10" name="Shape 8"/>
          <p:cNvSpPr/>
          <p:nvPr/>
        </p:nvSpPr>
        <p:spPr>
          <a:xfrm>
            <a:off x="548640" y="3657600"/>
            <a:ext cx="5394960" cy="2194560"/>
          </a:xfrm>
          <a:prstGeom prst="roundRect">
            <a:avLst>
              <a:gd name="adj" fmla="val 3333"/>
            </a:avLst>
          </a:prstGeom>
          <a:solidFill>
            <a:srgbClr val="F4F6F9"/>
          </a:solidFill>
          <a:ln w="12700">
            <a:solidFill>
              <a:srgbClr val="F4F6F9"/>
            </a:solidFill>
            <a:prstDash val="solid"/>
          </a:ln>
        </p:spPr>
      </p:sp>
      <p:sp>
        <p:nvSpPr>
          <p:cNvPr id="11" name="Shape 9"/>
          <p:cNvSpPr/>
          <p:nvPr/>
        </p:nvSpPr>
        <p:spPr>
          <a:xfrm>
            <a:off x="777240" y="3886200"/>
            <a:ext cx="502920" cy="502920"/>
          </a:xfrm>
          <a:prstGeom prst="ellipse">
            <a:avLst/>
          </a:prstGeom>
          <a:solidFill>
            <a:srgbClr val="F2A541"/>
          </a:solidFill>
          <a:ln w="12700">
            <a:solidFill>
              <a:srgbClr val="F2A541"/>
            </a:solidFill>
            <a:prstDash val="solid"/>
          </a:ln>
        </p:spPr>
      </p:sp>
      <p:pic>
        <p:nvPicPr>
          <p:cNvPr id="12" name="Image 0" descr="preencoded.png">    </p:cNvPr>
          <p:cNvPicPr>
            <a:picLocks noChangeAspect="1"/>
          </p:cNvPicPr>
          <p:nvPr/>
        </p:nvPicPr>
        <p:blipFill>
          <a:blip r:embed="rId1"/>
          <a:stretch>
            <a:fillRect/>
          </a:stretch>
        </p:blipFill>
        <p:spPr>
          <a:xfrm>
            <a:off x="897941" y="4006901"/>
            <a:ext cx="261518" cy="261518"/>
          </a:xfrm>
          <a:prstGeom prst="rect">
            <a:avLst/>
          </a:prstGeom>
        </p:spPr>
      </p:pic>
      <p:sp>
        <p:nvSpPr>
          <p:cNvPr id="13" name="Text 10"/>
          <p:cNvSpPr txBox="1"/>
          <p:nvPr/>
        </p:nvSpPr>
        <p:spPr>
          <a:xfrm>
            <a:off x="1417320" y="3858768"/>
            <a:ext cx="434340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Coarse, purpose-built tools</a:t>
            </a:r>
            <a:endParaRPr lang="en-US" sz="1700" dirty="0"/>
          </a:p>
        </p:txBody>
      </p:sp>
      <p:sp>
        <p:nvSpPr>
          <p:cNvPr id="14" name="Text 11"/>
          <p:cNvSpPr txBox="1"/>
          <p:nvPr/>
        </p:nvSpPr>
        <p:spPr>
          <a:xfrm>
            <a:off x="822960" y="4526280"/>
            <a:ext cx="4892040" cy="1188720"/>
          </a:xfrm>
          <a:prstGeom prst="rect">
            <a:avLst/>
          </a:prstGeom>
          <a:noFill/>
          <a:ln/>
        </p:spPr>
        <p:txBody>
          <a:bodyPr wrap="square" lIns="0" tIns="0" rIns="0" bIns="0" rtlCol="0" anchor="t"/>
          <a:lstStyle/>
          <a:p>
            <a:pPr indent="0" marL="0">
              <a:buNone/>
            </a:pPr>
            <a:r>
              <a:rPr lang="en-US" sz="1450" dirty="0">
                <a:solidFill>
                  <a:srgbClr val="1F2937"/>
                </a:solidFill>
                <a:latin typeface="Calibri" pitchFamily="34" charset="0"/>
                <a:ea typeface="Calibri" pitchFamily="34" charset="-122"/>
                <a:cs typeface="Calibri" pitchFamily="34" charset="-120"/>
              </a:rPr>
              <a:t>On chained primitive API calls, the best model got 28% of full sequences right (NESTFUL, IBM). Tools like run_query(metrics, dimensions) avoid long chains.</a:t>
            </a:r>
            <a:endParaRPr lang="en-US" sz="1450" dirty="0"/>
          </a:p>
        </p:txBody>
      </p:sp>
      <p:sp>
        <p:nvSpPr>
          <p:cNvPr id="15" name="Shape 12"/>
          <p:cNvSpPr/>
          <p:nvPr/>
        </p:nvSpPr>
        <p:spPr>
          <a:xfrm>
            <a:off x="6217920" y="3657600"/>
            <a:ext cx="5394960" cy="2194560"/>
          </a:xfrm>
          <a:prstGeom prst="roundRect">
            <a:avLst>
              <a:gd name="adj" fmla="val 3333"/>
            </a:avLst>
          </a:prstGeom>
          <a:solidFill>
            <a:srgbClr val="F4F6F9"/>
          </a:solidFill>
          <a:ln w="12700">
            <a:solidFill>
              <a:srgbClr val="F4F6F9"/>
            </a:solidFill>
            <a:prstDash val="solid"/>
          </a:ln>
        </p:spPr>
      </p:sp>
      <p:sp>
        <p:nvSpPr>
          <p:cNvPr id="16" name="Shape 13"/>
          <p:cNvSpPr/>
          <p:nvPr/>
        </p:nvSpPr>
        <p:spPr>
          <a:xfrm>
            <a:off x="6446520" y="3886200"/>
            <a:ext cx="502920" cy="502920"/>
          </a:xfrm>
          <a:prstGeom prst="ellipse">
            <a:avLst/>
          </a:prstGeom>
          <a:solidFill>
            <a:srgbClr val="F2A541"/>
          </a:solidFill>
          <a:ln w="12700">
            <a:solidFill>
              <a:srgbClr val="F2A541"/>
            </a:solidFill>
            <a:prstDash val="solid"/>
          </a:ln>
        </p:spPr>
      </p:sp>
      <p:pic>
        <p:nvPicPr>
          <p:cNvPr id="17" name="Image 1" descr="preencoded.png">    </p:cNvPr>
          <p:cNvPicPr>
            <a:picLocks noChangeAspect="1"/>
          </p:cNvPicPr>
          <p:nvPr/>
        </p:nvPicPr>
        <p:blipFill>
          <a:blip r:embed="rId2"/>
          <a:stretch>
            <a:fillRect/>
          </a:stretch>
        </p:blipFill>
        <p:spPr>
          <a:xfrm>
            <a:off x="6567221" y="4006901"/>
            <a:ext cx="261518" cy="261518"/>
          </a:xfrm>
          <a:prstGeom prst="rect">
            <a:avLst/>
          </a:prstGeom>
        </p:spPr>
      </p:pic>
      <p:sp>
        <p:nvSpPr>
          <p:cNvPr id="18" name="Text 14"/>
          <p:cNvSpPr txBox="1"/>
          <p:nvPr/>
        </p:nvSpPr>
        <p:spPr>
          <a:xfrm>
            <a:off x="7086600" y="3858768"/>
            <a:ext cx="434340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Act, observe, correct</a:t>
            </a:r>
            <a:endParaRPr lang="en-US" sz="1700" dirty="0"/>
          </a:p>
        </p:txBody>
      </p:sp>
      <p:sp>
        <p:nvSpPr>
          <p:cNvPr id="19" name="Text 15"/>
          <p:cNvSpPr txBox="1"/>
          <p:nvPr/>
        </p:nvSpPr>
        <p:spPr>
          <a:xfrm>
            <a:off x="6492240" y="4526280"/>
            <a:ext cx="4892040" cy="1188720"/>
          </a:xfrm>
          <a:prstGeom prst="rect">
            <a:avLst/>
          </a:prstGeom>
          <a:noFill/>
          <a:ln/>
        </p:spPr>
        <p:txBody>
          <a:bodyPr wrap="square" lIns="0" tIns="0" rIns="0" bIns="0" rtlCol="0" anchor="t"/>
          <a:lstStyle/>
          <a:p>
            <a:pPr indent="0" marL="0">
              <a:buNone/>
            </a:pPr>
            <a:r>
              <a:rPr lang="en-US" sz="1450" dirty="0">
                <a:solidFill>
                  <a:srgbClr val="1F2937"/>
                </a:solidFill>
                <a:latin typeface="Calibri" pitchFamily="34" charset="0"/>
                <a:ea typeface="Calibri" pitchFamily="34" charset="-122"/>
                <a:cs typeface="Calibri" pitchFamily="34" charset="-120"/>
              </a:rPr>
              <a:t>Reasoning interleaved with tool calls (ReAct) cut hallucination vs chain-of-thought; execution feedback helps most on the hardest SQL.</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3200" b="1" dirty="0">
                <a:solidFill>
                  <a:srgbClr val="0E1A2B"/>
                </a:solidFill>
                <a:latin typeface="Cambria" pitchFamily="34" charset="0"/>
                <a:ea typeface="Cambria" pitchFamily="34" charset="-122"/>
                <a:cs typeface="Cambria" pitchFamily="34" charset="-120"/>
              </a:rPr>
              <a:t>Being fair to the other side</a:t>
            </a:r>
            <a:endParaRPr lang="en-US" sz="3200" dirty="0"/>
          </a:p>
        </p:txBody>
      </p:sp>
      <p:sp>
        <p:nvSpPr>
          <p:cNvPr id="3" name="Shape 1"/>
          <p:cNvSpPr/>
          <p:nvPr/>
        </p:nvSpPr>
        <p:spPr>
          <a:xfrm>
            <a:off x="548640" y="1371600"/>
            <a:ext cx="5394960" cy="2103120"/>
          </a:xfrm>
          <a:prstGeom prst="roundRect">
            <a:avLst>
              <a:gd name="adj" fmla="val 3478"/>
            </a:avLst>
          </a:prstGeom>
          <a:solidFill>
            <a:srgbClr val="F4F6F9"/>
          </a:solidFill>
          <a:ln w="12700">
            <a:solidFill>
              <a:srgbClr val="F4F6F9"/>
            </a:solidFill>
            <a:prstDash val="solid"/>
          </a:ln>
        </p:spPr>
      </p:sp>
      <p:sp>
        <p:nvSpPr>
          <p:cNvPr id="4" name="Shape 2"/>
          <p:cNvSpPr/>
          <p:nvPr/>
        </p:nvSpPr>
        <p:spPr>
          <a:xfrm>
            <a:off x="777240" y="1600200"/>
            <a:ext cx="502920" cy="502920"/>
          </a:xfrm>
          <a:prstGeom prst="ellipse">
            <a:avLst/>
          </a:prstGeom>
          <a:solidFill>
            <a:srgbClr val="F2A541"/>
          </a:solidFill>
          <a:ln w="12700">
            <a:solidFill>
              <a:srgbClr val="F2A541"/>
            </a:solidFill>
            <a:prstDash val="solid"/>
          </a:ln>
        </p:spPr>
      </p:sp>
      <p:pic>
        <p:nvPicPr>
          <p:cNvPr id="5" name="Image 0" descr="preencoded.png">    </p:cNvPr>
          <p:cNvPicPr>
            <a:picLocks noChangeAspect="1"/>
          </p:cNvPicPr>
          <p:nvPr/>
        </p:nvPicPr>
        <p:blipFill>
          <a:blip r:embed="rId1"/>
          <a:stretch>
            <a:fillRect/>
          </a:stretch>
        </p:blipFill>
        <p:spPr>
          <a:xfrm>
            <a:off x="897941" y="1720901"/>
            <a:ext cx="261518" cy="261518"/>
          </a:xfrm>
          <a:prstGeom prst="rect">
            <a:avLst/>
          </a:prstGeom>
        </p:spPr>
      </p:pic>
      <p:sp>
        <p:nvSpPr>
          <p:cNvPr id="6" name="Text 3"/>
          <p:cNvSpPr txBox="1"/>
          <p:nvPr/>
        </p:nvSpPr>
        <p:spPr>
          <a:xfrm>
            <a:off x="1417320" y="1572768"/>
            <a:ext cx="434340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Raw text-to-SQL is improving fast</a:t>
            </a:r>
            <a:endParaRPr lang="en-US" sz="1700" dirty="0"/>
          </a:p>
        </p:txBody>
      </p:sp>
      <p:sp>
        <p:nvSpPr>
          <p:cNvPr id="7" name="Text 4"/>
          <p:cNvSpPr txBox="1"/>
          <p:nvPr/>
        </p:nvSpPr>
        <p:spPr>
          <a:xfrm>
            <a:off x="822960" y="2240280"/>
            <a:ext cx="4892040" cy="1097280"/>
          </a:xfrm>
          <a:prstGeom prst="rect">
            <a:avLst/>
          </a:prstGeom>
          <a:noFill/>
          <a:ln/>
        </p:spPr>
        <p:txBody>
          <a:bodyPr wrap="square" lIns="0" tIns="0" rIns="0" bIns="0" rtlCol="0" anchor="t"/>
          <a:lstStyle/>
          <a:p>
            <a:pPr indent="0" marL="0">
              <a:buNone/>
            </a:pPr>
            <a:r>
              <a:rPr lang="en-US" sz="1450" dirty="0">
                <a:solidFill>
                  <a:srgbClr val="1F2937"/>
                </a:solidFill>
                <a:latin typeface="Calibri" pitchFamily="34" charset="0"/>
                <a:ea typeface="Calibri" pitchFamily="34" charset="-122"/>
                <a:cs typeface="Calibri" pitchFamily="34" charset="-120"/>
              </a:rPr>
              <a:t>dbt measured raw-data text-to-SQL rising from 32.7% (2023) to 64.5% (2026). Top BIRD systems now reach ~82%.</a:t>
            </a:r>
            <a:endParaRPr lang="en-US" sz="1450" dirty="0"/>
          </a:p>
        </p:txBody>
      </p:sp>
      <p:sp>
        <p:nvSpPr>
          <p:cNvPr id="8" name="Shape 5"/>
          <p:cNvSpPr/>
          <p:nvPr/>
        </p:nvSpPr>
        <p:spPr>
          <a:xfrm>
            <a:off x="6217920" y="1371600"/>
            <a:ext cx="5394960" cy="2103120"/>
          </a:xfrm>
          <a:prstGeom prst="roundRect">
            <a:avLst>
              <a:gd name="adj" fmla="val 3478"/>
            </a:avLst>
          </a:prstGeom>
          <a:solidFill>
            <a:srgbClr val="F4F6F9"/>
          </a:solidFill>
          <a:ln w="12700">
            <a:solidFill>
              <a:srgbClr val="F4F6F9"/>
            </a:solidFill>
            <a:prstDash val="solid"/>
          </a:ln>
        </p:spPr>
      </p:sp>
      <p:sp>
        <p:nvSpPr>
          <p:cNvPr id="9" name="Shape 6"/>
          <p:cNvSpPr/>
          <p:nvPr/>
        </p:nvSpPr>
        <p:spPr>
          <a:xfrm>
            <a:off x="6446520" y="1600200"/>
            <a:ext cx="502920" cy="502920"/>
          </a:xfrm>
          <a:prstGeom prst="ellipse">
            <a:avLst/>
          </a:prstGeom>
          <a:solidFill>
            <a:srgbClr val="F2A541"/>
          </a:solidFill>
          <a:ln w="12700">
            <a:solidFill>
              <a:srgbClr val="F2A541"/>
            </a:solidFill>
            <a:prstDash val="solid"/>
          </a:ln>
        </p:spPr>
      </p:sp>
      <p:pic>
        <p:nvPicPr>
          <p:cNvPr id="10" name="Image 1" descr="preencoded.png">    </p:cNvPr>
          <p:cNvPicPr>
            <a:picLocks noChangeAspect="1"/>
          </p:cNvPicPr>
          <p:nvPr/>
        </p:nvPicPr>
        <p:blipFill>
          <a:blip r:embed="rId2"/>
          <a:stretch>
            <a:fillRect/>
          </a:stretch>
        </p:blipFill>
        <p:spPr>
          <a:xfrm>
            <a:off x="6567221" y="1720901"/>
            <a:ext cx="261518" cy="261518"/>
          </a:xfrm>
          <a:prstGeom prst="rect">
            <a:avLst/>
          </a:prstGeom>
        </p:spPr>
      </p:pic>
      <p:sp>
        <p:nvSpPr>
          <p:cNvPr id="11" name="Text 7"/>
          <p:cNvSpPr txBox="1"/>
          <p:nvPr/>
        </p:nvSpPr>
        <p:spPr>
          <a:xfrm>
            <a:off x="7086600" y="1572768"/>
            <a:ext cx="434340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But the leaders use context and tools</a:t>
            </a:r>
            <a:endParaRPr lang="en-US" sz="1700" dirty="0"/>
          </a:p>
        </p:txBody>
      </p:sp>
      <p:sp>
        <p:nvSpPr>
          <p:cNvPr id="12" name="Text 8"/>
          <p:cNvSpPr txBox="1"/>
          <p:nvPr/>
        </p:nvSpPr>
        <p:spPr>
          <a:xfrm>
            <a:off x="6492240" y="2240280"/>
            <a:ext cx="4892040" cy="1097280"/>
          </a:xfrm>
          <a:prstGeom prst="rect">
            <a:avLst/>
          </a:prstGeom>
          <a:noFill/>
          <a:ln/>
        </p:spPr>
        <p:txBody>
          <a:bodyPr wrap="square" lIns="0" tIns="0" rIns="0" bIns="0" rtlCol="0" anchor="t"/>
          <a:lstStyle/>
          <a:p>
            <a:pPr indent="0" marL="0">
              <a:buNone/>
            </a:pPr>
            <a:r>
              <a:rPr lang="en-US" sz="1450" dirty="0">
                <a:solidFill>
                  <a:srgbClr val="1F2937"/>
                </a:solidFill>
                <a:latin typeface="Calibri" pitchFamily="34" charset="0"/>
                <a:ea typeface="Calibri" pitchFamily="34" charset="-122"/>
                <a:cs typeface="Calibri" pitchFamily="34" charset="-120"/>
              </a:rPr>
              <a:t>The ~96% Spider 2.0-Snow systems are engineered agents with schema exploration and context layers: the approach Helios takes.</a:t>
            </a:r>
            <a:endParaRPr lang="en-US" sz="1450" dirty="0"/>
          </a:p>
        </p:txBody>
      </p:sp>
      <p:sp>
        <p:nvSpPr>
          <p:cNvPr id="13" name="Shape 9"/>
          <p:cNvSpPr/>
          <p:nvPr/>
        </p:nvSpPr>
        <p:spPr>
          <a:xfrm>
            <a:off x="548640" y="3703320"/>
            <a:ext cx="5394960" cy="2103120"/>
          </a:xfrm>
          <a:prstGeom prst="roundRect">
            <a:avLst>
              <a:gd name="adj" fmla="val 3478"/>
            </a:avLst>
          </a:prstGeom>
          <a:solidFill>
            <a:srgbClr val="F4F6F9"/>
          </a:solidFill>
          <a:ln w="12700">
            <a:solidFill>
              <a:srgbClr val="F4F6F9"/>
            </a:solidFill>
            <a:prstDash val="solid"/>
          </a:ln>
        </p:spPr>
      </p:sp>
      <p:sp>
        <p:nvSpPr>
          <p:cNvPr id="14" name="Shape 10"/>
          <p:cNvSpPr/>
          <p:nvPr/>
        </p:nvSpPr>
        <p:spPr>
          <a:xfrm>
            <a:off x="777240" y="3931920"/>
            <a:ext cx="502920" cy="502920"/>
          </a:xfrm>
          <a:prstGeom prst="ellipse">
            <a:avLst/>
          </a:prstGeom>
          <a:solidFill>
            <a:srgbClr val="F2A541"/>
          </a:solidFill>
          <a:ln w="12700">
            <a:solidFill>
              <a:srgbClr val="F2A541"/>
            </a:solidFill>
            <a:prstDash val="solid"/>
          </a:ln>
        </p:spPr>
      </p:sp>
      <p:pic>
        <p:nvPicPr>
          <p:cNvPr id="15" name="Image 2" descr="preencoded.png">    </p:cNvPr>
          <p:cNvPicPr>
            <a:picLocks noChangeAspect="1"/>
          </p:cNvPicPr>
          <p:nvPr/>
        </p:nvPicPr>
        <p:blipFill>
          <a:blip r:embed="rId3"/>
          <a:stretch>
            <a:fillRect/>
          </a:stretch>
        </p:blipFill>
        <p:spPr>
          <a:xfrm>
            <a:off x="897941" y="4052621"/>
            <a:ext cx="261518" cy="261518"/>
          </a:xfrm>
          <a:prstGeom prst="rect">
            <a:avLst/>
          </a:prstGeom>
        </p:spPr>
      </p:pic>
      <p:sp>
        <p:nvSpPr>
          <p:cNvPr id="16" name="Text 11"/>
          <p:cNvSpPr txBox="1"/>
          <p:nvPr/>
        </p:nvSpPr>
        <p:spPr>
          <a:xfrm>
            <a:off x="1417320" y="3904488"/>
            <a:ext cx="434340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Enterprise scale is still the bottleneck</a:t>
            </a:r>
            <a:endParaRPr lang="en-US" sz="1700" dirty="0"/>
          </a:p>
        </p:txBody>
      </p:sp>
      <p:sp>
        <p:nvSpPr>
          <p:cNvPr id="17" name="Text 12"/>
          <p:cNvSpPr txBox="1"/>
          <p:nvPr/>
        </p:nvSpPr>
        <p:spPr>
          <a:xfrm>
            <a:off x="822960" y="4572000"/>
            <a:ext cx="4892040" cy="1097280"/>
          </a:xfrm>
          <a:prstGeom prst="rect">
            <a:avLst/>
          </a:prstGeom>
          <a:noFill/>
          <a:ln/>
        </p:spPr>
        <p:txBody>
          <a:bodyPr wrap="square" lIns="0" tIns="0" rIns="0" bIns="0" rtlCol="0" anchor="t"/>
          <a:lstStyle/>
          <a:p>
            <a:pPr indent="0" marL="0">
              <a:buNone/>
            </a:pPr>
            <a:r>
              <a:rPr lang="en-US" sz="1450" dirty="0">
                <a:solidFill>
                  <a:srgbClr val="1F2937"/>
                </a:solidFill>
                <a:latin typeface="Calibri" pitchFamily="34" charset="0"/>
                <a:ea typeface="Calibri" pitchFamily="34" charset="-122"/>
                <a:cs typeface="Calibri" pitchFamily="34" charset="-120"/>
              </a:rPr>
              <a:t>BEAVER (2026): about 11% on real private warehouses with current models. Business meaning isn't in the schema.</a:t>
            </a:r>
            <a:endParaRPr lang="en-US" sz="1450" dirty="0"/>
          </a:p>
        </p:txBody>
      </p:sp>
      <p:sp>
        <p:nvSpPr>
          <p:cNvPr id="18" name="Shape 13"/>
          <p:cNvSpPr/>
          <p:nvPr/>
        </p:nvSpPr>
        <p:spPr>
          <a:xfrm>
            <a:off x="6217920" y="3703320"/>
            <a:ext cx="5394960" cy="2103120"/>
          </a:xfrm>
          <a:prstGeom prst="roundRect">
            <a:avLst>
              <a:gd name="adj" fmla="val 3478"/>
            </a:avLst>
          </a:prstGeom>
          <a:solidFill>
            <a:srgbClr val="F4F6F9"/>
          </a:solidFill>
          <a:ln w="12700">
            <a:solidFill>
              <a:srgbClr val="F4F6F9"/>
            </a:solidFill>
            <a:prstDash val="solid"/>
          </a:ln>
        </p:spPr>
      </p:sp>
      <p:sp>
        <p:nvSpPr>
          <p:cNvPr id="19" name="Shape 14"/>
          <p:cNvSpPr/>
          <p:nvPr/>
        </p:nvSpPr>
        <p:spPr>
          <a:xfrm>
            <a:off x="6446520" y="3931920"/>
            <a:ext cx="502920" cy="502920"/>
          </a:xfrm>
          <a:prstGeom prst="ellipse">
            <a:avLst/>
          </a:prstGeom>
          <a:solidFill>
            <a:srgbClr val="F2A541"/>
          </a:solidFill>
          <a:ln w="12700">
            <a:solidFill>
              <a:srgbClr val="F2A541"/>
            </a:solidFill>
            <a:prstDash val="solid"/>
          </a:ln>
        </p:spPr>
      </p:sp>
      <p:pic>
        <p:nvPicPr>
          <p:cNvPr id="20" name="Image 3" descr="preencoded.png">    </p:cNvPr>
          <p:cNvPicPr>
            <a:picLocks noChangeAspect="1"/>
          </p:cNvPicPr>
          <p:nvPr/>
        </p:nvPicPr>
        <p:blipFill>
          <a:blip r:embed="rId4"/>
          <a:stretch>
            <a:fillRect/>
          </a:stretch>
        </p:blipFill>
        <p:spPr>
          <a:xfrm>
            <a:off x="6567221" y="4052621"/>
            <a:ext cx="261518" cy="261518"/>
          </a:xfrm>
          <a:prstGeom prst="rect">
            <a:avLst/>
          </a:prstGeom>
        </p:spPr>
      </p:pic>
      <p:sp>
        <p:nvSpPr>
          <p:cNvPr id="21" name="Text 15"/>
          <p:cNvSpPr txBox="1"/>
          <p:nvPr/>
        </p:nvSpPr>
        <p:spPr>
          <a:xfrm>
            <a:off x="7086600" y="3904488"/>
            <a:ext cx="434340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Accuracy isn't the only goal</a:t>
            </a:r>
            <a:endParaRPr lang="en-US" sz="1700" dirty="0"/>
          </a:p>
        </p:txBody>
      </p:sp>
      <p:sp>
        <p:nvSpPr>
          <p:cNvPr id="22" name="Text 16"/>
          <p:cNvSpPr txBox="1"/>
          <p:nvPr/>
        </p:nvSpPr>
        <p:spPr>
          <a:xfrm>
            <a:off x="6492240" y="4572000"/>
            <a:ext cx="4892040" cy="1097280"/>
          </a:xfrm>
          <a:prstGeom prst="rect">
            <a:avLst/>
          </a:prstGeom>
          <a:noFill/>
          <a:ln/>
        </p:spPr>
        <p:txBody>
          <a:bodyPr wrap="square" lIns="0" tIns="0" rIns="0" bIns="0" rtlCol="0" anchor="t"/>
          <a:lstStyle/>
          <a:p>
            <a:pPr indent="0" marL="0">
              <a:buNone/>
            </a:pPr>
            <a:r>
              <a:rPr lang="en-US" sz="1450" dirty="0">
                <a:solidFill>
                  <a:srgbClr val="1F2937"/>
                </a:solidFill>
                <a:latin typeface="Calibri" pitchFamily="34" charset="0"/>
                <a:ea typeface="Calibri" pitchFamily="34" charset="-122"/>
                <a:cs typeface="Calibri" pitchFamily="34" charset="-120"/>
              </a:rPr>
              <a:t>Governance, determinism, explicit failures and auditability matter as much in production as a few points of accuracy.</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3200" b="1" dirty="0">
                <a:solidFill>
                  <a:srgbClr val="0E1A2B"/>
                </a:solidFill>
                <a:latin typeface="Cambria" pitchFamily="34" charset="0"/>
                <a:ea typeface="Cambria" pitchFamily="34" charset="-122"/>
                <a:cs typeface="Cambria" pitchFamily="34" charset="-120"/>
              </a:rPr>
              <a:t>From evidence to design</a:t>
            </a:r>
            <a:endParaRPr lang="en-US" sz="3200" dirty="0"/>
          </a:p>
        </p:txBody>
      </p:sp>
      <p:sp>
        <p:nvSpPr>
          <p:cNvPr id="3" name="Shape 1"/>
          <p:cNvSpPr/>
          <p:nvPr/>
        </p:nvSpPr>
        <p:spPr>
          <a:xfrm>
            <a:off x="548640" y="1325880"/>
            <a:ext cx="5212080" cy="658368"/>
          </a:xfrm>
          <a:prstGeom prst="roundRect">
            <a:avLst>
              <a:gd name="adj" fmla="val 11111"/>
            </a:avLst>
          </a:prstGeom>
          <a:solidFill>
            <a:srgbClr val="F4F6F9"/>
          </a:solidFill>
          <a:ln w="12700">
            <a:solidFill>
              <a:srgbClr val="F4F6F9"/>
            </a:solidFill>
            <a:prstDash val="solid"/>
          </a:ln>
        </p:spPr>
      </p:sp>
      <p:sp>
        <p:nvSpPr>
          <p:cNvPr id="4" name="Text 2"/>
          <p:cNvSpPr txBox="1"/>
          <p:nvPr/>
        </p:nvSpPr>
        <p:spPr>
          <a:xfrm>
            <a:off x="777240" y="1325880"/>
            <a:ext cx="4846320" cy="658368"/>
          </a:xfrm>
          <a:prstGeom prst="rect">
            <a:avLst/>
          </a:prstGeom>
          <a:noFill/>
          <a:ln/>
        </p:spPr>
        <p:txBody>
          <a:bodyPr wrap="square" lIns="0" tIns="0" rIns="0" bIns="0" rtlCol="0" anchor="ctr"/>
          <a:lstStyle/>
          <a:p>
            <a:pPr algn="l" indent="0" marL="0">
              <a:spcAft>
                <a:spcPts val="400"/>
              </a:spcAft>
              <a:buNone/>
            </a:pPr>
            <a:r>
              <a:rPr lang="en-US" sz="1400" dirty="0">
                <a:solidFill>
                  <a:srgbClr val="1F2937"/>
                </a:solidFill>
                <a:latin typeface="Calibri" pitchFamily="34" charset="0"/>
                <a:ea typeface="Calibri" pitchFamily="34" charset="-122"/>
                <a:cs typeface="Calibri" pitchFamily="34" charset="-120"/>
              </a:rPr>
              <a:t>Business definitions add ~20 pts (BIRD)</a:t>
            </a:r>
            <a:endParaRPr lang="en-US" sz="1400" dirty="0"/>
          </a:p>
        </p:txBody>
      </p:sp>
      <p:sp>
        <p:nvSpPr>
          <p:cNvPr id="5" name="Shape 3"/>
          <p:cNvSpPr/>
          <p:nvPr/>
        </p:nvSpPr>
        <p:spPr>
          <a:xfrm>
            <a:off x="5897880" y="1536192"/>
            <a:ext cx="365760" cy="237744"/>
          </a:xfrm>
          <a:prstGeom prst="rightArrow">
            <a:avLst/>
          </a:prstGeom>
          <a:solidFill>
            <a:srgbClr val="F2A541"/>
          </a:solidFill>
          <a:ln w="12700">
            <a:solidFill>
              <a:srgbClr val="F2A541"/>
            </a:solidFill>
            <a:prstDash val="solid"/>
          </a:ln>
        </p:spPr>
      </p:sp>
      <p:sp>
        <p:nvSpPr>
          <p:cNvPr id="6" name="Shape 4"/>
          <p:cNvSpPr/>
          <p:nvPr/>
        </p:nvSpPr>
        <p:spPr>
          <a:xfrm>
            <a:off x="6400800" y="1325880"/>
            <a:ext cx="5212080" cy="658368"/>
          </a:xfrm>
          <a:prstGeom prst="roundRect">
            <a:avLst>
              <a:gd name="adj" fmla="val 11111"/>
            </a:avLst>
          </a:prstGeom>
          <a:solidFill>
            <a:srgbClr val="0E1A2B"/>
          </a:solidFill>
          <a:ln w="12700">
            <a:solidFill>
              <a:srgbClr val="0E1A2B"/>
            </a:solidFill>
            <a:prstDash val="solid"/>
          </a:ln>
        </p:spPr>
      </p:sp>
      <p:sp>
        <p:nvSpPr>
          <p:cNvPr id="7" name="Text 5"/>
          <p:cNvSpPr txBox="1"/>
          <p:nvPr/>
        </p:nvSpPr>
        <p:spPr>
          <a:xfrm>
            <a:off x="6629400" y="1325880"/>
            <a:ext cx="4846320" cy="658368"/>
          </a:xfrm>
          <a:prstGeom prst="rect">
            <a:avLst/>
          </a:prstGeom>
          <a:noFill/>
          <a:ln/>
        </p:spPr>
        <p:txBody>
          <a:bodyPr wrap="square" lIns="0" tIns="0" rIns="0" bIns="0" rtlCol="0" anchor="ctr"/>
          <a:lstStyle/>
          <a:p>
            <a:pPr algn="l" indent="0" marL="0">
              <a:spcAft>
                <a:spcPts val="400"/>
              </a:spcAft>
              <a:buNone/>
            </a:pPr>
            <a:r>
              <a:rPr lang="en-US" sz="1400" b="1" dirty="0">
                <a:solidFill>
                  <a:srgbClr val="FFFFFF"/>
                </a:solidFill>
                <a:latin typeface="Calibri" pitchFamily="34" charset="0"/>
                <a:ea typeface="Calibri" pitchFamily="34" charset="-122"/>
                <a:cs typeface="Calibri" pitchFamily="34" charset="-120"/>
              </a:rPr>
              <a:t>Atlas glossary + metric definitions in Ossie</a:t>
            </a:r>
            <a:endParaRPr lang="en-US" sz="1400" dirty="0"/>
          </a:p>
        </p:txBody>
      </p:sp>
      <p:sp>
        <p:nvSpPr>
          <p:cNvPr id="8" name="Shape 6"/>
          <p:cNvSpPr/>
          <p:nvPr/>
        </p:nvSpPr>
        <p:spPr>
          <a:xfrm>
            <a:off x="548640" y="2103120"/>
            <a:ext cx="5212080" cy="658368"/>
          </a:xfrm>
          <a:prstGeom prst="roundRect">
            <a:avLst>
              <a:gd name="adj" fmla="val 11111"/>
            </a:avLst>
          </a:prstGeom>
          <a:solidFill>
            <a:srgbClr val="F4F6F9"/>
          </a:solidFill>
          <a:ln w="12700">
            <a:solidFill>
              <a:srgbClr val="F4F6F9"/>
            </a:solidFill>
            <a:prstDash val="solid"/>
          </a:ln>
        </p:spPr>
      </p:sp>
      <p:sp>
        <p:nvSpPr>
          <p:cNvPr id="9" name="Text 7"/>
          <p:cNvSpPr txBox="1"/>
          <p:nvPr/>
        </p:nvSpPr>
        <p:spPr>
          <a:xfrm>
            <a:off x="777240" y="2103120"/>
            <a:ext cx="4846320" cy="658368"/>
          </a:xfrm>
          <a:prstGeom prst="rect">
            <a:avLst/>
          </a:prstGeom>
          <a:noFill/>
          <a:ln/>
        </p:spPr>
        <p:txBody>
          <a:bodyPr wrap="square" lIns="0" tIns="0" rIns="0" bIns="0" rtlCol="0" anchor="ctr"/>
          <a:lstStyle/>
          <a:p>
            <a:pPr algn="l" indent="0" marL="0">
              <a:spcAft>
                <a:spcPts val="400"/>
              </a:spcAft>
              <a:buNone/>
            </a:pPr>
            <a:r>
              <a:rPr lang="en-US" sz="1400" dirty="0">
                <a:solidFill>
                  <a:srgbClr val="1F2937"/>
                </a:solidFill>
                <a:latin typeface="Calibri" pitchFamily="34" charset="0"/>
                <a:ea typeface="Calibri" pitchFamily="34" charset="-122"/>
                <a:cs typeface="Calibri" pitchFamily="34" charset="-120"/>
              </a:rPr>
              <a:t>Schema linking and joins cause the errors (Spider 2.0, BEAVER)</a:t>
            </a:r>
            <a:endParaRPr lang="en-US" sz="1400" dirty="0"/>
          </a:p>
        </p:txBody>
      </p:sp>
      <p:sp>
        <p:nvSpPr>
          <p:cNvPr id="10" name="Shape 8"/>
          <p:cNvSpPr/>
          <p:nvPr/>
        </p:nvSpPr>
        <p:spPr>
          <a:xfrm>
            <a:off x="5897880" y="2313432"/>
            <a:ext cx="365760" cy="237744"/>
          </a:xfrm>
          <a:prstGeom prst="rightArrow">
            <a:avLst/>
          </a:prstGeom>
          <a:solidFill>
            <a:srgbClr val="F2A541"/>
          </a:solidFill>
          <a:ln w="12700">
            <a:solidFill>
              <a:srgbClr val="F2A541"/>
            </a:solidFill>
            <a:prstDash val="solid"/>
          </a:ln>
        </p:spPr>
      </p:sp>
      <p:sp>
        <p:nvSpPr>
          <p:cNvPr id="11" name="Shape 9"/>
          <p:cNvSpPr/>
          <p:nvPr/>
        </p:nvSpPr>
        <p:spPr>
          <a:xfrm>
            <a:off x="6400800" y="2103120"/>
            <a:ext cx="5212080" cy="658368"/>
          </a:xfrm>
          <a:prstGeom prst="roundRect">
            <a:avLst>
              <a:gd name="adj" fmla="val 11111"/>
            </a:avLst>
          </a:prstGeom>
          <a:solidFill>
            <a:srgbClr val="0E1A2B"/>
          </a:solidFill>
          <a:ln w="12700">
            <a:solidFill>
              <a:srgbClr val="0E1A2B"/>
            </a:solidFill>
            <a:prstDash val="solid"/>
          </a:ln>
        </p:spPr>
      </p:sp>
      <p:sp>
        <p:nvSpPr>
          <p:cNvPr id="12" name="Text 10"/>
          <p:cNvSpPr txBox="1"/>
          <p:nvPr/>
        </p:nvSpPr>
        <p:spPr>
          <a:xfrm>
            <a:off x="6629400" y="2103120"/>
            <a:ext cx="4846320" cy="658368"/>
          </a:xfrm>
          <a:prstGeom prst="rect">
            <a:avLst/>
          </a:prstGeom>
          <a:noFill/>
          <a:ln/>
        </p:spPr>
        <p:txBody>
          <a:bodyPr wrap="square" lIns="0" tIns="0" rIns="0" bIns="0" rtlCol="0" anchor="ctr"/>
          <a:lstStyle/>
          <a:p>
            <a:pPr algn="l" indent="0" marL="0">
              <a:spcAft>
                <a:spcPts val="400"/>
              </a:spcAft>
              <a:buNone/>
            </a:pPr>
            <a:r>
              <a:rPr lang="en-US" sz="1400" b="1" dirty="0">
                <a:solidFill>
                  <a:srgbClr val="FFFFFF"/>
                </a:solidFill>
                <a:latin typeface="Calibri" pitchFamily="34" charset="0"/>
                <a:ea typeface="Calibri" pitchFamily="34" charset="-122"/>
                <a:cs typeface="Calibri" pitchFamily="34" charset="-120"/>
              </a:rPr>
              <a:t>Profiled, reviewed relationships; compiler picks the join path</a:t>
            </a:r>
            <a:endParaRPr lang="en-US" sz="1400" dirty="0"/>
          </a:p>
        </p:txBody>
      </p:sp>
      <p:sp>
        <p:nvSpPr>
          <p:cNvPr id="13" name="Shape 11"/>
          <p:cNvSpPr/>
          <p:nvPr/>
        </p:nvSpPr>
        <p:spPr>
          <a:xfrm>
            <a:off x="548640" y="2880360"/>
            <a:ext cx="5212080" cy="658368"/>
          </a:xfrm>
          <a:prstGeom prst="roundRect">
            <a:avLst>
              <a:gd name="adj" fmla="val 11111"/>
            </a:avLst>
          </a:prstGeom>
          <a:solidFill>
            <a:srgbClr val="F4F6F9"/>
          </a:solidFill>
          <a:ln w="12700">
            <a:solidFill>
              <a:srgbClr val="F4F6F9"/>
            </a:solidFill>
            <a:prstDash val="solid"/>
          </a:ln>
        </p:spPr>
      </p:sp>
      <p:sp>
        <p:nvSpPr>
          <p:cNvPr id="14" name="Text 12"/>
          <p:cNvSpPr txBox="1"/>
          <p:nvPr/>
        </p:nvSpPr>
        <p:spPr>
          <a:xfrm>
            <a:off x="777240" y="2880360"/>
            <a:ext cx="4846320" cy="658368"/>
          </a:xfrm>
          <a:prstGeom prst="rect">
            <a:avLst/>
          </a:prstGeom>
          <a:noFill/>
          <a:ln/>
        </p:spPr>
        <p:txBody>
          <a:bodyPr wrap="square" lIns="0" tIns="0" rIns="0" bIns="0" rtlCol="0" anchor="ctr"/>
          <a:lstStyle/>
          <a:p>
            <a:pPr algn="l" indent="0" marL="0">
              <a:spcAft>
                <a:spcPts val="400"/>
              </a:spcAft>
              <a:buNone/>
            </a:pPr>
            <a:r>
              <a:rPr lang="en-US" sz="1400" dirty="0">
                <a:solidFill>
                  <a:srgbClr val="1F2937"/>
                </a:solidFill>
                <a:latin typeface="Calibri" pitchFamily="34" charset="0"/>
                <a:ea typeface="Calibri" pitchFamily="34" charset="-122"/>
                <a:cs typeface="Calibri" pitchFamily="34" charset="-120"/>
              </a:rPr>
              <a:t>Ontology checks enable "I don't know" (data.world)</a:t>
            </a:r>
            <a:endParaRPr lang="en-US" sz="1400" dirty="0"/>
          </a:p>
        </p:txBody>
      </p:sp>
      <p:sp>
        <p:nvSpPr>
          <p:cNvPr id="15" name="Shape 13"/>
          <p:cNvSpPr/>
          <p:nvPr/>
        </p:nvSpPr>
        <p:spPr>
          <a:xfrm>
            <a:off x="5897880" y="3090672"/>
            <a:ext cx="365760" cy="237744"/>
          </a:xfrm>
          <a:prstGeom prst="rightArrow">
            <a:avLst/>
          </a:prstGeom>
          <a:solidFill>
            <a:srgbClr val="F2A541"/>
          </a:solidFill>
          <a:ln w="12700">
            <a:solidFill>
              <a:srgbClr val="F2A541"/>
            </a:solidFill>
            <a:prstDash val="solid"/>
          </a:ln>
        </p:spPr>
      </p:sp>
      <p:sp>
        <p:nvSpPr>
          <p:cNvPr id="16" name="Shape 14"/>
          <p:cNvSpPr/>
          <p:nvPr/>
        </p:nvSpPr>
        <p:spPr>
          <a:xfrm>
            <a:off x="6400800" y="2880360"/>
            <a:ext cx="5212080" cy="658368"/>
          </a:xfrm>
          <a:prstGeom prst="roundRect">
            <a:avLst>
              <a:gd name="adj" fmla="val 11111"/>
            </a:avLst>
          </a:prstGeom>
          <a:solidFill>
            <a:srgbClr val="0E1A2B"/>
          </a:solidFill>
          <a:ln w="12700">
            <a:solidFill>
              <a:srgbClr val="0E1A2B"/>
            </a:solidFill>
            <a:prstDash val="solid"/>
          </a:ln>
        </p:spPr>
      </p:sp>
      <p:sp>
        <p:nvSpPr>
          <p:cNvPr id="17" name="Text 15"/>
          <p:cNvSpPr txBox="1"/>
          <p:nvPr/>
        </p:nvSpPr>
        <p:spPr>
          <a:xfrm>
            <a:off x="6629400" y="2880360"/>
            <a:ext cx="4846320" cy="658368"/>
          </a:xfrm>
          <a:prstGeom prst="rect">
            <a:avLst/>
          </a:prstGeom>
          <a:noFill/>
          <a:ln/>
        </p:spPr>
        <p:txBody>
          <a:bodyPr wrap="square" lIns="0" tIns="0" rIns="0" bIns="0" rtlCol="0" anchor="ctr"/>
          <a:lstStyle/>
          <a:p>
            <a:pPr algn="l" indent="0" marL="0">
              <a:spcAft>
                <a:spcPts val="400"/>
              </a:spcAft>
              <a:buNone/>
            </a:pPr>
            <a:r>
              <a:rPr lang="en-US" sz="1400" b="1" dirty="0">
                <a:solidFill>
                  <a:srgbClr val="FFFFFF"/>
                </a:solidFill>
                <a:latin typeface="Calibri" pitchFamily="34" charset="0"/>
                <a:ea typeface="Calibri" pitchFamily="34" charset="-122"/>
                <a:cs typeface="Calibri" pitchFamily="34" charset="-120"/>
              </a:rPr>
              <a:t>Validated requests; a classified error instead of a guess</a:t>
            </a:r>
            <a:endParaRPr lang="en-US" sz="1400" dirty="0"/>
          </a:p>
        </p:txBody>
      </p:sp>
      <p:sp>
        <p:nvSpPr>
          <p:cNvPr id="18" name="Shape 16"/>
          <p:cNvSpPr/>
          <p:nvPr/>
        </p:nvSpPr>
        <p:spPr>
          <a:xfrm>
            <a:off x="548640" y="3657600"/>
            <a:ext cx="5212080" cy="658368"/>
          </a:xfrm>
          <a:prstGeom prst="roundRect">
            <a:avLst>
              <a:gd name="adj" fmla="val 11111"/>
            </a:avLst>
          </a:prstGeom>
          <a:solidFill>
            <a:srgbClr val="F4F6F9"/>
          </a:solidFill>
          <a:ln w="12700">
            <a:solidFill>
              <a:srgbClr val="F4F6F9"/>
            </a:solidFill>
            <a:prstDash val="solid"/>
          </a:ln>
        </p:spPr>
      </p:sp>
      <p:sp>
        <p:nvSpPr>
          <p:cNvPr id="19" name="Text 17"/>
          <p:cNvSpPr txBox="1"/>
          <p:nvPr/>
        </p:nvSpPr>
        <p:spPr>
          <a:xfrm>
            <a:off x="777240" y="3657600"/>
            <a:ext cx="4846320" cy="658368"/>
          </a:xfrm>
          <a:prstGeom prst="rect">
            <a:avLst/>
          </a:prstGeom>
          <a:noFill/>
          <a:ln/>
        </p:spPr>
        <p:txBody>
          <a:bodyPr wrap="square" lIns="0" tIns="0" rIns="0" bIns="0" rtlCol="0" anchor="ctr"/>
          <a:lstStyle/>
          <a:p>
            <a:pPr algn="l" indent="0" marL="0">
              <a:spcAft>
                <a:spcPts val="400"/>
              </a:spcAft>
              <a:buNone/>
            </a:pPr>
            <a:r>
              <a:rPr lang="en-US" sz="1400" dirty="0">
                <a:solidFill>
                  <a:srgbClr val="1F2937"/>
                </a:solidFill>
                <a:latin typeface="Calibri" pitchFamily="34" charset="0"/>
                <a:ea typeface="Calibri" pitchFamily="34" charset="-122"/>
                <a:cs typeface="Calibri" pitchFamily="34" charset="-120"/>
              </a:rPr>
              <a:t>Silent wrong answers (dbt, Cube)</a:t>
            </a:r>
            <a:endParaRPr lang="en-US" sz="1400" dirty="0"/>
          </a:p>
        </p:txBody>
      </p:sp>
      <p:sp>
        <p:nvSpPr>
          <p:cNvPr id="20" name="Shape 18"/>
          <p:cNvSpPr/>
          <p:nvPr/>
        </p:nvSpPr>
        <p:spPr>
          <a:xfrm>
            <a:off x="5897880" y="3867912"/>
            <a:ext cx="365760" cy="237744"/>
          </a:xfrm>
          <a:prstGeom prst="rightArrow">
            <a:avLst/>
          </a:prstGeom>
          <a:solidFill>
            <a:srgbClr val="F2A541"/>
          </a:solidFill>
          <a:ln w="12700">
            <a:solidFill>
              <a:srgbClr val="F2A541"/>
            </a:solidFill>
            <a:prstDash val="solid"/>
          </a:ln>
        </p:spPr>
      </p:sp>
      <p:sp>
        <p:nvSpPr>
          <p:cNvPr id="21" name="Shape 19"/>
          <p:cNvSpPr/>
          <p:nvPr/>
        </p:nvSpPr>
        <p:spPr>
          <a:xfrm>
            <a:off x="6400800" y="3657600"/>
            <a:ext cx="5212080" cy="658368"/>
          </a:xfrm>
          <a:prstGeom prst="roundRect">
            <a:avLst>
              <a:gd name="adj" fmla="val 11111"/>
            </a:avLst>
          </a:prstGeom>
          <a:solidFill>
            <a:srgbClr val="0E1A2B"/>
          </a:solidFill>
          <a:ln w="12700">
            <a:solidFill>
              <a:srgbClr val="0E1A2B"/>
            </a:solidFill>
            <a:prstDash val="solid"/>
          </a:ln>
        </p:spPr>
      </p:sp>
      <p:sp>
        <p:nvSpPr>
          <p:cNvPr id="22" name="Text 20"/>
          <p:cNvSpPr txBox="1"/>
          <p:nvPr/>
        </p:nvSpPr>
        <p:spPr>
          <a:xfrm>
            <a:off x="6629400" y="3657600"/>
            <a:ext cx="4846320" cy="658368"/>
          </a:xfrm>
          <a:prstGeom prst="rect">
            <a:avLst/>
          </a:prstGeom>
          <a:noFill/>
          <a:ln/>
        </p:spPr>
        <p:txBody>
          <a:bodyPr wrap="square" lIns="0" tIns="0" rIns="0" bIns="0" rtlCol="0" anchor="ctr"/>
          <a:lstStyle/>
          <a:p>
            <a:pPr algn="l" indent="0" marL="0">
              <a:spcAft>
                <a:spcPts val="400"/>
              </a:spcAft>
              <a:buNone/>
            </a:pPr>
            <a:r>
              <a:rPr lang="en-US" sz="1400" b="1" dirty="0">
                <a:solidFill>
                  <a:srgbClr val="FFFFFF"/>
                </a:solidFill>
                <a:latin typeface="Calibri" pitchFamily="34" charset="0"/>
                <a:ea typeface="Calibri" pitchFamily="34" charset="-122"/>
                <a:cs typeface="Calibri" pitchFamily="34" charset="-120"/>
              </a:rPr>
              <a:t>No raw SQL; only published metrics can be queried</a:t>
            </a:r>
            <a:endParaRPr lang="en-US" sz="1400" dirty="0"/>
          </a:p>
        </p:txBody>
      </p:sp>
      <p:sp>
        <p:nvSpPr>
          <p:cNvPr id="23" name="Shape 21"/>
          <p:cNvSpPr/>
          <p:nvPr/>
        </p:nvSpPr>
        <p:spPr>
          <a:xfrm>
            <a:off x="548640" y="4434840"/>
            <a:ext cx="5212080" cy="658368"/>
          </a:xfrm>
          <a:prstGeom prst="roundRect">
            <a:avLst>
              <a:gd name="adj" fmla="val 11111"/>
            </a:avLst>
          </a:prstGeom>
          <a:solidFill>
            <a:srgbClr val="F4F6F9"/>
          </a:solidFill>
          <a:ln w="12700">
            <a:solidFill>
              <a:srgbClr val="F4F6F9"/>
            </a:solidFill>
            <a:prstDash val="solid"/>
          </a:ln>
        </p:spPr>
      </p:sp>
      <p:sp>
        <p:nvSpPr>
          <p:cNvPr id="24" name="Text 22"/>
          <p:cNvSpPr txBox="1"/>
          <p:nvPr/>
        </p:nvSpPr>
        <p:spPr>
          <a:xfrm>
            <a:off x="777240" y="4434840"/>
            <a:ext cx="4846320" cy="658368"/>
          </a:xfrm>
          <a:prstGeom prst="rect">
            <a:avLst/>
          </a:prstGeom>
          <a:noFill/>
          <a:ln/>
        </p:spPr>
        <p:txBody>
          <a:bodyPr wrap="square" lIns="0" tIns="0" rIns="0" bIns="0" rtlCol="0" anchor="ctr"/>
          <a:lstStyle/>
          <a:p>
            <a:pPr algn="l" indent="0" marL="0">
              <a:spcAft>
                <a:spcPts val="400"/>
              </a:spcAft>
              <a:buNone/>
            </a:pPr>
            <a:r>
              <a:rPr lang="en-US" sz="1400" dirty="0">
                <a:solidFill>
                  <a:srgbClr val="1F2937"/>
                </a:solidFill>
                <a:latin typeface="Calibri" pitchFamily="34" charset="0"/>
                <a:ea typeface="Calibri" pitchFamily="34" charset="-122"/>
                <a:cs typeface="Calibri" pitchFamily="34" charset="-120"/>
              </a:rPr>
              <a:t>Hallucination despite grounding (Stanford)</a:t>
            </a:r>
            <a:endParaRPr lang="en-US" sz="1400" dirty="0"/>
          </a:p>
        </p:txBody>
      </p:sp>
      <p:sp>
        <p:nvSpPr>
          <p:cNvPr id="25" name="Shape 23"/>
          <p:cNvSpPr/>
          <p:nvPr/>
        </p:nvSpPr>
        <p:spPr>
          <a:xfrm>
            <a:off x="5897880" y="4645152"/>
            <a:ext cx="365760" cy="237744"/>
          </a:xfrm>
          <a:prstGeom prst="rightArrow">
            <a:avLst/>
          </a:prstGeom>
          <a:solidFill>
            <a:srgbClr val="F2A541"/>
          </a:solidFill>
          <a:ln w="12700">
            <a:solidFill>
              <a:srgbClr val="F2A541"/>
            </a:solidFill>
            <a:prstDash val="solid"/>
          </a:ln>
        </p:spPr>
      </p:sp>
      <p:sp>
        <p:nvSpPr>
          <p:cNvPr id="26" name="Shape 24"/>
          <p:cNvSpPr/>
          <p:nvPr/>
        </p:nvSpPr>
        <p:spPr>
          <a:xfrm>
            <a:off x="6400800" y="4434840"/>
            <a:ext cx="5212080" cy="658368"/>
          </a:xfrm>
          <a:prstGeom prst="roundRect">
            <a:avLst>
              <a:gd name="adj" fmla="val 11111"/>
            </a:avLst>
          </a:prstGeom>
          <a:solidFill>
            <a:srgbClr val="0E1A2B"/>
          </a:solidFill>
          <a:ln w="12700">
            <a:solidFill>
              <a:srgbClr val="0E1A2B"/>
            </a:solidFill>
            <a:prstDash val="solid"/>
          </a:ln>
        </p:spPr>
      </p:sp>
      <p:sp>
        <p:nvSpPr>
          <p:cNvPr id="27" name="Text 25"/>
          <p:cNvSpPr txBox="1"/>
          <p:nvPr/>
        </p:nvSpPr>
        <p:spPr>
          <a:xfrm>
            <a:off x="6629400" y="4434840"/>
            <a:ext cx="4846320" cy="658368"/>
          </a:xfrm>
          <a:prstGeom prst="rect">
            <a:avLst/>
          </a:prstGeom>
          <a:noFill/>
          <a:ln/>
        </p:spPr>
        <p:txBody>
          <a:bodyPr wrap="square" lIns="0" tIns="0" rIns="0" bIns="0" rtlCol="0" anchor="ctr"/>
          <a:lstStyle/>
          <a:p>
            <a:pPr algn="l" indent="0" marL="0">
              <a:spcAft>
                <a:spcPts val="400"/>
              </a:spcAft>
              <a:buNone/>
            </a:pPr>
            <a:r>
              <a:rPr lang="en-US" sz="1400" b="1" dirty="0">
                <a:solidFill>
                  <a:srgbClr val="FFFFFF"/>
                </a:solidFill>
                <a:latin typeface="Calibri" pitchFamily="34" charset="0"/>
                <a:ea typeface="Calibri" pitchFamily="34" charset="-122"/>
                <a:cs typeface="Calibri" pitchFamily="34" charset="-120"/>
              </a:rPr>
              <a:t>Answer path + evidence citations measured by Helios-DS</a:t>
            </a:r>
            <a:endParaRPr lang="en-US" sz="1400" dirty="0"/>
          </a:p>
        </p:txBody>
      </p:sp>
      <p:sp>
        <p:nvSpPr>
          <p:cNvPr id="28" name="Shape 26"/>
          <p:cNvSpPr/>
          <p:nvPr/>
        </p:nvSpPr>
        <p:spPr>
          <a:xfrm>
            <a:off x="548640" y="5212080"/>
            <a:ext cx="5212080" cy="658368"/>
          </a:xfrm>
          <a:prstGeom prst="roundRect">
            <a:avLst>
              <a:gd name="adj" fmla="val 11111"/>
            </a:avLst>
          </a:prstGeom>
          <a:solidFill>
            <a:srgbClr val="F4F6F9"/>
          </a:solidFill>
          <a:ln w="12700">
            <a:solidFill>
              <a:srgbClr val="F4F6F9"/>
            </a:solidFill>
            <a:prstDash val="solid"/>
          </a:ln>
        </p:spPr>
      </p:sp>
      <p:sp>
        <p:nvSpPr>
          <p:cNvPr id="29" name="Text 27"/>
          <p:cNvSpPr txBox="1"/>
          <p:nvPr/>
        </p:nvSpPr>
        <p:spPr>
          <a:xfrm>
            <a:off x="777240" y="5212080"/>
            <a:ext cx="4846320" cy="658368"/>
          </a:xfrm>
          <a:prstGeom prst="rect">
            <a:avLst/>
          </a:prstGeom>
          <a:noFill/>
          <a:ln/>
        </p:spPr>
        <p:txBody>
          <a:bodyPr wrap="square" lIns="0" tIns="0" rIns="0" bIns="0" rtlCol="0" anchor="ctr"/>
          <a:lstStyle/>
          <a:p>
            <a:pPr algn="l" indent="0" marL="0">
              <a:spcAft>
                <a:spcPts val="400"/>
              </a:spcAft>
              <a:buNone/>
            </a:pPr>
            <a:r>
              <a:rPr lang="en-US" sz="1400" dirty="0">
                <a:solidFill>
                  <a:srgbClr val="1F2937"/>
                </a:solidFill>
                <a:latin typeface="Calibri" pitchFamily="34" charset="0"/>
                <a:ea typeface="Calibri" pitchFamily="34" charset="-122"/>
                <a:cs typeface="Calibri" pitchFamily="34" charset="-120"/>
              </a:rPr>
              <a:t>Precise tools beat free-form calls (Gorilla, NESTFUL)</a:t>
            </a:r>
            <a:endParaRPr lang="en-US" sz="1400" dirty="0"/>
          </a:p>
        </p:txBody>
      </p:sp>
      <p:sp>
        <p:nvSpPr>
          <p:cNvPr id="30" name="Shape 28"/>
          <p:cNvSpPr/>
          <p:nvPr/>
        </p:nvSpPr>
        <p:spPr>
          <a:xfrm>
            <a:off x="5897880" y="5422392"/>
            <a:ext cx="365760" cy="237744"/>
          </a:xfrm>
          <a:prstGeom prst="rightArrow">
            <a:avLst/>
          </a:prstGeom>
          <a:solidFill>
            <a:srgbClr val="F2A541"/>
          </a:solidFill>
          <a:ln w="12700">
            <a:solidFill>
              <a:srgbClr val="F2A541"/>
            </a:solidFill>
            <a:prstDash val="solid"/>
          </a:ln>
        </p:spPr>
      </p:sp>
      <p:sp>
        <p:nvSpPr>
          <p:cNvPr id="31" name="Shape 29"/>
          <p:cNvSpPr/>
          <p:nvPr/>
        </p:nvSpPr>
        <p:spPr>
          <a:xfrm>
            <a:off x="6400800" y="5212080"/>
            <a:ext cx="5212080" cy="658368"/>
          </a:xfrm>
          <a:prstGeom prst="roundRect">
            <a:avLst>
              <a:gd name="adj" fmla="val 11111"/>
            </a:avLst>
          </a:prstGeom>
          <a:solidFill>
            <a:srgbClr val="0E1A2B"/>
          </a:solidFill>
          <a:ln w="12700">
            <a:solidFill>
              <a:srgbClr val="0E1A2B"/>
            </a:solidFill>
            <a:prstDash val="solid"/>
          </a:ln>
        </p:spPr>
      </p:sp>
      <p:sp>
        <p:nvSpPr>
          <p:cNvPr id="32" name="Text 30"/>
          <p:cNvSpPr txBox="1"/>
          <p:nvPr/>
        </p:nvSpPr>
        <p:spPr>
          <a:xfrm>
            <a:off x="6629400" y="5212080"/>
            <a:ext cx="4846320" cy="658368"/>
          </a:xfrm>
          <a:prstGeom prst="rect">
            <a:avLst/>
          </a:prstGeom>
          <a:noFill/>
          <a:ln/>
        </p:spPr>
        <p:txBody>
          <a:bodyPr wrap="square" lIns="0" tIns="0" rIns="0" bIns="0" rtlCol="0" anchor="ctr"/>
          <a:lstStyle/>
          <a:p>
            <a:pPr algn="l" indent="0" marL="0">
              <a:spcAft>
                <a:spcPts val="400"/>
              </a:spcAft>
              <a:buNone/>
            </a:pPr>
            <a:r>
              <a:rPr lang="en-US" sz="1400" b="1" dirty="0">
                <a:solidFill>
                  <a:srgbClr val="FFFFFF"/>
                </a:solidFill>
                <a:latin typeface="Calibri" pitchFamily="34" charset="0"/>
                <a:ea typeface="Calibri" pitchFamily="34" charset="-122"/>
                <a:cs typeface="Calibri" pitchFamily="34" charset="-120"/>
              </a:rPr>
              <a:t>Seven coarse-grained, governed MCP tools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2900" b="1" dirty="0">
                <a:solidFill>
                  <a:srgbClr val="0E1A2B"/>
                </a:solidFill>
                <a:latin typeface="Cambria" pitchFamily="34" charset="0"/>
                <a:ea typeface="Cambria" pitchFamily="34" charset="-122"/>
                <a:cs typeface="Cambria" pitchFamily="34" charset="-120"/>
              </a:rPr>
              <a:t>The conclusion: work backwards from the data</a:t>
            </a:r>
            <a:endParaRPr lang="en-US" sz="2900" dirty="0"/>
          </a:p>
        </p:txBody>
      </p:sp>
      <p:sp>
        <p:nvSpPr>
          <p:cNvPr id="3" name="Text 1"/>
          <p:cNvSpPr txBox="1"/>
          <p:nvPr/>
        </p:nvSpPr>
        <p:spPr>
          <a:xfrm>
            <a:off x="548640" y="1097280"/>
            <a:ext cx="11094415" cy="457200"/>
          </a:xfrm>
          <a:prstGeom prst="rect">
            <a:avLst/>
          </a:prstGeom>
          <a:noFill/>
          <a:ln/>
        </p:spPr>
        <p:txBody>
          <a:bodyPr wrap="square" lIns="0" tIns="0" rIns="0" bIns="0" rtlCol="0" anchor="ctr"/>
          <a:lstStyle/>
          <a:p>
            <a:pPr indent="0" marL="0">
              <a:buNone/>
            </a:pPr>
            <a:r>
              <a:rPr lang="en-US" sz="1400" i="1" dirty="0">
                <a:solidFill>
                  <a:srgbClr val="5B6472"/>
                </a:solidFill>
                <a:latin typeface="Calibri" pitchFamily="34" charset="0"/>
                <a:ea typeface="Calibri" pitchFamily="34" charset="-122"/>
                <a:cs typeface="Calibri" pitchFamily="34" charset="-120"/>
              </a:rPr>
              <a:t>Don't ask the model to rediscover the business on every question. Build the meaning once, govern it, and hand the model tools.</a:t>
            </a:r>
            <a:endParaRPr lang="en-US" sz="1400" dirty="0"/>
          </a:p>
        </p:txBody>
      </p:sp>
      <p:sp>
        <p:nvSpPr>
          <p:cNvPr id="4" name="Shape 2"/>
          <p:cNvSpPr/>
          <p:nvPr/>
        </p:nvSpPr>
        <p:spPr>
          <a:xfrm>
            <a:off x="548640" y="1828800"/>
            <a:ext cx="5394960" cy="4206240"/>
          </a:xfrm>
          <a:prstGeom prst="roundRect">
            <a:avLst>
              <a:gd name="adj" fmla="val 1739"/>
            </a:avLst>
          </a:prstGeom>
          <a:solidFill>
            <a:srgbClr val="F4F6F9"/>
          </a:solidFill>
          <a:ln w="12700">
            <a:solidFill>
              <a:srgbClr val="F4F6F9"/>
            </a:solidFill>
            <a:prstDash val="solid"/>
          </a:ln>
        </p:spPr>
      </p:sp>
      <p:sp>
        <p:nvSpPr>
          <p:cNvPr id="5" name="Text 3"/>
          <p:cNvSpPr txBox="1"/>
          <p:nvPr/>
        </p:nvSpPr>
        <p:spPr>
          <a:xfrm>
            <a:off x="868680" y="2011680"/>
            <a:ext cx="4754880" cy="548640"/>
          </a:xfrm>
          <a:prstGeom prst="rect">
            <a:avLst/>
          </a:prstGeom>
          <a:noFill/>
          <a:ln/>
        </p:spPr>
        <p:txBody>
          <a:bodyPr wrap="square" lIns="0" tIns="0" rIns="0" bIns="0" rtlCol="0" anchor="ctr"/>
          <a:lstStyle/>
          <a:p>
            <a:pPr indent="0" marL="0">
              <a:buNone/>
            </a:pPr>
            <a:r>
              <a:rPr lang="en-US" sz="2200" b="1" dirty="0">
                <a:solidFill>
                  <a:srgbClr val="0E1A2B"/>
                </a:solidFill>
                <a:latin typeface="Cambria" pitchFamily="34" charset="0"/>
                <a:ea typeface="Cambria" pitchFamily="34" charset="-122"/>
                <a:cs typeface="Cambria" pitchFamily="34" charset="-120"/>
              </a:rPr>
              <a:t>LLM on raw data</a:t>
            </a:r>
            <a:endParaRPr lang="en-US" sz="2200" dirty="0"/>
          </a:p>
        </p:txBody>
      </p:sp>
      <p:sp>
        <p:nvSpPr>
          <p:cNvPr id="6" name="Text 4"/>
          <p:cNvSpPr txBox="1"/>
          <p:nvPr/>
        </p:nvSpPr>
        <p:spPr>
          <a:xfrm>
            <a:off x="868680" y="2743200"/>
            <a:ext cx="4754880" cy="31089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Guesses metrics and joins per question</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Re-derives meaning from names and samples</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SQL or text is free-form, so hard to govern</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No stable way to show where an answer came from</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Accuracy drops as schemas and corpora grow</a:t>
            </a:r>
            <a:endParaRPr lang="en-US" sz="1600" dirty="0"/>
          </a:p>
        </p:txBody>
      </p:sp>
      <p:sp>
        <p:nvSpPr>
          <p:cNvPr id="7" name="Shape 5"/>
          <p:cNvSpPr/>
          <p:nvPr/>
        </p:nvSpPr>
        <p:spPr>
          <a:xfrm>
            <a:off x="6217920" y="1828800"/>
            <a:ext cx="5394960" cy="4206240"/>
          </a:xfrm>
          <a:prstGeom prst="roundRect">
            <a:avLst>
              <a:gd name="adj" fmla="val 1739"/>
            </a:avLst>
          </a:prstGeom>
          <a:solidFill>
            <a:srgbClr val="0E1A2B"/>
          </a:solidFill>
          <a:ln w="12700">
            <a:solidFill>
              <a:srgbClr val="0E1A2B"/>
            </a:solidFill>
            <a:prstDash val="solid"/>
          </a:ln>
        </p:spPr>
      </p:sp>
      <p:sp>
        <p:nvSpPr>
          <p:cNvPr id="8" name="Text 6"/>
          <p:cNvSpPr txBox="1"/>
          <p:nvPr/>
        </p:nvSpPr>
        <p:spPr>
          <a:xfrm>
            <a:off x="6537960" y="2011680"/>
            <a:ext cx="4754880" cy="548640"/>
          </a:xfrm>
          <a:prstGeom prst="rect">
            <a:avLst/>
          </a:prstGeom>
          <a:noFill/>
          <a:ln/>
        </p:spPr>
        <p:txBody>
          <a:bodyPr wrap="square" lIns="0" tIns="0" rIns="0" bIns="0" rtlCol="0" anchor="ctr"/>
          <a:lstStyle/>
          <a:p>
            <a:pPr indent="0" marL="0">
              <a:buNone/>
            </a:pPr>
            <a:r>
              <a:rPr lang="en-US" sz="2200" b="1" dirty="0">
                <a:solidFill>
                  <a:srgbClr val="F2A541"/>
                </a:solidFill>
                <a:latin typeface="Cambria" pitchFamily="34" charset="0"/>
                <a:ea typeface="Cambria" pitchFamily="34" charset="-122"/>
                <a:cs typeface="Cambria" pitchFamily="34" charset="-120"/>
              </a:rPr>
              <a:t>Helios: evidence first, LLM second</a:t>
            </a:r>
            <a:endParaRPr lang="en-US" sz="2200" dirty="0"/>
          </a:p>
        </p:txBody>
      </p:sp>
      <p:sp>
        <p:nvSpPr>
          <p:cNvPr id="9" name="Text 7"/>
          <p:cNvSpPr txBox="1"/>
          <p:nvPr/>
        </p:nvSpPr>
        <p:spPr>
          <a:xfrm>
            <a:off x="6537960" y="2743200"/>
            <a:ext cx="4754880" cy="31089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Deterministic profiling finds keys, joins and metrics</a:t>
            </a:r>
            <a:endParaRPr lang="en-US" sz="1600" dirty="0"/>
          </a:p>
          <a:p>
            <a:pPr marL="342900" indent="-3429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The LLM proposes; humans review and publish</a:t>
            </a:r>
            <a:endParaRPr lang="en-US" sz="1600" dirty="0"/>
          </a:p>
          <a:p>
            <a:pPr marL="342900" indent="-3429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Agents call governed tools, never raw SQL</a:t>
            </a:r>
            <a:endParaRPr lang="en-US" sz="1600" dirty="0"/>
          </a:p>
          <a:p>
            <a:pPr marL="342900" indent="-3429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Every answer traces to a model revision and query</a:t>
            </a:r>
            <a:endParaRPr lang="en-US" sz="1600" dirty="0"/>
          </a:p>
          <a:p>
            <a:pPr marL="342900" indent="-3429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Ranger and RBAC apply to every call</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1A2B"/>
        </a:solidFill>
      </p:bgPr>
    </p:bg>
    <p:spTree>
      <p:nvGrpSpPr>
        <p:cNvPr id="1" name=""/>
        <p:cNvGrpSpPr/>
        <p:nvPr/>
      </p:nvGrpSpPr>
      <p:grpSpPr>
        <a:xfrm>
          <a:off x="0" y="0"/>
          <a:ext cx="0" cy="0"/>
          <a:chOff x="0" y="0"/>
          <a:chExt cx="0" cy="0"/>
        </a:xfrm>
      </p:grpSpPr>
      <p:sp>
        <p:nvSpPr>
          <p:cNvPr id="2" name="Shape 0"/>
          <p:cNvSpPr/>
          <p:nvPr/>
        </p:nvSpPr>
        <p:spPr>
          <a:xfrm>
            <a:off x="8412480" y="1097280"/>
            <a:ext cx="4754880" cy="4754880"/>
          </a:xfrm>
          <a:prstGeom prst="ellipse">
            <a:avLst/>
          </a:prstGeom>
          <a:solidFill>
            <a:srgbClr val="1C2F4A"/>
          </a:solidFill>
          <a:ln w="12700">
            <a:solidFill>
              <a:srgbClr val="1C2F4A"/>
            </a:solidFill>
            <a:prstDash val="solid"/>
          </a:ln>
        </p:spPr>
      </p:sp>
      <p:sp>
        <p:nvSpPr>
          <p:cNvPr id="3" name="Shape 1"/>
          <p:cNvSpPr/>
          <p:nvPr/>
        </p:nvSpPr>
        <p:spPr>
          <a:xfrm>
            <a:off x="9966960" y="2651760"/>
            <a:ext cx="1645920" cy="1645920"/>
          </a:xfrm>
          <a:prstGeom prst="ellipse">
            <a:avLst/>
          </a:prstGeom>
          <a:solidFill>
            <a:srgbClr val="F2A541"/>
          </a:solidFill>
          <a:ln w="12700">
            <a:solidFill>
              <a:srgbClr val="F2A541"/>
            </a:solidFill>
            <a:prstDash val="solid"/>
          </a:ln>
        </p:spPr>
      </p:sp>
      <p:pic>
        <p:nvPicPr>
          <p:cNvPr id="4" name="Image 0" descr="preencoded.png">    </p:cNvPr>
          <p:cNvPicPr>
            <a:picLocks noChangeAspect="1"/>
          </p:cNvPicPr>
          <p:nvPr/>
        </p:nvPicPr>
        <p:blipFill>
          <a:blip r:embed="rId1"/>
          <a:stretch>
            <a:fillRect/>
          </a:stretch>
        </p:blipFill>
        <p:spPr>
          <a:xfrm>
            <a:off x="10361981" y="3046781"/>
            <a:ext cx="855878" cy="855878"/>
          </a:xfrm>
          <a:prstGeom prst="rect">
            <a:avLst/>
          </a:prstGeom>
        </p:spPr>
      </p:pic>
      <p:sp>
        <p:nvSpPr>
          <p:cNvPr id="5" name="Text 2"/>
          <p:cNvSpPr txBox="1"/>
          <p:nvPr/>
        </p:nvSpPr>
        <p:spPr>
          <a:xfrm>
            <a:off x="731520" y="2011680"/>
            <a:ext cx="6858000" cy="365760"/>
          </a:xfrm>
          <a:prstGeom prst="rect">
            <a:avLst/>
          </a:prstGeom>
          <a:noFill/>
          <a:ln/>
        </p:spPr>
        <p:txBody>
          <a:bodyPr wrap="square" lIns="0" tIns="0" rIns="0" bIns="0" rtlCol="0" anchor="ctr"/>
          <a:lstStyle/>
          <a:p>
            <a:pPr indent="0" marL="0">
              <a:buNone/>
            </a:pPr>
            <a:r>
              <a:rPr lang="en-US" sz="1400" b="1" spc="300" kern="0" dirty="0">
                <a:solidFill>
                  <a:srgbClr val="F2A541"/>
                </a:solidFill>
                <a:latin typeface="Calibri" pitchFamily="34" charset="0"/>
                <a:ea typeface="Calibri" pitchFamily="34" charset="-122"/>
                <a:cs typeface="Calibri" pitchFamily="34" charset="-120"/>
              </a:rPr>
              <a:t>PART 2 OF 6</a:t>
            </a:r>
            <a:endParaRPr lang="en-US" sz="1400" dirty="0"/>
          </a:p>
        </p:txBody>
      </p:sp>
      <p:sp>
        <p:nvSpPr>
          <p:cNvPr id="6" name="Text 3"/>
          <p:cNvSpPr txBox="1"/>
          <p:nvPr/>
        </p:nvSpPr>
        <p:spPr>
          <a:xfrm>
            <a:off x="731520" y="2468880"/>
            <a:ext cx="7498080" cy="118872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What Helios is</a:t>
            </a:r>
            <a:endParaRPr lang="en-US" sz="4400" dirty="0"/>
          </a:p>
        </p:txBody>
      </p:sp>
      <p:sp>
        <p:nvSpPr>
          <p:cNvPr id="7" name="Text 4"/>
          <p:cNvSpPr txBox="1"/>
          <p:nvPr/>
        </p:nvSpPr>
        <p:spPr>
          <a:xfrm>
            <a:off x="731520" y="3749040"/>
            <a:ext cx="6949440" cy="1097280"/>
          </a:xfrm>
          <a:prstGeom prst="rect">
            <a:avLst/>
          </a:prstGeom>
          <a:noFill/>
          <a:ln/>
        </p:spPr>
        <p:txBody>
          <a:bodyPr wrap="square" lIns="0" tIns="0" rIns="0" bIns="0" rtlCol="0" anchor="t"/>
          <a:lstStyle/>
          <a:p>
            <a:pPr indent="0" marL="0">
              <a:buNone/>
            </a:pPr>
            <a:r>
              <a:rPr lang="en-US" sz="1800" dirty="0">
                <a:solidFill>
                  <a:srgbClr val="C9D3E0"/>
                </a:solidFill>
                <a:latin typeface="Calibri" pitchFamily="34" charset="0"/>
                <a:ea typeface="Calibri" pitchFamily="34" charset="-122"/>
                <a:cs typeface="Calibri" pitchFamily="34" charset="-120"/>
              </a:rPr>
              <a:t>An engine inside Cloudera AI Workbench that inspects the lakehouse and writes down what the data means, for people and AI agents.</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3200" b="1" dirty="0">
                <a:solidFill>
                  <a:srgbClr val="0E1A2B"/>
                </a:solidFill>
                <a:latin typeface="Cambria" pitchFamily="34" charset="0"/>
                <a:ea typeface="Cambria" pitchFamily="34" charset="-122"/>
                <a:cs typeface="Cambria" pitchFamily="34" charset="-120"/>
              </a:rPr>
              <a:t>Helios in one sentence</a:t>
            </a:r>
            <a:endParaRPr lang="en-US" sz="3200" dirty="0"/>
          </a:p>
        </p:txBody>
      </p:sp>
      <p:sp>
        <p:nvSpPr>
          <p:cNvPr id="3" name="Shape 1"/>
          <p:cNvSpPr/>
          <p:nvPr/>
        </p:nvSpPr>
        <p:spPr>
          <a:xfrm>
            <a:off x="548640" y="1371600"/>
            <a:ext cx="11064240" cy="1188720"/>
          </a:xfrm>
          <a:prstGeom prst="roundRect">
            <a:avLst>
              <a:gd name="adj" fmla="val 6154"/>
            </a:avLst>
          </a:prstGeom>
          <a:solidFill>
            <a:srgbClr val="0E1A2B"/>
          </a:solidFill>
          <a:ln w="12700">
            <a:solidFill>
              <a:srgbClr val="0E1A2B"/>
            </a:solidFill>
            <a:prstDash val="solid"/>
          </a:ln>
        </p:spPr>
      </p:sp>
      <p:sp>
        <p:nvSpPr>
          <p:cNvPr id="4" name="Text 2"/>
          <p:cNvSpPr txBox="1"/>
          <p:nvPr/>
        </p:nvSpPr>
        <p:spPr>
          <a:xfrm>
            <a:off x="868680" y="1463040"/>
            <a:ext cx="10424160" cy="1005840"/>
          </a:xfrm>
          <a:prstGeom prst="rect">
            <a:avLst/>
          </a:prstGeom>
          <a:noFill/>
          <a:ln/>
        </p:spPr>
        <p:txBody>
          <a:bodyPr wrap="square" lIns="0" tIns="0" rIns="0" bIns="0" rtlCol="0" anchor="ctr"/>
          <a:lstStyle/>
          <a:p>
            <a:pPr algn="l" indent="0" marL="0">
              <a:spcAft>
                <a:spcPts val="400"/>
              </a:spcAft>
              <a:buNone/>
            </a:pPr>
            <a:r>
              <a:rPr lang="en-US" sz="1900" dirty="0">
                <a:solidFill>
                  <a:srgbClr val="FFFFFF"/>
                </a:solidFill>
                <a:latin typeface="Calibri" pitchFamily="34" charset="0"/>
                <a:ea typeface="Calibri" pitchFamily="34" charset="-122"/>
                <a:cs typeface="Calibri" pitchFamily="34" charset="-120"/>
              </a:rPr>
              <a:t>Helios reads the warehouse, works out what things mean, and writes that meaning down in formats both people and AI agents can use. A human checks its work before anything is published.</a:t>
            </a:r>
            <a:endParaRPr lang="en-US" sz="1900" dirty="0"/>
          </a:p>
        </p:txBody>
      </p:sp>
      <p:sp>
        <p:nvSpPr>
          <p:cNvPr id="5" name="Shape 3"/>
          <p:cNvSpPr/>
          <p:nvPr/>
        </p:nvSpPr>
        <p:spPr>
          <a:xfrm>
            <a:off x="548640" y="2880360"/>
            <a:ext cx="3474720" cy="2331720"/>
          </a:xfrm>
          <a:prstGeom prst="roundRect">
            <a:avLst>
              <a:gd name="adj" fmla="val 3137"/>
            </a:avLst>
          </a:prstGeom>
          <a:solidFill>
            <a:srgbClr val="F4F6F9"/>
          </a:solidFill>
          <a:ln w="12700">
            <a:solidFill>
              <a:srgbClr val="F4F6F9"/>
            </a:solidFill>
            <a:prstDash val="solid"/>
          </a:ln>
        </p:spPr>
      </p:sp>
      <p:sp>
        <p:nvSpPr>
          <p:cNvPr id="6" name="Shape 4"/>
          <p:cNvSpPr/>
          <p:nvPr/>
        </p:nvSpPr>
        <p:spPr>
          <a:xfrm>
            <a:off x="777240" y="3108960"/>
            <a:ext cx="502920" cy="502920"/>
          </a:xfrm>
          <a:prstGeom prst="ellipse">
            <a:avLst/>
          </a:prstGeom>
          <a:solidFill>
            <a:srgbClr val="F2A541"/>
          </a:solidFill>
          <a:ln w="12700">
            <a:solidFill>
              <a:srgbClr val="F2A541"/>
            </a:solidFill>
            <a:prstDash val="solid"/>
          </a:ln>
        </p:spPr>
      </p:sp>
      <p:pic>
        <p:nvPicPr>
          <p:cNvPr id="7" name="Image 0" descr="preencoded.png">    </p:cNvPr>
          <p:cNvPicPr>
            <a:picLocks noChangeAspect="1"/>
          </p:cNvPicPr>
          <p:nvPr/>
        </p:nvPicPr>
        <p:blipFill>
          <a:blip r:embed="rId1"/>
          <a:stretch>
            <a:fillRect/>
          </a:stretch>
        </p:blipFill>
        <p:spPr>
          <a:xfrm>
            <a:off x="897941" y="3229661"/>
            <a:ext cx="261518" cy="261518"/>
          </a:xfrm>
          <a:prstGeom prst="rect">
            <a:avLst/>
          </a:prstGeom>
        </p:spPr>
      </p:pic>
      <p:sp>
        <p:nvSpPr>
          <p:cNvPr id="8" name="Text 5"/>
          <p:cNvSpPr txBox="1"/>
          <p:nvPr/>
        </p:nvSpPr>
        <p:spPr>
          <a:xfrm>
            <a:off x="1417320" y="3081528"/>
            <a:ext cx="242316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Business glossary</a:t>
            </a:r>
            <a:endParaRPr lang="en-US" sz="1700" dirty="0"/>
          </a:p>
        </p:txBody>
      </p:sp>
      <p:sp>
        <p:nvSpPr>
          <p:cNvPr id="9" name="Text 6"/>
          <p:cNvSpPr txBox="1"/>
          <p:nvPr/>
        </p:nvSpPr>
        <p:spPr>
          <a:xfrm>
            <a:off x="822960" y="3749040"/>
            <a:ext cx="2971800" cy="1325880"/>
          </a:xfrm>
          <a:prstGeom prst="rect">
            <a:avLst/>
          </a:prstGeom>
          <a:noFill/>
          <a:ln/>
        </p:spPr>
        <p:txBody>
          <a:bodyPr wrap="square" lIns="0" tIns="0" rIns="0" bIns="0" rtlCol="0" anchor="t"/>
          <a:lstStyle/>
          <a:p>
            <a:pPr indent="0" marL="0">
              <a:buNone/>
            </a:pPr>
            <a:r>
              <a:rPr lang="en-US" sz="1450" dirty="0">
                <a:solidFill>
                  <a:srgbClr val="1F2937"/>
                </a:solidFill>
                <a:latin typeface="Calibri" pitchFamily="34" charset="0"/>
                <a:ea typeface="Calibri" pitchFamily="34" charset="-122"/>
                <a:cs typeface="Calibri" pitchFamily="34" charset="-120"/>
              </a:rPr>
              <a:t>Apache Atlas: what the data is called and what it means (terms, definitions, synonyms, column links).</a:t>
            </a:r>
            <a:endParaRPr lang="en-US" sz="1450" dirty="0"/>
          </a:p>
        </p:txBody>
      </p:sp>
      <p:sp>
        <p:nvSpPr>
          <p:cNvPr id="10" name="Shape 7"/>
          <p:cNvSpPr/>
          <p:nvPr/>
        </p:nvSpPr>
        <p:spPr>
          <a:xfrm>
            <a:off x="4297680" y="2880360"/>
            <a:ext cx="3474720" cy="2331720"/>
          </a:xfrm>
          <a:prstGeom prst="roundRect">
            <a:avLst>
              <a:gd name="adj" fmla="val 3137"/>
            </a:avLst>
          </a:prstGeom>
          <a:solidFill>
            <a:srgbClr val="F4F6F9"/>
          </a:solidFill>
          <a:ln w="12700">
            <a:solidFill>
              <a:srgbClr val="F4F6F9"/>
            </a:solidFill>
            <a:prstDash val="solid"/>
          </a:ln>
        </p:spPr>
      </p:sp>
      <p:sp>
        <p:nvSpPr>
          <p:cNvPr id="11" name="Shape 8"/>
          <p:cNvSpPr/>
          <p:nvPr/>
        </p:nvSpPr>
        <p:spPr>
          <a:xfrm>
            <a:off x="4526280" y="3108960"/>
            <a:ext cx="502920" cy="502920"/>
          </a:xfrm>
          <a:prstGeom prst="ellipse">
            <a:avLst/>
          </a:prstGeom>
          <a:solidFill>
            <a:srgbClr val="F2A541"/>
          </a:solidFill>
          <a:ln w="12700">
            <a:solidFill>
              <a:srgbClr val="F2A541"/>
            </a:solidFill>
            <a:prstDash val="solid"/>
          </a:ln>
        </p:spPr>
      </p:sp>
      <p:pic>
        <p:nvPicPr>
          <p:cNvPr id="12" name="Image 1" descr="preencoded.png">    </p:cNvPr>
          <p:cNvPicPr>
            <a:picLocks noChangeAspect="1"/>
          </p:cNvPicPr>
          <p:nvPr/>
        </p:nvPicPr>
        <p:blipFill>
          <a:blip r:embed="rId2"/>
          <a:stretch>
            <a:fillRect/>
          </a:stretch>
        </p:blipFill>
        <p:spPr>
          <a:xfrm>
            <a:off x="4646981" y="3229661"/>
            <a:ext cx="261518" cy="261518"/>
          </a:xfrm>
          <a:prstGeom prst="rect">
            <a:avLst/>
          </a:prstGeom>
        </p:spPr>
      </p:pic>
      <p:sp>
        <p:nvSpPr>
          <p:cNvPr id="13" name="Text 9"/>
          <p:cNvSpPr txBox="1"/>
          <p:nvPr/>
        </p:nvSpPr>
        <p:spPr>
          <a:xfrm>
            <a:off x="5166360" y="3081528"/>
            <a:ext cx="242316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Semantic layer</a:t>
            </a:r>
            <a:endParaRPr lang="en-US" sz="1700" dirty="0"/>
          </a:p>
        </p:txBody>
      </p:sp>
      <p:sp>
        <p:nvSpPr>
          <p:cNvPr id="14" name="Text 10"/>
          <p:cNvSpPr txBox="1"/>
          <p:nvPr/>
        </p:nvSpPr>
        <p:spPr>
          <a:xfrm>
            <a:off x="4572000" y="3749040"/>
            <a:ext cx="2971800" cy="1325880"/>
          </a:xfrm>
          <a:prstGeom prst="rect">
            <a:avLst/>
          </a:prstGeom>
          <a:noFill/>
          <a:ln/>
        </p:spPr>
        <p:txBody>
          <a:bodyPr wrap="square" lIns="0" tIns="0" rIns="0" bIns="0" rtlCol="0" anchor="t"/>
          <a:lstStyle/>
          <a:p>
            <a:pPr indent="0" marL="0">
              <a:buNone/>
            </a:pPr>
            <a:r>
              <a:rPr lang="en-US" sz="1450" dirty="0">
                <a:solidFill>
                  <a:srgbClr val="1F2937"/>
                </a:solidFill>
                <a:latin typeface="Calibri" pitchFamily="34" charset="0"/>
                <a:ea typeface="Calibri" pitchFamily="34" charset="-122"/>
                <a:cs typeface="Calibri" pitchFamily="34" charset="-120"/>
              </a:rPr>
              <a:t>Apache Ossie: how tables join, which columns are measures and dimensions, how metrics are defined.</a:t>
            </a:r>
            <a:endParaRPr lang="en-US" sz="1450" dirty="0"/>
          </a:p>
        </p:txBody>
      </p:sp>
      <p:sp>
        <p:nvSpPr>
          <p:cNvPr id="15" name="Shape 11"/>
          <p:cNvSpPr/>
          <p:nvPr/>
        </p:nvSpPr>
        <p:spPr>
          <a:xfrm>
            <a:off x="8046720" y="2880360"/>
            <a:ext cx="3474720" cy="2331720"/>
          </a:xfrm>
          <a:prstGeom prst="roundRect">
            <a:avLst>
              <a:gd name="adj" fmla="val 3137"/>
            </a:avLst>
          </a:prstGeom>
          <a:solidFill>
            <a:srgbClr val="F4F6F9"/>
          </a:solidFill>
          <a:ln w="12700">
            <a:solidFill>
              <a:srgbClr val="F4F6F9"/>
            </a:solidFill>
            <a:prstDash val="solid"/>
          </a:ln>
        </p:spPr>
      </p:sp>
      <p:sp>
        <p:nvSpPr>
          <p:cNvPr id="16" name="Shape 12"/>
          <p:cNvSpPr/>
          <p:nvPr/>
        </p:nvSpPr>
        <p:spPr>
          <a:xfrm>
            <a:off x="8275320" y="3108960"/>
            <a:ext cx="502920" cy="502920"/>
          </a:xfrm>
          <a:prstGeom prst="ellipse">
            <a:avLst/>
          </a:prstGeom>
          <a:solidFill>
            <a:srgbClr val="F2A541"/>
          </a:solidFill>
          <a:ln w="12700">
            <a:solidFill>
              <a:srgbClr val="F2A541"/>
            </a:solidFill>
            <a:prstDash val="solid"/>
          </a:ln>
        </p:spPr>
      </p:sp>
      <p:pic>
        <p:nvPicPr>
          <p:cNvPr id="17" name="Image 2" descr="preencoded.png">    </p:cNvPr>
          <p:cNvPicPr>
            <a:picLocks noChangeAspect="1"/>
          </p:cNvPicPr>
          <p:nvPr/>
        </p:nvPicPr>
        <p:blipFill>
          <a:blip r:embed="rId3"/>
          <a:stretch>
            <a:fillRect/>
          </a:stretch>
        </p:blipFill>
        <p:spPr>
          <a:xfrm>
            <a:off x="8396021" y="3229661"/>
            <a:ext cx="261518" cy="261518"/>
          </a:xfrm>
          <a:prstGeom prst="rect">
            <a:avLst/>
          </a:prstGeom>
        </p:spPr>
      </p:pic>
      <p:sp>
        <p:nvSpPr>
          <p:cNvPr id="18" name="Text 13"/>
          <p:cNvSpPr txBox="1"/>
          <p:nvPr/>
        </p:nvSpPr>
        <p:spPr>
          <a:xfrm>
            <a:off x="8915400" y="3081528"/>
            <a:ext cx="242316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Ontology</a:t>
            </a:r>
            <a:endParaRPr lang="en-US" sz="1700" dirty="0"/>
          </a:p>
        </p:txBody>
      </p:sp>
      <p:sp>
        <p:nvSpPr>
          <p:cNvPr id="19" name="Text 14"/>
          <p:cNvSpPr txBox="1"/>
          <p:nvPr/>
        </p:nvSpPr>
        <p:spPr>
          <a:xfrm>
            <a:off x="8321040" y="3749040"/>
            <a:ext cx="2971800" cy="1325880"/>
          </a:xfrm>
          <a:prstGeom prst="rect">
            <a:avLst/>
          </a:prstGeom>
          <a:noFill/>
          <a:ln/>
        </p:spPr>
        <p:txBody>
          <a:bodyPr wrap="square" lIns="0" tIns="0" rIns="0" bIns="0" rtlCol="0" anchor="t"/>
          <a:lstStyle/>
          <a:p>
            <a:pPr indent="0" marL="0">
              <a:buNone/>
            </a:pPr>
            <a:r>
              <a:rPr lang="en-US" sz="1450" dirty="0">
                <a:solidFill>
                  <a:srgbClr val="1F2937"/>
                </a:solidFill>
                <a:latin typeface="Calibri" pitchFamily="34" charset="0"/>
                <a:ea typeface="Calibri" pitchFamily="34" charset="-122"/>
                <a:cs typeface="Calibri" pitchFamily="34" charset="-120"/>
              </a:rPr>
              <a:t>Concepts, relationships and rules of the domain: the layer a question-answering agent consults first. (In design.)</a:t>
            </a:r>
            <a:endParaRPr lang="en-US" sz="1450" dirty="0"/>
          </a:p>
        </p:txBody>
      </p:sp>
      <p:sp>
        <p:nvSpPr>
          <p:cNvPr id="20" name="Text 15"/>
          <p:cNvSpPr txBox="1"/>
          <p:nvPr/>
        </p:nvSpPr>
        <p:spPr>
          <a:xfrm>
            <a:off x="548640" y="5440680"/>
            <a:ext cx="11064240" cy="548640"/>
          </a:xfrm>
          <a:prstGeom prst="rect">
            <a:avLst/>
          </a:prstGeom>
          <a:noFill/>
          <a:ln/>
        </p:spPr>
        <p:txBody>
          <a:bodyPr wrap="square" lIns="0" tIns="0" rIns="0" bIns="0" rtlCol="0" anchor="t"/>
          <a:lstStyle/>
          <a:p>
            <a:pPr algn="l" indent="0" marL="0">
              <a:spcAft>
                <a:spcPts val="400"/>
              </a:spcAft>
              <a:buNone/>
            </a:pPr>
            <a:r>
              <a:rPr lang="en-US" sz="1500" i="1" dirty="0">
                <a:solidFill>
                  <a:srgbClr val="5B6472"/>
                </a:solidFill>
                <a:latin typeface="Calibri" pitchFamily="34" charset="0"/>
                <a:ea typeface="Calibri" pitchFamily="34" charset="-122"/>
                <a:cs typeface="Calibri" pitchFamily="34" charset="-120"/>
              </a:rPr>
              <a:t>Three views of the same knowledge at different levels of formality: generated together, reviewed together, versioned together.</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3200" b="1" dirty="0">
                <a:solidFill>
                  <a:srgbClr val="0E1A2B"/>
                </a:solidFill>
                <a:latin typeface="Cambria" pitchFamily="34" charset="0"/>
                <a:ea typeface="Cambria" pitchFamily="34" charset="-122"/>
                <a:cs typeface="Cambria" pitchFamily="34" charset="-120"/>
              </a:rPr>
              <a:t>Design principles</a:t>
            </a:r>
            <a:endParaRPr lang="en-US" sz="3200" dirty="0"/>
          </a:p>
        </p:txBody>
      </p:sp>
      <p:sp>
        <p:nvSpPr>
          <p:cNvPr id="3" name="Shape 1"/>
          <p:cNvSpPr/>
          <p:nvPr/>
        </p:nvSpPr>
        <p:spPr>
          <a:xfrm>
            <a:off x="548640" y="1371600"/>
            <a:ext cx="3474720" cy="2286000"/>
          </a:xfrm>
          <a:prstGeom prst="roundRect">
            <a:avLst>
              <a:gd name="adj" fmla="val 3200"/>
            </a:avLst>
          </a:prstGeom>
          <a:solidFill>
            <a:srgbClr val="F4F6F9"/>
          </a:solidFill>
          <a:ln w="12700">
            <a:solidFill>
              <a:srgbClr val="F4F6F9"/>
            </a:solidFill>
            <a:prstDash val="solid"/>
          </a:ln>
        </p:spPr>
      </p:sp>
      <p:sp>
        <p:nvSpPr>
          <p:cNvPr id="4" name="Shape 2"/>
          <p:cNvSpPr/>
          <p:nvPr/>
        </p:nvSpPr>
        <p:spPr>
          <a:xfrm>
            <a:off x="777240" y="1600200"/>
            <a:ext cx="502920" cy="502920"/>
          </a:xfrm>
          <a:prstGeom prst="ellipse">
            <a:avLst/>
          </a:prstGeom>
          <a:solidFill>
            <a:srgbClr val="F2A541"/>
          </a:solidFill>
          <a:ln w="12700">
            <a:solidFill>
              <a:srgbClr val="F2A541"/>
            </a:solidFill>
            <a:prstDash val="solid"/>
          </a:ln>
        </p:spPr>
      </p:sp>
      <p:pic>
        <p:nvPicPr>
          <p:cNvPr id="5" name="Image 0" descr="preencoded.png">    </p:cNvPr>
          <p:cNvPicPr>
            <a:picLocks noChangeAspect="1"/>
          </p:cNvPicPr>
          <p:nvPr/>
        </p:nvPicPr>
        <p:blipFill>
          <a:blip r:embed="rId1"/>
          <a:stretch>
            <a:fillRect/>
          </a:stretch>
        </p:blipFill>
        <p:spPr>
          <a:xfrm>
            <a:off x="897941" y="1720901"/>
            <a:ext cx="261518" cy="261518"/>
          </a:xfrm>
          <a:prstGeom prst="rect">
            <a:avLst/>
          </a:prstGeom>
        </p:spPr>
      </p:pic>
      <p:sp>
        <p:nvSpPr>
          <p:cNvPr id="6" name="Text 3"/>
          <p:cNvSpPr txBox="1"/>
          <p:nvPr/>
        </p:nvSpPr>
        <p:spPr>
          <a:xfrm>
            <a:off x="1417320" y="1572768"/>
            <a:ext cx="242316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Propose, don't decide</a:t>
            </a:r>
            <a:endParaRPr lang="en-US" sz="1700" dirty="0"/>
          </a:p>
        </p:txBody>
      </p:sp>
      <p:sp>
        <p:nvSpPr>
          <p:cNvPr id="7" name="Text 4"/>
          <p:cNvSpPr txBox="1"/>
          <p:nvPr/>
        </p:nvSpPr>
        <p:spPr>
          <a:xfrm>
            <a:off x="822960" y="2240280"/>
            <a:ext cx="2971800" cy="128016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Every artifact carries a confidence score and rationale. Nothing is published without a human.</a:t>
            </a:r>
            <a:endParaRPr lang="en-US" sz="1400" dirty="0"/>
          </a:p>
        </p:txBody>
      </p:sp>
      <p:sp>
        <p:nvSpPr>
          <p:cNvPr id="8" name="Shape 5"/>
          <p:cNvSpPr/>
          <p:nvPr/>
        </p:nvSpPr>
        <p:spPr>
          <a:xfrm>
            <a:off x="4297680" y="1371600"/>
            <a:ext cx="3474720" cy="2286000"/>
          </a:xfrm>
          <a:prstGeom prst="roundRect">
            <a:avLst>
              <a:gd name="adj" fmla="val 3200"/>
            </a:avLst>
          </a:prstGeom>
          <a:solidFill>
            <a:srgbClr val="F4F6F9"/>
          </a:solidFill>
          <a:ln w="12700">
            <a:solidFill>
              <a:srgbClr val="F4F6F9"/>
            </a:solidFill>
            <a:prstDash val="solid"/>
          </a:ln>
        </p:spPr>
      </p:sp>
      <p:sp>
        <p:nvSpPr>
          <p:cNvPr id="9" name="Shape 6"/>
          <p:cNvSpPr/>
          <p:nvPr/>
        </p:nvSpPr>
        <p:spPr>
          <a:xfrm>
            <a:off x="4526280" y="1600200"/>
            <a:ext cx="502920" cy="502920"/>
          </a:xfrm>
          <a:prstGeom prst="ellipse">
            <a:avLst/>
          </a:prstGeom>
          <a:solidFill>
            <a:srgbClr val="F2A541"/>
          </a:solidFill>
          <a:ln w="12700">
            <a:solidFill>
              <a:srgbClr val="F2A541"/>
            </a:solidFill>
            <a:prstDash val="solid"/>
          </a:ln>
        </p:spPr>
      </p:sp>
      <p:pic>
        <p:nvPicPr>
          <p:cNvPr id="10" name="Image 1" descr="preencoded.png">    </p:cNvPr>
          <p:cNvPicPr>
            <a:picLocks noChangeAspect="1"/>
          </p:cNvPicPr>
          <p:nvPr/>
        </p:nvPicPr>
        <p:blipFill>
          <a:blip r:embed="rId2"/>
          <a:stretch>
            <a:fillRect/>
          </a:stretch>
        </p:blipFill>
        <p:spPr>
          <a:xfrm>
            <a:off x="4646981" y="1720901"/>
            <a:ext cx="261518" cy="261518"/>
          </a:xfrm>
          <a:prstGeom prst="rect">
            <a:avLst/>
          </a:prstGeom>
        </p:spPr>
      </p:pic>
      <p:sp>
        <p:nvSpPr>
          <p:cNvPr id="11" name="Text 7"/>
          <p:cNvSpPr txBox="1"/>
          <p:nvPr/>
        </p:nvSpPr>
        <p:spPr>
          <a:xfrm>
            <a:off x="5166360" y="1572768"/>
            <a:ext cx="242316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Evidence first, LLM second</a:t>
            </a:r>
            <a:endParaRPr lang="en-US" sz="1700" dirty="0"/>
          </a:p>
        </p:txBody>
      </p:sp>
      <p:sp>
        <p:nvSpPr>
          <p:cNvPr id="12" name="Text 8"/>
          <p:cNvSpPr txBox="1"/>
          <p:nvPr/>
        </p:nvSpPr>
        <p:spPr>
          <a:xfrm>
            <a:off x="4572000" y="2240280"/>
            <a:ext cx="2971800" cy="128016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Naming conventions, key-overlap statistics and query history do most of the work. The LLM handles judgement.</a:t>
            </a:r>
            <a:endParaRPr lang="en-US" sz="1400" dirty="0"/>
          </a:p>
        </p:txBody>
      </p:sp>
      <p:sp>
        <p:nvSpPr>
          <p:cNvPr id="13" name="Shape 9"/>
          <p:cNvSpPr/>
          <p:nvPr/>
        </p:nvSpPr>
        <p:spPr>
          <a:xfrm>
            <a:off x="8046720" y="1371600"/>
            <a:ext cx="3474720" cy="2286000"/>
          </a:xfrm>
          <a:prstGeom prst="roundRect">
            <a:avLst>
              <a:gd name="adj" fmla="val 3200"/>
            </a:avLst>
          </a:prstGeom>
          <a:solidFill>
            <a:srgbClr val="F4F6F9"/>
          </a:solidFill>
          <a:ln w="12700">
            <a:solidFill>
              <a:srgbClr val="F4F6F9"/>
            </a:solidFill>
            <a:prstDash val="solid"/>
          </a:ln>
        </p:spPr>
      </p:sp>
      <p:sp>
        <p:nvSpPr>
          <p:cNvPr id="14" name="Shape 10"/>
          <p:cNvSpPr/>
          <p:nvPr/>
        </p:nvSpPr>
        <p:spPr>
          <a:xfrm>
            <a:off x="8275320" y="1600200"/>
            <a:ext cx="502920" cy="502920"/>
          </a:xfrm>
          <a:prstGeom prst="ellipse">
            <a:avLst/>
          </a:prstGeom>
          <a:solidFill>
            <a:srgbClr val="F2A541"/>
          </a:solidFill>
          <a:ln w="12700">
            <a:solidFill>
              <a:srgbClr val="F2A541"/>
            </a:solidFill>
            <a:prstDash val="solid"/>
          </a:ln>
        </p:spPr>
      </p:sp>
      <p:pic>
        <p:nvPicPr>
          <p:cNvPr id="15" name="Image 2" descr="preencoded.png">    </p:cNvPr>
          <p:cNvPicPr>
            <a:picLocks noChangeAspect="1"/>
          </p:cNvPicPr>
          <p:nvPr/>
        </p:nvPicPr>
        <p:blipFill>
          <a:blip r:embed="rId3"/>
          <a:stretch>
            <a:fillRect/>
          </a:stretch>
        </p:blipFill>
        <p:spPr>
          <a:xfrm>
            <a:off x="8396021" y="1720901"/>
            <a:ext cx="261518" cy="261518"/>
          </a:xfrm>
          <a:prstGeom prst="rect">
            <a:avLst/>
          </a:prstGeom>
        </p:spPr>
      </p:pic>
      <p:sp>
        <p:nvSpPr>
          <p:cNvPr id="16" name="Text 11"/>
          <p:cNvSpPr txBox="1"/>
          <p:nvPr/>
        </p:nvSpPr>
        <p:spPr>
          <a:xfrm>
            <a:off x="8915400" y="1572768"/>
            <a:ext cx="242316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Open formats</a:t>
            </a:r>
            <a:endParaRPr lang="en-US" sz="1700" dirty="0"/>
          </a:p>
        </p:txBody>
      </p:sp>
      <p:sp>
        <p:nvSpPr>
          <p:cNvPr id="17" name="Text 12"/>
          <p:cNvSpPr txBox="1"/>
          <p:nvPr/>
        </p:nvSpPr>
        <p:spPr>
          <a:xfrm>
            <a:off x="8321040" y="2240280"/>
            <a:ext cx="2971800" cy="128016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Atlas and Ossie JSON/YAML. No Helios-proprietary model is the source of truth.</a:t>
            </a:r>
            <a:endParaRPr lang="en-US" sz="1400" dirty="0"/>
          </a:p>
        </p:txBody>
      </p:sp>
      <p:sp>
        <p:nvSpPr>
          <p:cNvPr id="18" name="Shape 13"/>
          <p:cNvSpPr/>
          <p:nvPr/>
        </p:nvSpPr>
        <p:spPr>
          <a:xfrm>
            <a:off x="548640" y="3886200"/>
            <a:ext cx="3474720" cy="2286000"/>
          </a:xfrm>
          <a:prstGeom prst="roundRect">
            <a:avLst>
              <a:gd name="adj" fmla="val 3200"/>
            </a:avLst>
          </a:prstGeom>
          <a:solidFill>
            <a:srgbClr val="F4F6F9"/>
          </a:solidFill>
          <a:ln w="12700">
            <a:solidFill>
              <a:srgbClr val="F4F6F9"/>
            </a:solidFill>
            <a:prstDash val="solid"/>
          </a:ln>
        </p:spPr>
      </p:sp>
      <p:sp>
        <p:nvSpPr>
          <p:cNvPr id="19" name="Shape 14"/>
          <p:cNvSpPr/>
          <p:nvPr/>
        </p:nvSpPr>
        <p:spPr>
          <a:xfrm>
            <a:off x="777240" y="4114800"/>
            <a:ext cx="502920" cy="502920"/>
          </a:xfrm>
          <a:prstGeom prst="ellipse">
            <a:avLst/>
          </a:prstGeom>
          <a:solidFill>
            <a:srgbClr val="F2A541"/>
          </a:solidFill>
          <a:ln w="12700">
            <a:solidFill>
              <a:srgbClr val="F2A541"/>
            </a:solidFill>
            <a:prstDash val="solid"/>
          </a:ln>
        </p:spPr>
      </p:sp>
      <p:pic>
        <p:nvPicPr>
          <p:cNvPr id="20" name="Image 3" descr="preencoded.png">    </p:cNvPr>
          <p:cNvPicPr>
            <a:picLocks noChangeAspect="1"/>
          </p:cNvPicPr>
          <p:nvPr/>
        </p:nvPicPr>
        <p:blipFill>
          <a:blip r:embed="rId4"/>
          <a:stretch>
            <a:fillRect/>
          </a:stretch>
        </p:blipFill>
        <p:spPr>
          <a:xfrm>
            <a:off x="897941" y="4235501"/>
            <a:ext cx="261518" cy="261518"/>
          </a:xfrm>
          <a:prstGeom prst="rect">
            <a:avLst/>
          </a:prstGeom>
        </p:spPr>
      </p:pic>
      <p:sp>
        <p:nvSpPr>
          <p:cNvPr id="21" name="Text 15"/>
          <p:cNvSpPr txBox="1"/>
          <p:nvPr/>
        </p:nvSpPr>
        <p:spPr>
          <a:xfrm>
            <a:off x="1417320" y="4087368"/>
            <a:ext cx="242316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Engine-agnostic</a:t>
            </a:r>
            <a:endParaRPr lang="en-US" sz="1700" dirty="0"/>
          </a:p>
        </p:txBody>
      </p:sp>
      <p:sp>
        <p:nvSpPr>
          <p:cNvPr id="22" name="Text 16"/>
          <p:cNvSpPr txBox="1"/>
          <p:nvPr/>
        </p:nvSpPr>
        <p:spPr>
          <a:xfrm>
            <a:off x="822960" y="4754880"/>
            <a:ext cx="2971800" cy="128016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Reads the Hive Metastore and Iceberg; SQL is a canonical AST transpiled per engine with SQLGlot. Impala first.</a:t>
            </a:r>
            <a:endParaRPr lang="en-US" sz="1400" dirty="0"/>
          </a:p>
        </p:txBody>
      </p:sp>
      <p:sp>
        <p:nvSpPr>
          <p:cNvPr id="23" name="Shape 17"/>
          <p:cNvSpPr/>
          <p:nvPr/>
        </p:nvSpPr>
        <p:spPr>
          <a:xfrm>
            <a:off x="4297680" y="3886200"/>
            <a:ext cx="3474720" cy="2286000"/>
          </a:xfrm>
          <a:prstGeom prst="roundRect">
            <a:avLst>
              <a:gd name="adj" fmla="val 3200"/>
            </a:avLst>
          </a:prstGeom>
          <a:solidFill>
            <a:srgbClr val="F4F6F9"/>
          </a:solidFill>
          <a:ln w="12700">
            <a:solidFill>
              <a:srgbClr val="F4F6F9"/>
            </a:solidFill>
            <a:prstDash val="solid"/>
          </a:ln>
        </p:spPr>
      </p:sp>
      <p:sp>
        <p:nvSpPr>
          <p:cNvPr id="24" name="Shape 18"/>
          <p:cNvSpPr/>
          <p:nvPr/>
        </p:nvSpPr>
        <p:spPr>
          <a:xfrm>
            <a:off x="4526280" y="4114800"/>
            <a:ext cx="502920" cy="502920"/>
          </a:xfrm>
          <a:prstGeom prst="ellipse">
            <a:avLst/>
          </a:prstGeom>
          <a:solidFill>
            <a:srgbClr val="F2A541"/>
          </a:solidFill>
          <a:ln w="12700">
            <a:solidFill>
              <a:srgbClr val="F2A541"/>
            </a:solidFill>
            <a:prstDash val="solid"/>
          </a:ln>
        </p:spPr>
      </p:sp>
      <p:pic>
        <p:nvPicPr>
          <p:cNvPr id="25" name="Image 4" descr="preencoded.png">    </p:cNvPr>
          <p:cNvPicPr>
            <a:picLocks noChangeAspect="1"/>
          </p:cNvPicPr>
          <p:nvPr/>
        </p:nvPicPr>
        <p:blipFill>
          <a:blip r:embed="rId5"/>
          <a:stretch>
            <a:fillRect/>
          </a:stretch>
        </p:blipFill>
        <p:spPr>
          <a:xfrm>
            <a:off x="4646981" y="4235501"/>
            <a:ext cx="261518" cy="261518"/>
          </a:xfrm>
          <a:prstGeom prst="rect">
            <a:avLst/>
          </a:prstGeom>
        </p:spPr>
      </p:pic>
      <p:sp>
        <p:nvSpPr>
          <p:cNvPr id="26" name="Text 19"/>
          <p:cNvSpPr txBox="1"/>
          <p:nvPr/>
        </p:nvSpPr>
        <p:spPr>
          <a:xfrm>
            <a:off x="5166360" y="4087368"/>
            <a:ext cx="242316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Self-hosted</a:t>
            </a:r>
            <a:endParaRPr lang="en-US" sz="1700" dirty="0"/>
          </a:p>
        </p:txBody>
      </p:sp>
      <p:sp>
        <p:nvSpPr>
          <p:cNvPr id="27" name="Text 20"/>
          <p:cNvSpPr txBox="1"/>
          <p:nvPr/>
        </p:nvSpPr>
        <p:spPr>
          <a:xfrm>
            <a:off x="4572000" y="4754880"/>
            <a:ext cx="2971800" cy="128016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Models, runtime and applications run inside one Cloudera AI Workbench project.</a:t>
            </a:r>
            <a:endParaRPr lang="en-US" sz="1400" dirty="0"/>
          </a:p>
        </p:txBody>
      </p:sp>
      <p:sp>
        <p:nvSpPr>
          <p:cNvPr id="28" name="Shape 21"/>
          <p:cNvSpPr/>
          <p:nvPr/>
        </p:nvSpPr>
        <p:spPr>
          <a:xfrm>
            <a:off x="8046720" y="3886200"/>
            <a:ext cx="3474720" cy="2286000"/>
          </a:xfrm>
          <a:prstGeom prst="roundRect">
            <a:avLst>
              <a:gd name="adj" fmla="val 3200"/>
            </a:avLst>
          </a:prstGeom>
          <a:solidFill>
            <a:srgbClr val="F4F6F9"/>
          </a:solidFill>
          <a:ln w="12700">
            <a:solidFill>
              <a:srgbClr val="F4F6F9"/>
            </a:solidFill>
            <a:prstDash val="solid"/>
          </a:ln>
        </p:spPr>
      </p:sp>
      <p:sp>
        <p:nvSpPr>
          <p:cNvPr id="29" name="Shape 22"/>
          <p:cNvSpPr/>
          <p:nvPr/>
        </p:nvSpPr>
        <p:spPr>
          <a:xfrm>
            <a:off x="8275320" y="4114800"/>
            <a:ext cx="502920" cy="502920"/>
          </a:xfrm>
          <a:prstGeom prst="ellipse">
            <a:avLst/>
          </a:prstGeom>
          <a:solidFill>
            <a:srgbClr val="F2A541"/>
          </a:solidFill>
          <a:ln w="12700">
            <a:solidFill>
              <a:srgbClr val="F2A541"/>
            </a:solidFill>
            <a:prstDash val="solid"/>
          </a:ln>
        </p:spPr>
      </p:sp>
      <p:pic>
        <p:nvPicPr>
          <p:cNvPr id="30" name="Image 5" descr="preencoded.png">    </p:cNvPr>
          <p:cNvPicPr>
            <a:picLocks noChangeAspect="1"/>
          </p:cNvPicPr>
          <p:nvPr/>
        </p:nvPicPr>
        <p:blipFill>
          <a:blip r:embed="rId6"/>
          <a:stretch>
            <a:fillRect/>
          </a:stretch>
        </p:blipFill>
        <p:spPr>
          <a:xfrm>
            <a:off x="8396021" y="4235501"/>
            <a:ext cx="261518" cy="261518"/>
          </a:xfrm>
          <a:prstGeom prst="rect">
            <a:avLst/>
          </a:prstGeom>
        </p:spPr>
      </p:pic>
      <p:sp>
        <p:nvSpPr>
          <p:cNvPr id="31" name="Text 23"/>
          <p:cNvSpPr txBox="1"/>
          <p:nvPr/>
        </p:nvSpPr>
        <p:spPr>
          <a:xfrm>
            <a:off x="8915400" y="4087368"/>
            <a:ext cx="242316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Governed</a:t>
            </a:r>
            <a:endParaRPr lang="en-US" sz="1700" dirty="0"/>
          </a:p>
        </p:txBody>
      </p:sp>
      <p:sp>
        <p:nvSpPr>
          <p:cNvPr id="32" name="Text 24"/>
          <p:cNvSpPr txBox="1"/>
          <p:nvPr/>
        </p:nvSpPr>
        <p:spPr>
          <a:xfrm>
            <a:off x="8321040" y="4754880"/>
            <a:ext cx="2971800" cy="128016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Ranger applies to every query; Atlas attributes every glossary change; the MCP server is not a bypass.</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3200" b="1" dirty="0">
                <a:solidFill>
                  <a:srgbClr val="0E1A2B"/>
                </a:solidFill>
                <a:latin typeface="Cambria" pitchFamily="34" charset="0"/>
                <a:ea typeface="Cambria" pitchFamily="34" charset="-122"/>
                <a:cs typeface="Cambria" pitchFamily="34" charset="-120"/>
              </a:rPr>
              <a:t>Architecture on Cloudera</a:t>
            </a:r>
            <a:endParaRPr lang="en-US" sz="3200" dirty="0"/>
          </a:p>
        </p:txBody>
      </p:sp>
      <p:sp>
        <p:nvSpPr>
          <p:cNvPr id="3" name="Shape 1"/>
          <p:cNvSpPr/>
          <p:nvPr/>
        </p:nvSpPr>
        <p:spPr>
          <a:xfrm>
            <a:off x="548640" y="1463040"/>
            <a:ext cx="2194560" cy="4480560"/>
          </a:xfrm>
          <a:prstGeom prst="roundRect">
            <a:avLst>
              <a:gd name="adj" fmla="val 3333"/>
            </a:avLst>
          </a:prstGeom>
          <a:solidFill>
            <a:srgbClr val="F4F6F9"/>
          </a:solidFill>
          <a:ln w="12700">
            <a:solidFill>
              <a:srgbClr val="F4F6F9"/>
            </a:solidFill>
            <a:prstDash val="solid"/>
          </a:ln>
        </p:spPr>
      </p:sp>
      <p:sp>
        <p:nvSpPr>
          <p:cNvPr id="4" name="Shape 2"/>
          <p:cNvSpPr/>
          <p:nvPr/>
        </p:nvSpPr>
        <p:spPr>
          <a:xfrm>
            <a:off x="1325880" y="1691640"/>
            <a:ext cx="640080" cy="640080"/>
          </a:xfrm>
          <a:prstGeom prst="ellipse">
            <a:avLst/>
          </a:prstGeom>
          <a:solidFill>
            <a:srgbClr val="F2A541"/>
          </a:solidFill>
          <a:ln w="12700">
            <a:solidFill>
              <a:srgbClr val="F2A541"/>
            </a:solidFill>
            <a:prstDash val="solid"/>
          </a:ln>
        </p:spPr>
      </p:sp>
      <p:pic>
        <p:nvPicPr>
          <p:cNvPr id="5" name="Image 0" descr="preencoded.png">    </p:cNvPr>
          <p:cNvPicPr>
            <a:picLocks noChangeAspect="1"/>
          </p:cNvPicPr>
          <p:nvPr/>
        </p:nvPicPr>
        <p:blipFill>
          <a:blip r:embed="rId1"/>
          <a:stretch>
            <a:fillRect/>
          </a:stretch>
        </p:blipFill>
        <p:spPr>
          <a:xfrm>
            <a:off x="1479499" y="1845259"/>
            <a:ext cx="332842" cy="332842"/>
          </a:xfrm>
          <a:prstGeom prst="rect">
            <a:avLst/>
          </a:prstGeom>
        </p:spPr>
      </p:pic>
      <p:sp>
        <p:nvSpPr>
          <p:cNvPr id="6" name="Text 3"/>
          <p:cNvSpPr txBox="1"/>
          <p:nvPr/>
        </p:nvSpPr>
        <p:spPr>
          <a:xfrm>
            <a:off x="640080" y="2423160"/>
            <a:ext cx="2011680" cy="457200"/>
          </a:xfrm>
          <a:prstGeom prst="rect">
            <a:avLst/>
          </a:prstGeom>
          <a:noFill/>
          <a:ln/>
        </p:spPr>
        <p:txBody>
          <a:bodyPr wrap="square" lIns="0" tIns="0" rIns="0" bIns="0" rtlCol="0" anchor="t"/>
          <a:lstStyle/>
          <a:p>
            <a:pPr algn="ctr" indent="0" marL="0">
              <a:spcAft>
                <a:spcPts val="400"/>
              </a:spcAft>
              <a:buNone/>
            </a:pPr>
            <a:r>
              <a:rPr lang="en-US" sz="1500" b="1" dirty="0">
                <a:solidFill>
                  <a:srgbClr val="1F2937"/>
                </a:solidFill>
                <a:latin typeface="Calibri" pitchFamily="34" charset="0"/>
                <a:ea typeface="Calibri" pitchFamily="34" charset="-122"/>
                <a:cs typeface="Calibri" pitchFamily="34" charset="-120"/>
              </a:rPr>
              <a:t>Users &amp; AI agents</a:t>
            </a:r>
            <a:endParaRPr lang="en-US" sz="1500" dirty="0"/>
          </a:p>
        </p:txBody>
      </p:sp>
      <p:sp>
        <p:nvSpPr>
          <p:cNvPr id="7" name="Text 4"/>
          <p:cNvSpPr txBox="1"/>
          <p:nvPr/>
        </p:nvSpPr>
        <p:spPr>
          <a:xfrm>
            <a:off x="731520" y="2926080"/>
            <a:ext cx="1828800" cy="2560320"/>
          </a:xfrm>
          <a:prstGeom prst="rect">
            <a:avLst/>
          </a:prstGeom>
          <a:noFill/>
          <a:ln/>
        </p:spPr>
        <p:txBody>
          <a:bodyPr wrap="square" lIns="0" tIns="0" rIns="0" bIns="0" rtlCol="0" anchor="t"/>
          <a:lstStyle/>
          <a:p>
            <a:pPr algn="ctr" indent="0" marL="0">
              <a:spcAft>
                <a:spcPts val="400"/>
              </a:spcAft>
              <a:buNone/>
            </a:pPr>
            <a:r>
              <a:rPr lang="en-US" sz="1250" dirty="0">
                <a:solidFill>
                  <a:srgbClr val="1F2937"/>
                </a:solidFill>
                <a:latin typeface="Calibri" pitchFamily="34" charset="0"/>
                <a:ea typeface="Calibri" pitchFamily="34" charset="-122"/>
                <a:cs typeface="Calibri" pitchFamily="34" charset="-120"/>
              </a:rPr>
              <a:t>Browser via Cloudera SSO; external agents via MCP. Only the Workbench public endpoint is exposed.</a:t>
            </a:r>
            <a:endParaRPr lang="en-US" sz="1250" dirty="0"/>
          </a:p>
        </p:txBody>
      </p:sp>
      <p:sp>
        <p:nvSpPr>
          <p:cNvPr id="8" name="Shape 5"/>
          <p:cNvSpPr/>
          <p:nvPr/>
        </p:nvSpPr>
        <p:spPr>
          <a:xfrm>
            <a:off x="3108960" y="1463040"/>
            <a:ext cx="4754880" cy="4480560"/>
          </a:xfrm>
          <a:prstGeom prst="roundRect">
            <a:avLst>
              <a:gd name="adj" fmla="val 1633"/>
            </a:avLst>
          </a:prstGeom>
          <a:solidFill>
            <a:srgbClr val="0E1A2B"/>
          </a:solidFill>
          <a:ln w="12700">
            <a:solidFill>
              <a:srgbClr val="0E1A2B"/>
            </a:solidFill>
            <a:prstDash val="solid"/>
          </a:ln>
        </p:spPr>
      </p:sp>
      <p:sp>
        <p:nvSpPr>
          <p:cNvPr id="9" name="Text 6"/>
          <p:cNvSpPr txBox="1"/>
          <p:nvPr/>
        </p:nvSpPr>
        <p:spPr>
          <a:xfrm>
            <a:off x="3291840" y="1572768"/>
            <a:ext cx="4389120" cy="411480"/>
          </a:xfrm>
          <a:prstGeom prst="rect">
            <a:avLst/>
          </a:prstGeom>
          <a:noFill/>
          <a:ln/>
        </p:spPr>
        <p:txBody>
          <a:bodyPr wrap="square" lIns="0" tIns="0" rIns="0" bIns="0" rtlCol="0" anchor="t"/>
          <a:lstStyle/>
          <a:p>
            <a:pPr algn="l" indent="0" marL="0">
              <a:spcAft>
                <a:spcPts val="400"/>
              </a:spcAft>
              <a:buNone/>
            </a:pPr>
            <a:r>
              <a:rPr lang="en-US" sz="1500" b="1" dirty="0">
                <a:solidFill>
                  <a:srgbClr val="F2A541"/>
                </a:solidFill>
                <a:latin typeface="Calibri" pitchFamily="34" charset="0"/>
                <a:ea typeface="Calibri" pitchFamily="34" charset="-122"/>
                <a:cs typeface="Calibri" pitchFamily="34" charset="-120"/>
              </a:rPr>
              <a:t>Cloudera AI Workbench project</a:t>
            </a:r>
            <a:endParaRPr lang="en-US" sz="1500" dirty="0"/>
          </a:p>
        </p:txBody>
      </p:sp>
      <p:sp>
        <p:nvSpPr>
          <p:cNvPr id="10" name="Shape 7"/>
          <p:cNvSpPr/>
          <p:nvPr/>
        </p:nvSpPr>
        <p:spPr>
          <a:xfrm>
            <a:off x="3337560" y="2103120"/>
            <a:ext cx="4297680" cy="804672"/>
          </a:xfrm>
          <a:prstGeom prst="roundRect">
            <a:avLst>
              <a:gd name="adj" fmla="val 9091"/>
            </a:avLst>
          </a:prstGeom>
          <a:solidFill>
            <a:srgbClr val="1C2F4A"/>
          </a:solidFill>
          <a:ln w="12700">
            <a:solidFill>
              <a:srgbClr val="1C2F4A"/>
            </a:solidFill>
            <a:prstDash val="solid"/>
          </a:ln>
        </p:spPr>
      </p:sp>
      <p:sp>
        <p:nvSpPr>
          <p:cNvPr id="11" name="Text 8"/>
          <p:cNvSpPr txBox="1"/>
          <p:nvPr/>
        </p:nvSpPr>
        <p:spPr>
          <a:xfrm>
            <a:off x="3520440" y="2130552"/>
            <a:ext cx="4023360" cy="7498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Helios UI (Application)</a:t>
            </a:r>
            <a:endParaRPr lang="en-US" sz="1400" dirty="0"/>
          </a:p>
          <a:p>
            <a:pPr indent="0" marL="0">
              <a:buNone/>
            </a:pPr>
            <a:r>
              <a:rPr lang="en-US" sz="1150" dirty="0">
                <a:solidFill>
                  <a:srgbClr val="C9D3E0"/>
                </a:solidFill>
                <a:latin typeface="Calibri" pitchFamily="34" charset="0"/>
                <a:ea typeface="Calibri" pitchFamily="34" charset="-122"/>
                <a:cs typeface="Calibri" pitchFamily="34" charset="-120"/>
              </a:rPr>
              <a:t>React app: talk, model canvas, governance</a:t>
            </a:r>
            <a:endParaRPr lang="en-US" sz="1400" dirty="0"/>
          </a:p>
        </p:txBody>
      </p:sp>
      <p:sp>
        <p:nvSpPr>
          <p:cNvPr id="12" name="Shape 9"/>
          <p:cNvSpPr/>
          <p:nvPr/>
        </p:nvSpPr>
        <p:spPr>
          <a:xfrm>
            <a:off x="3337560" y="3035808"/>
            <a:ext cx="4297680" cy="804672"/>
          </a:xfrm>
          <a:prstGeom prst="roundRect">
            <a:avLst>
              <a:gd name="adj" fmla="val 9091"/>
            </a:avLst>
          </a:prstGeom>
          <a:solidFill>
            <a:srgbClr val="1C2F4A"/>
          </a:solidFill>
          <a:ln w="12700">
            <a:solidFill>
              <a:srgbClr val="1C2F4A"/>
            </a:solidFill>
            <a:prstDash val="solid"/>
          </a:ln>
        </p:spPr>
      </p:sp>
      <p:sp>
        <p:nvSpPr>
          <p:cNvPr id="13" name="Text 10"/>
          <p:cNvSpPr txBox="1"/>
          <p:nvPr/>
        </p:nvSpPr>
        <p:spPr>
          <a:xfrm>
            <a:off x="3520440" y="3063240"/>
            <a:ext cx="4023360" cy="7498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Helios API (Application)</a:t>
            </a:r>
            <a:endParaRPr lang="en-US" sz="1400" dirty="0"/>
          </a:p>
          <a:p>
            <a:pPr indent="0" marL="0">
              <a:buNone/>
            </a:pPr>
            <a:r>
              <a:rPr lang="en-US" sz="1150" dirty="0">
                <a:solidFill>
                  <a:srgbClr val="C9D3E0"/>
                </a:solidFill>
                <a:latin typeface="Calibri" pitchFamily="34" charset="0"/>
                <a:ea typeface="Calibri" pitchFamily="34" charset="-122"/>
                <a:cs typeface="Calibri" pitchFamily="34" charset="-120"/>
              </a:rPr>
              <a:t>FastAPI BFF: runs the LLM loop, calls MCP</a:t>
            </a:r>
            <a:endParaRPr lang="en-US" sz="1400" dirty="0"/>
          </a:p>
        </p:txBody>
      </p:sp>
      <p:sp>
        <p:nvSpPr>
          <p:cNvPr id="14" name="Shape 11"/>
          <p:cNvSpPr/>
          <p:nvPr/>
        </p:nvSpPr>
        <p:spPr>
          <a:xfrm>
            <a:off x="3337560" y="3968496"/>
            <a:ext cx="4297680" cy="804672"/>
          </a:xfrm>
          <a:prstGeom prst="roundRect">
            <a:avLst>
              <a:gd name="adj" fmla="val 9091"/>
            </a:avLst>
          </a:prstGeom>
          <a:solidFill>
            <a:srgbClr val="1C2F4A"/>
          </a:solidFill>
          <a:ln w="12700">
            <a:solidFill>
              <a:srgbClr val="1C2F4A"/>
            </a:solidFill>
            <a:prstDash val="solid"/>
          </a:ln>
        </p:spPr>
      </p:sp>
      <p:sp>
        <p:nvSpPr>
          <p:cNvPr id="15" name="Text 12"/>
          <p:cNvSpPr txBox="1"/>
          <p:nvPr/>
        </p:nvSpPr>
        <p:spPr>
          <a:xfrm>
            <a:off x="3520440" y="3995928"/>
            <a:ext cx="4023360" cy="7498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Helios MCP (Application)</a:t>
            </a:r>
            <a:endParaRPr lang="en-US" sz="1400" dirty="0"/>
          </a:p>
          <a:p>
            <a:pPr indent="0" marL="0">
              <a:buNone/>
            </a:pPr>
            <a:r>
              <a:rPr lang="en-US" sz="1150" dirty="0">
                <a:solidFill>
                  <a:srgbClr val="C9D3E0"/>
                </a:solidFill>
                <a:latin typeface="Calibri" pitchFamily="34" charset="0"/>
                <a:ea typeface="Calibri" pitchFamily="34" charset="-122"/>
                <a:cs typeface="Calibri" pitchFamily="34" charset="-120"/>
              </a:rPr>
              <a:t>7 governed tools: search, describe, compile, run…</a:t>
            </a:r>
            <a:endParaRPr lang="en-US" sz="1400" dirty="0"/>
          </a:p>
        </p:txBody>
      </p:sp>
      <p:sp>
        <p:nvSpPr>
          <p:cNvPr id="16" name="Shape 13"/>
          <p:cNvSpPr/>
          <p:nvPr/>
        </p:nvSpPr>
        <p:spPr>
          <a:xfrm>
            <a:off x="3337560" y="4901184"/>
            <a:ext cx="4297680" cy="804672"/>
          </a:xfrm>
          <a:prstGeom prst="roundRect">
            <a:avLst>
              <a:gd name="adj" fmla="val 9091"/>
            </a:avLst>
          </a:prstGeom>
          <a:solidFill>
            <a:srgbClr val="1C2F4A"/>
          </a:solidFill>
          <a:ln w="12700">
            <a:solidFill>
              <a:srgbClr val="1C2F4A"/>
            </a:solidFill>
            <a:prstDash val="solid"/>
          </a:ln>
        </p:spPr>
      </p:sp>
      <p:sp>
        <p:nvSpPr>
          <p:cNvPr id="17" name="Text 14"/>
          <p:cNvSpPr txBox="1"/>
          <p:nvPr/>
        </p:nvSpPr>
        <p:spPr>
          <a:xfrm>
            <a:off x="3520440" y="4928616"/>
            <a:ext cx="4023360" cy="7498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Discovery Jobs</a:t>
            </a:r>
            <a:endParaRPr lang="en-US" sz="1400" dirty="0"/>
          </a:p>
          <a:p>
            <a:pPr indent="0" marL="0">
              <a:buNone/>
            </a:pPr>
            <a:r>
              <a:rPr lang="en-US" sz="1150" dirty="0">
                <a:solidFill>
                  <a:srgbClr val="C9D3E0"/>
                </a:solidFill>
                <a:latin typeface="Calibri" pitchFamily="34" charset="0"/>
                <a:ea typeface="Calibri" pitchFamily="34" charset="-122"/>
                <a:cs typeface="Calibri" pitchFamily="34" charset="-120"/>
              </a:rPr>
              <a:t>harvest → profile → propose → publish</a:t>
            </a:r>
            <a:endParaRPr lang="en-US" sz="1400" dirty="0"/>
          </a:p>
        </p:txBody>
      </p:sp>
      <p:sp>
        <p:nvSpPr>
          <p:cNvPr id="18" name="Shape 15"/>
          <p:cNvSpPr/>
          <p:nvPr/>
        </p:nvSpPr>
        <p:spPr>
          <a:xfrm>
            <a:off x="8229600" y="1463040"/>
            <a:ext cx="3383280" cy="1371600"/>
          </a:xfrm>
          <a:prstGeom prst="roundRect">
            <a:avLst>
              <a:gd name="adj" fmla="val 5333"/>
            </a:avLst>
          </a:prstGeom>
          <a:solidFill>
            <a:srgbClr val="F4F6F9"/>
          </a:solidFill>
          <a:ln w="12700">
            <a:solidFill>
              <a:srgbClr val="F4F6F9"/>
            </a:solidFill>
            <a:prstDash val="solid"/>
          </a:ln>
        </p:spPr>
      </p:sp>
      <p:sp>
        <p:nvSpPr>
          <p:cNvPr id="19" name="Shape 16"/>
          <p:cNvSpPr/>
          <p:nvPr/>
        </p:nvSpPr>
        <p:spPr>
          <a:xfrm>
            <a:off x="8412480" y="1737360"/>
            <a:ext cx="502920" cy="502920"/>
          </a:xfrm>
          <a:prstGeom prst="ellipse">
            <a:avLst/>
          </a:prstGeom>
          <a:solidFill>
            <a:srgbClr val="F2A541"/>
          </a:solidFill>
          <a:ln w="12700">
            <a:solidFill>
              <a:srgbClr val="F2A541"/>
            </a:solidFill>
            <a:prstDash val="solid"/>
          </a:ln>
        </p:spPr>
      </p:sp>
      <p:pic>
        <p:nvPicPr>
          <p:cNvPr id="20" name="Image 1" descr="preencoded.png">    </p:cNvPr>
          <p:cNvPicPr>
            <a:picLocks noChangeAspect="1"/>
          </p:cNvPicPr>
          <p:nvPr/>
        </p:nvPicPr>
        <p:blipFill>
          <a:blip r:embed="rId2"/>
          <a:stretch>
            <a:fillRect/>
          </a:stretch>
        </p:blipFill>
        <p:spPr>
          <a:xfrm>
            <a:off x="8533181" y="1858061"/>
            <a:ext cx="261518" cy="261518"/>
          </a:xfrm>
          <a:prstGeom prst="rect">
            <a:avLst/>
          </a:prstGeom>
        </p:spPr>
      </p:pic>
      <p:sp>
        <p:nvSpPr>
          <p:cNvPr id="21" name="Text 17"/>
          <p:cNvSpPr txBox="1"/>
          <p:nvPr/>
        </p:nvSpPr>
        <p:spPr>
          <a:xfrm>
            <a:off x="9052560" y="1554480"/>
            <a:ext cx="2423160" cy="11887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SDX</a:t>
            </a:r>
            <a:endParaRPr lang="en-US" sz="1500" dirty="0"/>
          </a:p>
          <a:p>
            <a:pPr indent="0" marL="0">
              <a:buNone/>
            </a:pPr>
            <a:r>
              <a:rPr lang="en-US" sz="1200" dirty="0">
                <a:solidFill>
                  <a:srgbClr val="1F2937"/>
                </a:solidFill>
                <a:latin typeface="Calibri" pitchFamily="34" charset="0"/>
                <a:ea typeface="Calibri" pitchFamily="34" charset="-122"/>
                <a:cs typeface="Calibri" pitchFamily="34" charset="-120"/>
              </a:rPr>
              <a:t>Atlas · Ranger · Hive Metastore · Knox</a:t>
            </a:r>
            <a:endParaRPr lang="en-US" sz="1500" dirty="0"/>
          </a:p>
        </p:txBody>
      </p:sp>
      <p:sp>
        <p:nvSpPr>
          <p:cNvPr id="22" name="Shape 18"/>
          <p:cNvSpPr/>
          <p:nvPr/>
        </p:nvSpPr>
        <p:spPr>
          <a:xfrm>
            <a:off x="8229600" y="3017520"/>
            <a:ext cx="3383280" cy="1371600"/>
          </a:xfrm>
          <a:prstGeom prst="roundRect">
            <a:avLst>
              <a:gd name="adj" fmla="val 5333"/>
            </a:avLst>
          </a:prstGeom>
          <a:solidFill>
            <a:srgbClr val="F4F6F9"/>
          </a:solidFill>
          <a:ln w="12700">
            <a:solidFill>
              <a:srgbClr val="F4F6F9"/>
            </a:solidFill>
            <a:prstDash val="solid"/>
          </a:ln>
        </p:spPr>
      </p:sp>
      <p:sp>
        <p:nvSpPr>
          <p:cNvPr id="23" name="Shape 19"/>
          <p:cNvSpPr/>
          <p:nvPr/>
        </p:nvSpPr>
        <p:spPr>
          <a:xfrm>
            <a:off x="8412480" y="3291840"/>
            <a:ext cx="502920" cy="502920"/>
          </a:xfrm>
          <a:prstGeom prst="ellipse">
            <a:avLst/>
          </a:prstGeom>
          <a:solidFill>
            <a:srgbClr val="F2A541"/>
          </a:solidFill>
          <a:ln w="12700">
            <a:solidFill>
              <a:srgbClr val="F2A541"/>
            </a:solidFill>
            <a:prstDash val="solid"/>
          </a:ln>
        </p:spPr>
      </p:sp>
      <p:pic>
        <p:nvPicPr>
          <p:cNvPr id="24" name="Image 2" descr="preencoded.png">    </p:cNvPr>
          <p:cNvPicPr>
            <a:picLocks noChangeAspect="1"/>
          </p:cNvPicPr>
          <p:nvPr/>
        </p:nvPicPr>
        <p:blipFill>
          <a:blip r:embed="rId3"/>
          <a:stretch>
            <a:fillRect/>
          </a:stretch>
        </p:blipFill>
        <p:spPr>
          <a:xfrm>
            <a:off x="8533181" y="3412541"/>
            <a:ext cx="261518" cy="261518"/>
          </a:xfrm>
          <a:prstGeom prst="rect">
            <a:avLst/>
          </a:prstGeom>
        </p:spPr>
      </p:pic>
      <p:sp>
        <p:nvSpPr>
          <p:cNvPr id="25" name="Text 20"/>
          <p:cNvSpPr txBox="1"/>
          <p:nvPr/>
        </p:nvSpPr>
        <p:spPr>
          <a:xfrm>
            <a:off x="9052560" y="3108960"/>
            <a:ext cx="2423160" cy="11887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Data Warehouse</a:t>
            </a:r>
            <a:endParaRPr lang="en-US" sz="1500" dirty="0"/>
          </a:p>
          <a:p>
            <a:pPr indent="0" marL="0">
              <a:buNone/>
            </a:pPr>
            <a:r>
              <a:rPr lang="en-US" sz="1200" dirty="0">
                <a:solidFill>
                  <a:srgbClr val="1F2937"/>
                </a:solidFill>
                <a:latin typeface="Calibri" pitchFamily="34" charset="0"/>
                <a:ea typeface="Calibri" pitchFamily="34" charset="-122"/>
                <a:cs typeface="Calibri" pitchFamily="34" charset="-120"/>
              </a:rPr>
              <a:t>Impala virtual warehouse · Iceberg tables</a:t>
            </a:r>
            <a:endParaRPr lang="en-US" sz="1500" dirty="0"/>
          </a:p>
        </p:txBody>
      </p:sp>
      <p:sp>
        <p:nvSpPr>
          <p:cNvPr id="26" name="Shape 21"/>
          <p:cNvSpPr/>
          <p:nvPr/>
        </p:nvSpPr>
        <p:spPr>
          <a:xfrm>
            <a:off x="8229600" y="4572000"/>
            <a:ext cx="3383280" cy="1371600"/>
          </a:xfrm>
          <a:prstGeom prst="roundRect">
            <a:avLst>
              <a:gd name="adj" fmla="val 5333"/>
            </a:avLst>
          </a:prstGeom>
          <a:solidFill>
            <a:srgbClr val="F4F6F9"/>
          </a:solidFill>
          <a:ln w="12700">
            <a:solidFill>
              <a:srgbClr val="F4F6F9"/>
            </a:solidFill>
            <a:prstDash val="solid"/>
          </a:ln>
        </p:spPr>
      </p:sp>
      <p:sp>
        <p:nvSpPr>
          <p:cNvPr id="27" name="Shape 22"/>
          <p:cNvSpPr/>
          <p:nvPr/>
        </p:nvSpPr>
        <p:spPr>
          <a:xfrm>
            <a:off x="8412480" y="4846320"/>
            <a:ext cx="502920" cy="502920"/>
          </a:xfrm>
          <a:prstGeom prst="ellipse">
            <a:avLst/>
          </a:prstGeom>
          <a:solidFill>
            <a:srgbClr val="F2A541"/>
          </a:solidFill>
          <a:ln w="12700">
            <a:solidFill>
              <a:srgbClr val="F2A541"/>
            </a:solidFill>
            <a:prstDash val="solid"/>
          </a:ln>
        </p:spPr>
      </p:sp>
      <p:pic>
        <p:nvPicPr>
          <p:cNvPr id="28" name="Image 3" descr="preencoded.png">    </p:cNvPr>
          <p:cNvPicPr>
            <a:picLocks noChangeAspect="1"/>
          </p:cNvPicPr>
          <p:nvPr/>
        </p:nvPicPr>
        <p:blipFill>
          <a:blip r:embed="rId4"/>
          <a:stretch>
            <a:fillRect/>
          </a:stretch>
        </p:blipFill>
        <p:spPr>
          <a:xfrm>
            <a:off x="8533181" y="4967021"/>
            <a:ext cx="261518" cy="261518"/>
          </a:xfrm>
          <a:prstGeom prst="rect">
            <a:avLst/>
          </a:prstGeom>
        </p:spPr>
      </p:pic>
      <p:sp>
        <p:nvSpPr>
          <p:cNvPr id="29" name="Text 23"/>
          <p:cNvSpPr txBox="1"/>
          <p:nvPr/>
        </p:nvSpPr>
        <p:spPr>
          <a:xfrm>
            <a:off x="9052560" y="4663440"/>
            <a:ext cx="2423160" cy="11887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AI Inference</a:t>
            </a:r>
            <a:endParaRPr lang="en-US" sz="1500" dirty="0"/>
          </a:p>
          <a:p>
            <a:pPr indent="0" marL="0">
              <a:buNone/>
            </a:pPr>
            <a:r>
              <a:rPr lang="en-US" sz="1200" dirty="0">
                <a:solidFill>
                  <a:srgbClr val="1F2937"/>
                </a:solidFill>
                <a:latin typeface="Calibri" pitchFamily="34" charset="0"/>
                <a:ea typeface="Calibri" pitchFamily="34" charset="-122"/>
                <a:cs typeface="Calibri" pitchFamily="34" charset="-120"/>
              </a:rPr>
              <a:t>Self-hosted LLM (or a configured provider)</a:t>
            </a:r>
            <a:endParaRPr lang="en-US" sz="1500" dirty="0"/>
          </a:p>
        </p:txBody>
      </p:sp>
      <p:sp>
        <p:nvSpPr>
          <p:cNvPr id="30" name="Shape 24"/>
          <p:cNvSpPr/>
          <p:nvPr/>
        </p:nvSpPr>
        <p:spPr>
          <a:xfrm>
            <a:off x="2761488" y="3566160"/>
            <a:ext cx="329184" cy="274320"/>
          </a:xfrm>
          <a:prstGeom prst="rightArrow">
            <a:avLst/>
          </a:prstGeom>
          <a:solidFill>
            <a:srgbClr val="F2A541"/>
          </a:solidFill>
          <a:ln w="12700">
            <a:solidFill>
              <a:srgbClr val="F2A541"/>
            </a:solidFill>
            <a:prstDash val="solid"/>
          </a:ln>
        </p:spPr>
      </p:sp>
      <p:sp>
        <p:nvSpPr>
          <p:cNvPr id="31" name="Shape 25"/>
          <p:cNvSpPr/>
          <p:nvPr/>
        </p:nvSpPr>
        <p:spPr>
          <a:xfrm>
            <a:off x="7882128" y="3566160"/>
            <a:ext cx="329184" cy="274320"/>
          </a:xfrm>
          <a:prstGeom prst="rightArrow">
            <a:avLst/>
          </a:prstGeom>
          <a:solidFill>
            <a:srgbClr val="F2A541"/>
          </a:solidFill>
          <a:ln w="12700">
            <a:solidFill>
              <a:srgbClr val="F2A541"/>
            </a:solidFill>
            <a:prstDash val="solid"/>
          </a:ln>
        </p:spPr>
      </p:sp>
      <p:sp>
        <p:nvSpPr>
          <p:cNvPr id="32" name="Text 26"/>
          <p:cNvSpPr txBox="1"/>
          <p:nvPr/>
        </p:nvSpPr>
        <p:spPr>
          <a:xfrm>
            <a:off x="548640" y="6291072"/>
            <a:ext cx="11094415" cy="411480"/>
          </a:xfrm>
          <a:prstGeom prst="rect">
            <a:avLst/>
          </a:prstGeom>
          <a:noFill/>
          <a:ln/>
        </p:spPr>
        <p:txBody>
          <a:bodyPr wrap="square" lIns="0" tIns="0" rIns="0" bIns="0" rtlCol="0" anchor="b"/>
          <a:lstStyle/>
          <a:p>
            <a:pPr indent="0" marL="0">
              <a:buNone/>
            </a:pPr>
            <a:r>
              <a:rPr lang="en-US" sz="950" i="1" dirty="0">
                <a:solidFill>
                  <a:srgbClr val="5B6472"/>
                </a:solidFill>
                <a:latin typeface="Calibri" pitchFamily="34" charset="0"/>
                <a:ea typeface="Calibri" pitchFamily="34" charset="-122"/>
                <a:cs typeface="Calibri" pitchFamily="34" charset="-120"/>
              </a:rPr>
              <a:t>Every call to Atlas, the virtual warehouses and inference is made from inside the environment's private network. Sources: README, ui-deployment.md, talk-to-your-data-architecture.md</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2900" b="1" dirty="0">
                <a:solidFill>
                  <a:srgbClr val="0E1A2B"/>
                </a:solidFill>
                <a:latin typeface="Cambria" pitchFamily="34" charset="0"/>
                <a:ea typeface="Cambria" pitchFamily="34" charset="-122"/>
                <a:cs typeface="Cambria" pitchFamily="34" charset="-120"/>
              </a:rPr>
              <a:t>One repository, three Cloudera AI projects</a:t>
            </a:r>
            <a:endParaRPr lang="en-US" sz="2900" dirty="0"/>
          </a:p>
        </p:txBody>
      </p:sp>
      <p:sp>
        <p:nvSpPr>
          <p:cNvPr id="3" name="Shape 1"/>
          <p:cNvSpPr/>
          <p:nvPr/>
        </p:nvSpPr>
        <p:spPr>
          <a:xfrm>
            <a:off x="548640" y="1417320"/>
            <a:ext cx="3474720" cy="3291840"/>
          </a:xfrm>
          <a:prstGeom prst="roundRect">
            <a:avLst>
              <a:gd name="adj" fmla="val 2222"/>
            </a:avLst>
          </a:prstGeom>
          <a:solidFill>
            <a:srgbClr val="F4F6F9"/>
          </a:solidFill>
          <a:ln w="12700">
            <a:solidFill>
              <a:srgbClr val="F4F6F9"/>
            </a:solidFill>
            <a:prstDash val="solid"/>
          </a:ln>
        </p:spPr>
      </p:sp>
      <p:sp>
        <p:nvSpPr>
          <p:cNvPr id="4" name="Shape 2"/>
          <p:cNvSpPr/>
          <p:nvPr/>
        </p:nvSpPr>
        <p:spPr>
          <a:xfrm>
            <a:off x="822960" y="1645920"/>
            <a:ext cx="640080" cy="640080"/>
          </a:xfrm>
          <a:prstGeom prst="ellipse">
            <a:avLst/>
          </a:prstGeom>
          <a:solidFill>
            <a:srgbClr val="F2A541"/>
          </a:solidFill>
          <a:ln w="12700">
            <a:solidFill>
              <a:srgbClr val="F2A541"/>
            </a:solidFill>
            <a:prstDash val="solid"/>
          </a:ln>
        </p:spPr>
      </p:sp>
      <p:pic>
        <p:nvPicPr>
          <p:cNvPr id="5" name="Image 0" descr="preencoded.png">    </p:cNvPr>
          <p:cNvPicPr>
            <a:picLocks noChangeAspect="1"/>
          </p:cNvPicPr>
          <p:nvPr/>
        </p:nvPicPr>
        <p:blipFill>
          <a:blip r:embed="rId1"/>
          <a:stretch>
            <a:fillRect/>
          </a:stretch>
        </p:blipFill>
        <p:spPr>
          <a:xfrm>
            <a:off x="976579" y="1799539"/>
            <a:ext cx="332842" cy="332842"/>
          </a:xfrm>
          <a:prstGeom prst="rect">
            <a:avLst/>
          </a:prstGeom>
        </p:spPr>
      </p:pic>
      <p:sp>
        <p:nvSpPr>
          <p:cNvPr id="6" name="Text 3"/>
          <p:cNvSpPr txBox="1"/>
          <p:nvPr/>
        </p:nvSpPr>
        <p:spPr>
          <a:xfrm>
            <a:off x="822960" y="2423160"/>
            <a:ext cx="3017520" cy="457200"/>
          </a:xfrm>
          <a:prstGeom prst="rect">
            <a:avLst/>
          </a:prstGeom>
          <a:noFill/>
          <a:ln/>
        </p:spPr>
        <p:txBody>
          <a:bodyPr wrap="square" lIns="0" tIns="0" rIns="0" bIns="0" rtlCol="0" anchor="t"/>
          <a:lstStyle/>
          <a:p>
            <a:pPr algn="l" indent="0" marL="0">
              <a:spcAft>
                <a:spcPts val="400"/>
              </a:spcAft>
              <a:buNone/>
            </a:pPr>
            <a:r>
              <a:rPr lang="en-US" sz="1900" b="1" dirty="0">
                <a:solidFill>
                  <a:srgbClr val="0E1A2B"/>
                </a:solidFill>
                <a:latin typeface="Calibri" pitchFamily="34" charset="0"/>
                <a:ea typeface="Calibri" pitchFamily="34" charset="-122"/>
                <a:cs typeface="Calibri" pitchFamily="34" charset="-120"/>
              </a:rPr>
              <a:t>Helios Query</a:t>
            </a:r>
            <a:endParaRPr lang="en-US" sz="1900" dirty="0"/>
          </a:p>
        </p:txBody>
      </p:sp>
      <p:sp>
        <p:nvSpPr>
          <p:cNvPr id="7" name="Text 4"/>
          <p:cNvSpPr txBox="1"/>
          <p:nvPr/>
        </p:nvSpPr>
        <p:spPr>
          <a:xfrm>
            <a:off x="822960" y="2880360"/>
            <a:ext cx="3017520" cy="365760"/>
          </a:xfrm>
          <a:prstGeom prst="rect">
            <a:avLst/>
          </a:prstGeom>
          <a:noFill/>
          <a:ln/>
        </p:spPr>
        <p:txBody>
          <a:bodyPr wrap="square" lIns="0" tIns="0" rIns="0" bIns="0" rtlCol="0" anchor="t"/>
          <a:lstStyle/>
          <a:p>
            <a:pPr algn="l" indent="0" marL="0">
              <a:spcAft>
                <a:spcPts val="400"/>
              </a:spcAft>
              <a:buNone/>
            </a:pPr>
            <a:r>
              <a:rPr lang="en-US" sz="1200" i="1" dirty="0">
                <a:solidFill>
                  <a:srgbClr val="5B6472"/>
                </a:solidFill>
                <a:latin typeface="Calibri" pitchFamily="34" charset="0"/>
                <a:ea typeface="Calibri" pitchFamily="34" charset="-122"/>
                <a:cs typeface="Calibri" pitchFamily="34" charset="-120"/>
              </a:rPr>
              <a:t>apps/helios</a:t>
            </a:r>
            <a:endParaRPr lang="en-US" sz="1200" dirty="0"/>
          </a:p>
        </p:txBody>
      </p:sp>
      <p:sp>
        <p:nvSpPr>
          <p:cNvPr id="8" name="Text 5"/>
          <p:cNvSpPr txBox="1"/>
          <p:nvPr/>
        </p:nvSpPr>
        <p:spPr>
          <a:xfrm>
            <a:off x="822960" y="3291840"/>
            <a:ext cx="3017520" cy="1371600"/>
          </a:xfrm>
          <a:prstGeom prst="rect">
            <a:avLst/>
          </a:prstGeom>
          <a:noFill/>
          <a:ln/>
        </p:spPr>
        <p:txBody>
          <a:bodyPr wrap="square" lIns="0" tIns="0" rIns="0" bIns="0" rtlCol="0" anchor="t"/>
          <a:lstStyle/>
          <a:p>
            <a:pPr algn="l" indent="0" marL="0">
              <a:spcAft>
                <a:spcPts val="400"/>
              </a:spcAft>
              <a:buNone/>
            </a:pPr>
            <a:r>
              <a:rPr lang="en-US" sz="1400" dirty="0">
                <a:solidFill>
                  <a:srgbClr val="1F2937"/>
                </a:solidFill>
                <a:latin typeface="Calibri" pitchFamily="34" charset="0"/>
                <a:ea typeface="Calibri" pitchFamily="34" charset="-122"/>
                <a:cs typeface="Calibri" pitchFamily="34" charset="-120"/>
              </a:rPr>
              <a:t>Discovery jobs, console/API, MCP server and the Helios UI: the product users talk to.</a:t>
            </a:r>
            <a:endParaRPr lang="en-US" sz="1400" dirty="0"/>
          </a:p>
        </p:txBody>
      </p:sp>
      <p:sp>
        <p:nvSpPr>
          <p:cNvPr id="9" name="Shape 6"/>
          <p:cNvSpPr/>
          <p:nvPr/>
        </p:nvSpPr>
        <p:spPr>
          <a:xfrm>
            <a:off x="4297680" y="1417320"/>
            <a:ext cx="3474720" cy="3291840"/>
          </a:xfrm>
          <a:prstGeom prst="roundRect">
            <a:avLst>
              <a:gd name="adj" fmla="val 2222"/>
            </a:avLst>
          </a:prstGeom>
          <a:solidFill>
            <a:srgbClr val="F4F6F9"/>
          </a:solidFill>
          <a:ln w="12700">
            <a:solidFill>
              <a:srgbClr val="F4F6F9"/>
            </a:solidFill>
            <a:prstDash val="solid"/>
          </a:ln>
        </p:spPr>
      </p:sp>
      <p:sp>
        <p:nvSpPr>
          <p:cNvPr id="10" name="Shape 7"/>
          <p:cNvSpPr/>
          <p:nvPr/>
        </p:nvSpPr>
        <p:spPr>
          <a:xfrm>
            <a:off x="4572000" y="1645920"/>
            <a:ext cx="640080" cy="640080"/>
          </a:xfrm>
          <a:prstGeom prst="ellipse">
            <a:avLst/>
          </a:prstGeom>
          <a:solidFill>
            <a:srgbClr val="F2A541"/>
          </a:solidFill>
          <a:ln w="12700">
            <a:solidFill>
              <a:srgbClr val="F2A541"/>
            </a:solidFill>
            <a:prstDash val="solid"/>
          </a:ln>
        </p:spPr>
      </p:sp>
      <p:pic>
        <p:nvPicPr>
          <p:cNvPr id="11" name="Image 1" descr="preencoded.png">    </p:cNvPr>
          <p:cNvPicPr>
            <a:picLocks noChangeAspect="1"/>
          </p:cNvPicPr>
          <p:nvPr/>
        </p:nvPicPr>
        <p:blipFill>
          <a:blip r:embed="rId2"/>
          <a:stretch>
            <a:fillRect/>
          </a:stretch>
        </p:blipFill>
        <p:spPr>
          <a:xfrm>
            <a:off x="4725619" y="1799539"/>
            <a:ext cx="332842" cy="332842"/>
          </a:xfrm>
          <a:prstGeom prst="rect">
            <a:avLst/>
          </a:prstGeom>
        </p:spPr>
      </p:pic>
      <p:sp>
        <p:nvSpPr>
          <p:cNvPr id="12" name="Text 8"/>
          <p:cNvSpPr txBox="1"/>
          <p:nvPr/>
        </p:nvSpPr>
        <p:spPr>
          <a:xfrm>
            <a:off x="4572000" y="2423160"/>
            <a:ext cx="3017520" cy="457200"/>
          </a:xfrm>
          <a:prstGeom prst="rect">
            <a:avLst/>
          </a:prstGeom>
          <a:noFill/>
          <a:ln/>
        </p:spPr>
        <p:txBody>
          <a:bodyPr wrap="square" lIns="0" tIns="0" rIns="0" bIns="0" rtlCol="0" anchor="t"/>
          <a:lstStyle/>
          <a:p>
            <a:pPr algn="l" indent="0" marL="0">
              <a:spcAft>
                <a:spcPts val="400"/>
              </a:spcAft>
              <a:buNone/>
            </a:pPr>
            <a:r>
              <a:rPr lang="en-US" sz="1900" b="1" dirty="0">
                <a:solidFill>
                  <a:srgbClr val="0E1A2B"/>
                </a:solidFill>
                <a:latin typeface="Calibri" pitchFamily="34" charset="0"/>
                <a:ea typeface="Calibri" pitchFamily="34" charset="-122"/>
                <a:cs typeface="Calibri" pitchFamily="34" charset="-120"/>
              </a:rPr>
              <a:t>Helios-DS-Generation</a:t>
            </a:r>
            <a:endParaRPr lang="en-US" sz="1900" dirty="0"/>
          </a:p>
        </p:txBody>
      </p:sp>
      <p:sp>
        <p:nvSpPr>
          <p:cNvPr id="13" name="Text 9"/>
          <p:cNvSpPr txBox="1"/>
          <p:nvPr/>
        </p:nvSpPr>
        <p:spPr>
          <a:xfrm>
            <a:off x="4572000" y="2880360"/>
            <a:ext cx="3017520" cy="365760"/>
          </a:xfrm>
          <a:prstGeom prst="rect">
            <a:avLst/>
          </a:prstGeom>
          <a:noFill/>
          <a:ln/>
        </p:spPr>
        <p:txBody>
          <a:bodyPr wrap="square" lIns="0" tIns="0" rIns="0" bIns="0" rtlCol="0" anchor="t"/>
          <a:lstStyle/>
          <a:p>
            <a:pPr algn="l" indent="0" marL="0">
              <a:spcAft>
                <a:spcPts val="400"/>
              </a:spcAft>
              <a:buNone/>
            </a:pPr>
            <a:r>
              <a:rPr lang="en-US" sz="1200" i="1" dirty="0">
                <a:solidFill>
                  <a:srgbClr val="5B6472"/>
                </a:solidFill>
                <a:latin typeface="Calibri" pitchFamily="34" charset="0"/>
                <a:ea typeface="Calibri" pitchFamily="34" charset="-122"/>
                <a:cs typeface="Calibri" pitchFamily="34" charset="-120"/>
              </a:rPr>
              <a:t>apps/helios-ds-generation</a:t>
            </a:r>
            <a:endParaRPr lang="en-US" sz="1200" dirty="0"/>
          </a:p>
        </p:txBody>
      </p:sp>
      <p:sp>
        <p:nvSpPr>
          <p:cNvPr id="14" name="Text 10"/>
          <p:cNvSpPr txBox="1"/>
          <p:nvPr/>
        </p:nvSpPr>
        <p:spPr>
          <a:xfrm>
            <a:off x="4572000" y="3291840"/>
            <a:ext cx="3017520" cy="1371600"/>
          </a:xfrm>
          <a:prstGeom prst="rect">
            <a:avLst/>
          </a:prstGeom>
          <a:noFill/>
          <a:ln/>
        </p:spPr>
        <p:txBody>
          <a:bodyPr wrap="square" lIns="0" tIns="0" rIns="0" bIns="0" rtlCol="0" anchor="t"/>
          <a:lstStyle/>
          <a:p>
            <a:pPr algn="l" indent="0" marL="0">
              <a:spcAft>
                <a:spcPts val="400"/>
              </a:spcAft>
              <a:buNone/>
            </a:pPr>
            <a:r>
              <a:rPr lang="en-US" sz="1400" dirty="0">
                <a:solidFill>
                  <a:srgbClr val="1F2937"/>
                </a:solidFill>
                <a:latin typeface="Calibri" pitchFamily="34" charset="0"/>
                <a:ea typeface="Calibri" pitchFamily="34" charset="-122"/>
                <a:cs typeface="Calibri" pitchFamily="34" charset="-120"/>
              </a:rPr>
              <a:t>Deterministic synthetic enterprise assets (PDF, email, chat, and later image, audio and video) with hidden ground truth.</a:t>
            </a:r>
            <a:endParaRPr lang="en-US" sz="1400" dirty="0"/>
          </a:p>
        </p:txBody>
      </p:sp>
      <p:sp>
        <p:nvSpPr>
          <p:cNvPr id="15" name="Shape 11"/>
          <p:cNvSpPr/>
          <p:nvPr/>
        </p:nvSpPr>
        <p:spPr>
          <a:xfrm>
            <a:off x="8046720" y="1417320"/>
            <a:ext cx="3474720" cy="3291840"/>
          </a:xfrm>
          <a:prstGeom prst="roundRect">
            <a:avLst>
              <a:gd name="adj" fmla="val 2222"/>
            </a:avLst>
          </a:prstGeom>
          <a:solidFill>
            <a:srgbClr val="F4F6F9"/>
          </a:solidFill>
          <a:ln w="12700">
            <a:solidFill>
              <a:srgbClr val="F4F6F9"/>
            </a:solidFill>
            <a:prstDash val="solid"/>
          </a:ln>
        </p:spPr>
      </p:sp>
      <p:sp>
        <p:nvSpPr>
          <p:cNvPr id="16" name="Shape 12"/>
          <p:cNvSpPr/>
          <p:nvPr/>
        </p:nvSpPr>
        <p:spPr>
          <a:xfrm>
            <a:off x="8321040" y="1645920"/>
            <a:ext cx="640080" cy="640080"/>
          </a:xfrm>
          <a:prstGeom prst="ellipse">
            <a:avLst/>
          </a:prstGeom>
          <a:solidFill>
            <a:srgbClr val="F2A541"/>
          </a:solidFill>
          <a:ln w="12700">
            <a:solidFill>
              <a:srgbClr val="F2A541"/>
            </a:solidFill>
            <a:prstDash val="solid"/>
          </a:ln>
        </p:spPr>
      </p:sp>
      <p:pic>
        <p:nvPicPr>
          <p:cNvPr id="17" name="Image 2" descr="preencoded.png">    </p:cNvPr>
          <p:cNvPicPr>
            <a:picLocks noChangeAspect="1"/>
          </p:cNvPicPr>
          <p:nvPr/>
        </p:nvPicPr>
        <p:blipFill>
          <a:blip r:embed="rId3"/>
          <a:stretch>
            <a:fillRect/>
          </a:stretch>
        </p:blipFill>
        <p:spPr>
          <a:xfrm>
            <a:off x="8474659" y="1799539"/>
            <a:ext cx="332842" cy="332842"/>
          </a:xfrm>
          <a:prstGeom prst="rect">
            <a:avLst/>
          </a:prstGeom>
        </p:spPr>
      </p:pic>
      <p:sp>
        <p:nvSpPr>
          <p:cNvPr id="18" name="Text 13"/>
          <p:cNvSpPr txBox="1"/>
          <p:nvPr/>
        </p:nvSpPr>
        <p:spPr>
          <a:xfrm>
            <a:off x="8321040" y="2423160"/>
            <a:ext cx="3017520" cy="457200"/>
          </a:xfrm>
          <a:prstGeom prst="rect">
            <a:avLst/>
          </a:prstGeom>
          <a:noFill/>
          <a:ln/>
        </p:spPr>
        <p:txBody>
          <a:bodyPr wrap="square" lIns="0" tIns="0" rIns="0" bIns="0" rtlCol="0" anchor="t"/>
          <a:lstStyle/>
          <a:p>
            <a:pPr algn="l" indent="0" marL="0">
              <a:spcAft>
                <a:spcPts val="400"/>
              </a:spcAft>
              <a:buNone/>
            </a:pPr>
            <a:r>
              <a:rPr lang="en-US" sz="1900" b="1" dirty="0">
                <a:solidFill>
                  <a:srgbClr val="0E1A2B"/>
                </a:solidFill>
                <a:latin typeface="Calibri" pitchFamily="34" charset="0"/>
                <a:ea typeface="Calibri" pitchFamily="34" charset="-122"/>
                <a:cs typeface="Calibri" pitchFamily="34" charset="-120"/>
              </a:rPr>
              <a:t>Helios-DS-Evaluation</a:t>
            </a:r>
            <a:endParaRPr lang="en-US" sz="1900" dirty="0"/>
          </a:p>
        </p:txBody>
      </p:sp>
      <p:sp>
        <p:nvSpPr>
          <p:cNvPr id="19" name="Text 14"/>
          <p:cNvSpPr txBox="1"/>
          <p:nvPr/>
        </p:nvSpPr>
        <p:spPr>
          <a:xfrm>
            <a:off x="8321040" y="2880360"/>
            <a:ext cx="3017520" cy="365760"/>
          </a:xfrm>
          <a:prstGeom prst="rect">
            <a:avLst/>
          </a:prstGeom>
          <a:noFill/>
          <a:ln/>
        </p:spPr>
        <p:txBody>
          <a:bodyPr wrap="square" lIns="0" tIns="0" rIns="0" bIns="0" rtlCol="0" anchor="t"/>
          <a:lstStyle/>
          <a:p>
            <a:pPr algn="l" indent="0" marL="0">
              <a:spcAft>
                <a:spcPts val="400"/>
              </a:spcAft>
              <a:buNone/>
            </a:pPr>
            <a:r>
              <a:rPr lang="en-US" sz="1200" i="1" dirty="0">
                <a:solidFill>
                  <a:srgbClr val="5B6472"/>
                </a:solidFill>
                <a:latin typeface="Calibri" pitchFamily="34" charset="0"/>
                <a:ea typeface="Calibri" pitchFamily="34" charset="-122"/>
                <a:cs typeface="Calibri" pitchFamily="34" charset="-120"/>
              </a:rPr>
              <a:t>apps/helios-ds-evaluation</a:t>
            </a:r>
            <a:endParaRPr lang="en-US" sz="1200" dirty="0"/>
          </a:p>
        </p:txBody>
      </p:sp>
      <p:sp>
        <p:nvSpPr>
          <p:cNvPr id="20" name="Text 15"/>
          <p:cNvSpPr txBox="1"/>
          <p:nvPr/>
        </p:nvSpPr>
        <p:spPr>
          <a:xfrm>
            <a:off x="8321040" y="3291840"/>
            <a:ext cx="3017520" cy="1371600"/>
          </a:xfrm>
          <a:prstGeom prst="rect">
            <a:avLst/>
          </a:prstGeom>
          <a:noFill/>
          <a:ln/>
        </p:spPr>
        <p:txBody>
          <a:bodyPr wrap="square" lIns="0" tIns="0" rIns="0" bIns="0" rtlCol="0" anchor="t"/>
          <a:lstStyle/>
          <a:p>
            <a:pPr algn="l" indent="0" marL="0">
              <a:spcAft>
                <a:spcPts val="400"/>
              </a:spcAft>
              <a:buNone/>
            </a:pPr>
            <a:r>
              <a:rPr lang="en-US" sz="1400" dirty="0">
                <a:solidFill>
                  <a:srgbClr val="1F2937"/>
                </a:solidFill>
                <a:latin typeface="Calibri" pitchFamily="34" charset="0"/>
                <a:ea typeface="Calibri" pitchFamily="34" charset="-122"/>
                <a:cs typeface="Calibri" pitchFamily="34" charset="-120"/>
              </a:rPr>
              <a:t>Ground-truth benchmarking in a separate project, so the system under test never sees the answer key.</a:t>
            </a:r>
            <a:endParaRPr lang="en-US" sz="1400" dirty="0"/>
          </a:p>
        </p:txBody>
      </p:sp>
      <p:sp>
        <p:nvSpPr>
          <p:cNvPr id="21" name="Shape 16"/>
          <p:cNvSpPr/>
          <p:nvPr/>
        </p:nvSpPr>
        <p:spPr>
          <a:xfrm>
            <a:off x="548640" y="4983480"/>
            <a:ext cx="11064240" cy="960120"/>
          </a:xfrm>
          <a:prstGeom prst="roundRect">
            <a:avLst>
              <a:gd name="adj" fmla="val 7619"/>
            </a:avLst>
          </a:prstGeom>
          <a:solidFill>
            <a:srgbClr val="0E1A2B"/>
          </a:solidFill>
          <a:ln w="12700">
            <a:solidFill>
              <a:srgbClr val="0E1A2B"/>
            </a:solidFill>
            <a:prstDash val="solid"/>
          </a:ln>
        </p:spPr>
      </p:sp>
      <p:sp>
        <p:nvSpPr>
          <p:cNvPr id="22" name="Text 17"/>
          <p:cNvSpPr txBox="1"/>
          <p:nvPr/>
        </p:nvSpPr>
        <p:spPr>
          <a:xfrm>
            <a:off x="868680" y="5029200"/>
            <a:ext cx="10424160" cy="868680"/>
          </a:xfrm>
          <a:prstGeom prst="rect">
            <a:avLst/>
          </a:prstGeom>
          <a:noFill/>
          <a:ln/>
        </p:spPr>
        <p:txBody>
          <a:bodyPr wrap="square" lIns="0" tIns="0" rIns="0" bIns="0" rtlCol="0" anchor="ctr"/>
          <a:lstStyle/>
          <a:p>
            <a:pPr algn="l" indent="0" marL="0">
              <a:spcAft>
                <a:spcPts val="400"/>
              </a:spcAft>
              <a:buNone/>
            </a:pPr>
            <a:r>
              <a:rPr lang="en-US" sz="1500" dirty="0">
                <a:solidFill>
                  <a:srgbClr val="FFFFFF"/>
                </a:solidFill>
                <a:latin typeface="Calibri" pitchFamily="34" charset="0"/>
                <a:ea typeface="Calibri" pitchFamily="34" charset="-122"/>
                <a:cs typeface="Calibri" pitchFamily="34" charset="-120"/>
              </a:rPr>
              <a:t>All three share shared/helios_core: catalog harvest, profiler, proposer, Ossie builder, compiler, engines (Impala, DuckDB), authorization, metadata and tracing.</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E1A2B"/>
        </a:solidFill>
      </p:bgPr>
    </p:bg>
    <p:spTree>
      <p:nvGrpSpPr>
        <p:cNvPr id="1" name=""/>
        <p:cNvGrpSpPr/>
        <p:nvPr/>
      </p:nvGrpSpPr>
      <p:grpSpPr>
        <a:xfrm>
          <a:off x="0" y="0"/>
          <a:ext cx="0" cy="0"/>
          <a:chOff x="0" y="0"/>
          <a:chExt cx="0" cy="0"/>
        </a:xfrm>
      </p:grpSpPr>
      <p:sp>
        <p:nvSpPr>
          <p:cNvPr id="2" name="Shape 0"/>
          <p:cNvSpPr/>
          <p:nvPr/>
        </p:nvSpPr>
        <p:spPr>
          <a:xfrm>
            <a:off x="8412480" y="1097280"/>
            <a:ext cx="4754880" cy="4754880"/>
          </a:xfrm>
          <a:prstGeom prst="ellipse">
            <a:avLst/>
          </a:prstGeom>
          <a:solidFill>
            <a:srgbClr val="1C2F4A"/>
          </a:solidFill>
          <a:ln w="12700">
            <a:solidFill>
              <a:srgbClr val="1C2F4A"/>
            </a:solidFill>
            <a:prstDash val="solid"/>
          </a:ln>
        </p:spPr>
      </p:sp>
      <p:sp>
        <p:nvSpPr>
          <p:cNvPr id="3" name="Shape 1"/>
          <p:cNvSpPr/>
          <p:nvPr/>
        </p:nvSpPr>
        <p:spPr>
          <a:xfrm>
            <a:off x="9966960" y="2651760"/>
            <a:ext cx="1645920" cy="1645920"/>
          </a:xfrm>
          <a:prstGeom prst="ellipse">
            <a:avLst/>
          </a:prstGeom>
          <a:solidFill>
            <a:srgbClr val="F2A541"/>
          </a:solidFill>
          <a:ln w="12700">
            <a:solidFill>
              <a:srgbClr val="F2A541"/>
            </a:solidFill>
            <a:prstDash val="solid"/>
          </a:ln>
        </p:spPr>
      </p:sp>
      <p:pic>
        <p:nvPicPr>
          <p:cNvPr id="4" name="Image 0" descr="preencoded.png">    </p:cNvPr>
          <p:cNvPicPr>
            <a:picLocks noChangeAspect="1"/>
          </p:cNvPicPr>
          <p:nvPr/>
        </p:nvPicPr>
        <p:blipFill>
          <a:blip r:embed="rId1"/>
          <a:stretch>
            <a:fillRect/>
          </a:stretch>
        </p:blipFill>
        <p:spPr>
          <a:xfrm>
            <a:off x="10361981" y="3046781"/>
            <a:ext cx="855878" cy="855878"/>
          </a:xfrm>
          <a:prstGeom prst="rect">
            <a:avLst/>
          </a:prstGeom>
        </p:spPr>
      </p:pic>
      <p:sp>
        <p:nvSpPr>
          <p:cNvPr id="5" name="Text 2"/>
          <p:cNvSpPr txBox="1"/>
          <p:nvPr/>
        </p:nvSpPr>
        <p:spPr>
          <a:xfrm>
            <a:off x="731520" y="2011680"/>
            <a:ext cx="6858000" cy="365760"/>
          </a:xfrm>
          <a:prstGeom prst="rect">
            <a:avLst/>
          </a:prstGeom>
          <a:noFill/>
          <a:ln/>
        </p:spPr>
        <p:txBody>
          <a:bodyPr wrap="square" lIns="0" tIns="0" rIns="0" bIns="0" rtlCol="0" anchor="ctr"/>
          <a:lstStyle/>
          <a:p>
            <a:pPr indent="0" marL="0">
              <a:buNone/>
            </a:pPr>
            <a:r>
              <a:rPr lang="en-US" sz="1400" b="1" spc="300" kern="0" dirty="0">
                <a:solidFill>
                  <a:srgbClr val="F2A541"/>
                </a:solidFill>
                <a:latin typeface="Calibri" pitchFamily="34" charset="0"/>
                <a:ea typeface="Calibri" pitchFamily="34" charset="-122"/>
                <a:cs typeface="Calibri" pitchFamily="34" charset="-120"/>
              </a:rPr>
              <a:t>PART 3 OF 6</a:t>
            </a:r>
            <a:endParaRPr lang="en-US" sz="1400" dirty="0"/>
          </a:p>
        </p:txBody>
      </p:sp>
      <p:sp>
        <p:nvSpPr>
          <p:cNvPr id="6" name="Text 3"/>
          <p:cNvSpPr txBox="1"/>
          <p:nvPr/>
        </p:nvSpPr>
        <p:spPr>
          <a:xfrm>
            <a:off x="731520" y="2468880"/>
            <a:ext cx="7498080" cy="118872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Building the semantic model</a:t>
            </a:r>
            <a:endParaRPr lang="en-US" sz="3800" dirty="0"/>
          </a:p>
        </p:txBody>
      </p:sp>
      <p:sp>
        <p:nvSpPr>
          <p:cNvPr id="7" name="Text 4"/>
          <p:cNvSpPr txBox="1"/>
          <p:nvPr/>
        </p:nvSpPr>
        <p:spPr>
          <a:xfrm>
            <a:off x="731520" y="3749040"/>
            <a:ext cx="6949440" cy="1097280"/>
          </a:xfrm>
          <a:prstGeom prst="rect">
            <a:avLst/>
          </a:prstGeom>
          <a:noFill/>
          <a:ln/>
        </p:spPr>
        <p:txBody>
          <a:bodyPr wrap="square" lIns="0" tIns="0" rIns="0" bIns="0" rtlCol="0" anchor="t"/>
          <a:lstStyle/>
          <a:p>
            <a:pPr indent="0" marL="0">
              <a:buNone/>
            </a:pPr>
            <a:r>
              <a:rPr lang="en-US" sz="1800" dirty="0">
                <a:solidFill>
                  <a:srgbClr val="C9D3E0"/>
                </a:solidFill>
                <a:latin typeface="Calibri" pitchFamily="34" charset="0"/>
                <a:ea typeface="Calibri" pitchFamily="34" charset="-122"/>
                <a:cs typeface="Calibri" pitchFamily="34" charset="-120"/>
              </a:rPr>
              <a:t>Five stages turn a warehouse into a governed, versioned model that tools can compile into SQL.</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3200" b="1" dirty="0">
                <a:solidFill>
                  <a:srgbClr val="0E1A2B"/>
                </a:solidFill>
                <a:latin typeface="Cambria" pitchFamily="34" charset="0"/>
                <a:ea typeface="Cambria" pitchFamily="34" charset="-122"/>
                <a:cs typeface="Cambria" pitchFamily="34" charset="-120"/>
              </a:rPr>
              <a:t>The discovery pipeline</a:t>
            </a:r>
            <a:endParaRPr lang="en-US" sz="3200" dirty="0"/>
          </a:p>
        </p:txBody>
      </p:sp>
      <p:sp>
        <p:nvSpPr>
          <p:cNvPr id="3" name="Text 1"/>
          <p:cNvSpPr txBox="1"/>
          <p:nvPr/>
        </p:nvSpPr>
        <p:spPr>
          <a:xfrm>
            <a:off x="548640" y="1097280"/>
            <a:ext cx="11094415" cy="457200"/>
          </a:xfrm>
          <a:prstGeom prst="rect">
            <a:avLst/>
          </a:prstGeom>
          <a:noFill/>
          <a:ln/>
        </p:spPr>
        <p:txBody>
          <a:bodyPr wrap="square" lIns="0" tIns="0" rIns="0" bIns="0" rtlCol="0" anchor="ctr"/>
          <a:lstStyle/>
          <a:p>
            <a:pPr indent="0" marL="0">
              <a:buNone/>
            </a:pPr>
            <a:r>
              <a:rPr lang="en-US" sz="1600" i="1" dirty="0">
                <a:solidFill>
                  <a:srgbClr val="5B6472"/>
                </a:solidFill>
                <a:latin typeface="Calibri" pitchFamily="34" charset="0"/>
                <a:ea typeface="Calibri" pitchFamily="34" charset="-122"/>
                <a:cs typeface="Calibri" pitchFamily="34" charset="-120"/>
              </a:rPr>
              <a:t>Steps 1–3 are automatic Workbench Jobs. Step 4 is a person. Step 5 is what everything else consumes.</a:t>
            </a:r>
            <a:endParaRPr lang="en-US" sz="1600" dirty="0"/>
          </a:p>
        </p:txBody>
      </p:sp>
      <p:sp>
        <p:nvSpPr>
          <p:cNvPr id="4" name="Shape 2"/>
          <p:cNvSpPr/>
          <p:nvPr/>
        </p:nvSpPr>
        <p:spPr>
          <a:xfrm>
            <a:off x="548640" y="2103120"/>
            <a:ext cx="1956816" cy="1371600"/>
          </a:xfrm>
          <a:prstGeom prst="roundRect">
            <a:avLst>
              <a:gd name="adj" fmla="val 6667"/>
            </a:avLst>
          </a:prstGeom>
          <a:solidFill>
            <a:srgbClr val="1C2F4A"/>
          </a:solidFill>
          <a:ln w="12700">
            <a:solidFill>
              <a:srgbClr val="1C2F4A"/>
            </a:solidFill>
            <a:prstDash val="solid"/>
          </a:ln>
        </p:spPr>
      </p:sp>
      <p:sp>
        <p:nvSpPr>
          <p:cNvPr id="5" name="Text 3"/>
          <p:cNvSpPr txBox="1"/>
          <p:nvPr/>
        </p:nvSpPr>
        <p:spPr>
          <a:xfrm>
            <a:off x="621792" y="2103120"/>
            <a:ext cx="1810512" cy="13716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a:p>
            <a:pPr algn="ctr" indent="0" marL="0">
              <a:buNone/>
            </a:pPr>
            <a:r>
              <a:rPr lang="en-US" sz="1800" b="1" dirty="0">
                <a:solidFill>
                  <a:srgbClr val="FFFFFF"/>
                </a:solidFill>
                <a:latin typeface="Calibri" pitchFamily="34" charset="0"/>
                <a:ea typeface="Calibri" pitchFamily="34" charset="-122"/>
                <a:cs typeface="Calibri" pitchFamily="34" charset="-120"/>
              </a:rPr>
              <a:t>Harvest</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catalog, glossary, query history</a:t>
            </a:r>
            <a:endParaRPr lang="en-US" sz="1100" dirty="0"/>
          </a:p>
        </p:txBody>
      </p:sp>
      <p:sp>
        <p:nvSpPr>
          <p:cNvPr id="6" name="Shape 4"/>
          <p:cNvSpPr/>
          <p:nvPr/>
        </p:nvSpPr>
        <p:spPr>
          <a:xfrm>
            <a:off x="2560320" y="2670048"/>
            <a:ext cx="210312" cy="237744"/>
          </a:xfrm>
          <a:prstGeom prst="rightArrow">
            <a:avLst/>
          </a:prstGeom>
          <a:solidFill>
            <a:srgbClr val="F2A541"/>
          </a:solidFill>
          <a:ln w="12700">
            <a:solidFill>
              <a:srgbClr val="F2A541"/>
            </a:solidFill>
            <a:prstDash val="solid"/>
          </a:ln>
        </p:spPr>
      </p:sp>
      <p:sp>
        <p:nvSpPr>
          <p:cNvPr id="7" name="Shape 5"/>
          <p:cNvSpPr/>
          <p:nvPr/>
        </p:nvSpPr>
        <p:spPr>
          <a:xfrm>
            <a:off x="2825496" y="2103120"/>
            <a:ext cx="1956816" cy="1371600"/>
          </a:xfrm>
          <a:prstGeom prst="roundRect">
            <a:avLst>
              <a:gd name="adj" fmla="val 6667"/>
            </a:avLst>
          </a:prstGeom>
          <a:solidFill>
            <a:srgbClr val="1C2F4A"/>
          </a:solidFill>
          <a:ln w="12700">
            <a:solidFill>
              <a:srgbClr val="1C2F4A"/>
            </a:solidFill>
            <a:prstDash val="solid"/>
          </a:ln>
        </p:spPr>
      </p:sp>
      <p:sp>
        <p:nvSpPr>
          <p:cNvPr id="8" name="Text 6"/>
          <p:cNvSpPr txBox="1"/>
          <p:nvPr/>
        </p:nvSpPr>
        <p:spPr>
          <a:xfrm>
            <a:off x="2898648" y="2103120"/>
            <a:ext cx="1810512" cy="13716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a:p>
            <a:pPr algn="ctr" indent="0" marL="0">
              <a:buNone/>
            </a:pPr>
            <a:r>
              <a:rPr lang="en-US" sz="1800" b="1" dirty="0">
                <a:solidFill>
                  <a:srgbClr val="FFFFFF"/>
                </a:solidFill>
                <a:latin typeface="Calibri" pitchFamily="34" charset="0"/>
                <a:ea typeface="Calibri" pitchFamily="34" charset="-122"/>
                <a:cs typeface="Calibri" pitchFamily="34" charset="-120"/>
              </a:rPr>
              <a:t>Profile</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keys, overlaps, statistics</a:t>
            </a:r>
            <a:endParaRPr lang="en-US" sz="1100" dirty="0"/>
          </a:p>
        </p:txBody>
      </p:sp>
      <p:sp>
        <p:nvSpPr>
          <p:cNvPr id="9" name="Shape 7"/>
          <p:cNvSpPr/>
          <p:nvPr/>
        </p:nvSpPr>
        <p:spPr>
          <a:xfrm>
            <a:off x="4837176" y="2670048"/>
            <a:ext cx="210312" cy="237744"/>
          </a:xfrm>
          <a:prstGeom prst="rightArrow">
            <a:avLst/>
          </a:prstGeom>
          <a:solidFill>
            <a:srgbClr val="F2A541"/>
          </a:solidFill>
          <a:ln w="12700">
            <a:solidFill>
              <a:srgbClr val="F2A541"/>
            </a:solidFill>
            <a:prstDash val="solid"/>
          </a:ln>
        </p:spPr>
      </p:sp>
      <p:sp>
        <p:nvSpPr>
          <p:cNvPr id="10" name="Shape 8"/>
          <p:cNvSpPr/>
          <p:nvPr/>
        </p:nvSpPr>
        <p:spPr>
          <a:xfrm>
            <a:off x="5102352" y="2103120"/>
            <a:ext cx="1956816" cy="1371600"/>
          </a:xfrm>
          <a:prstGeom prst="roundRect">
            <a:avLst>
              <a:gd name="adj" fmla="val 6667"/>
            </a:avLst>
          </a:prstGeom>
          <a:solidFill>
            <a:srgbClr val="1C2F4A"/>
          </a:solidFill>
          <a:ln w="12700">
            <a:solidFill>
              <a:srgbClr val="1C2F4A"/>
            </a:solidFill>
            <a:prstDash val="solid"/>
          </a:ln>
        </p:spPr>
      </p:sp>
      <p:sp>
        <p:nvSpPr>
          <p:cNvPr id="11" name="Text 9"/>
          <p:cNvSpPr txBox="1"/>
          <p:nvPr/>
        </p:nvSpPr>
        <p:spPr>
          <a:xfrm>
            <a:off x="5175504" y="2103120"/>
            <a:ext cx="1810512" cy="13716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a:p>
            <a:pPr algn="ctr" indent="0" marL="0">
              <a:buNone/>
            </a:pPr>
            <a:r>
              <a:rPr lang="en-US" sz="1800" b="1" dirty="0">
                <a:solidFill>
                  <a:srgbClr val="FFFFFF"/>
                </a:solidFill>
                <a:latin typeface="Calibri" pitchFamily="34" charset="0"/>
                <a:ea typeface="Calibri" pitchFamily="34" charset="-122"/>
                <a:cs typeface="Calibri" pitchFamily="34" charset="-120"/>
              </a:rPr>
              <a:t>Propose</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LLM judgement + confidence</a:t>
            </a:r>
            <a:endParaRPr lang="en-US" sz="1100" dirty="0"/>
          </a:p>
        </p:txBody>
      </p:sp>
      <p:sp>
        <p:nvSpPr>
          <p:cNvPr id="12" name="Shape 10"/>
          <p:cNvSpPr/>
          <p:nvPr/>
        </p:nvSpPr>
        <p:spPr>
          <a:xfrm>
            <a:off x="7114032" y="2670048"/>
            <a:ext cx="210312" cy="237744"/>
          </a:xfrm>
          <a:prstGeom prst="rightArrow">
            <a:avLst/>
          </a:prstGeom>
          <a:solidFill>
            <a:srgbClr val="F2A541"/>
          </a:solidFill>
          <a:ln w="12700">
            <a:solidFill>
              <a:srgbClr val="F2A541"/>
            </a:solidFill>
            <a:prstDash val="solid"/>
          </a:ln>
        </p:spPr>
      </p:sp>
      <p:sp>
        <p:nvSpPr>
          <p:cNvPr id="13" name="Shape 11"/>
          <p:cNvSpPr/>
          <p:nvPr/>
        </p:nvSpPr>
        <p:spPr>
          <a:xfrm>
            <a:off x="7379208" y="2103120"/>
            <a:ext cx="1956816" cy="1371600"/>
          </a:xfrm>
          <a:prstGeom prst="roundRect">
            <a:avLst>
              <a:gd name="adj" fmla="val 6667"/>
            </a:avLst>
          </a:prstGeom>
          <a:solidFill>
            <a:srgbClr val="F2A541"/>
          </a:solidFill>
          <a:ln w="12700">
            <a:solidFill>
              <a:srgbClr val="F2A541"/>
            </a:solidFill>
            <a:prstDash val="solid"/>
          </a:ln>
        </p:spPr>
      </p:sp>
      <p:sp>
        <p:nvSpPr>
          <p:cNvPr id="14" name="Text 12"/>
          <p:cNvSpPr txBox="1"/>
          <p:nvPr/>
        </p:nvSpPr>
        <p:spPr>
          <a:xfrm>
            <a:off x="7452360" y="2103120"/>
            <a:ext cx="1810512" cy="1371600"/>
          </a:xfrm>
          <a:prstGeom prst="rect">
            <a:avLst/>
          </a:prstGeom>
          <a:noFill/>
          <a:ln/>
        </p:spPr>
        <p:txBody>
          <a:bodyPr wrap="square" lIns="0" tIns="0" rIns="0" bIns="0" rtlCol="0" anchor="ctr"/>
          <a:lstStyle/>
          <a:p>
            <a:pPr algn="ctr" indent="0" marL="0">
              <a:buNone/>
            </a:pPr>
            <a:r>
              <a:rPr lang="en-US" sz="1100" b="1" dirty="0">
                <a:solidFill>
                  <a:srgbClr val="0E1A2B"/>
                </a:solidFill>
                <a:latin typeface="Calibri" pitchFamily="34" charset="0"/>
                <a:ea typeface="Calibri" pitchFamily="34" charset="-122"/>
                <a:cs typeface="Calibri" pitchFamily="34" charset="-120"/>
              </a:rPr>
              <a:t>4</a:t>
            </a:r>
            <a:endParaRPr lang="en-US" sz="1100" dirty="0"/>
          </a:p>
          <a:p>
            <a:pPr algn="ctr" indent="0" marL="0">
              <a:buNone/>
            </a:pPr>
            <a:r>
              <a:rPr lang="en-US" sz="1800" b="1" dirty="0">
                <a:solidFill>
                  <a:srgbClr val="0E1A2B"/>
                </a:solidFill>
                <a:latin typeface="Calibri" pitchFamily="34" charset="0"/>
                <a:ea typeface="Calibri" pitchFamily="34" charset="-122"/>
                <a:cs typeface="Calibri" pitchFamily="34" charset="-120"/>
              </a:rPr>
              <a:t>Review</a:t>
            </a:r>
            <a:endParaRPr lang="en-US" sz="1100" dirty="0"/>
          </a:p>
          <a:p>
            <a:pPr algn="ctr" indent="0" marL="0">
              <a:buNone/>
            </a:pPr>
            <a:r>
              <a:rPr lang="en-US" sz="1100" dirty="0">
                <a:solidFill>
                  <a:srgbClr val="0E1A2B"/>
                </a:solidFill>
                <a:latin typeface="Calibri" pitchFamily="34" charset="0"/>
                <a:ea typeface="Calibri" pitchFamily="34" charset="-122"/>
                <a:cs typeface="Calibri" pitchFamily="34" charset="-120"/>
              </a:rPr>
              <a:t>a human accepts / edits</a:t>
            </a:r>
            <a:endParaRPr lang="en-US" sz="1100" dirty="0"/>
          </a:p>
        </p:txBody>
      </p:sp>
      <p:sp>
        <p:nvSpPr>
          <p:cNvPr id="15" name="Shape 13"/>
          <p:cNvSpPr/>
          <p:nvPr/>
        </p:nvSpPr>
        <p:spPr>
          <a:xfrm>
            <a:off x="9390888" y="2670048"/>
            <a:ext cx="210312" cy="237744"/>
          </a:xfrm>
          <a:prstGeom prst="rightArrow">
            <a:avLst/>
          </a:prstGeom>
          <a:solidFill>
            <a:srgbClr val="F2A541"/>
          </a:solidFill>
          <a:ln w="12700">
            <a:solidFill>
              <a:srgbClr val="F2A541"/>
            </a:solidFill>
            <a:prstDash val="solid"/>
          </a:ln>
        </p:spPr>
      </p:sp>
      <p:sp>
        <p:nvSpPr>
          <p:cNvPr id="16" name="Shape 14"/>
          <p:cNvSpPr/>
          <p:nvPr/>
        </p:nvSpPr>
        <p:spPr>
          <a:xfrm>
            <a:off x="9656064" y="2103120"/>
            <a:ext cx="1956816" cy="1371600"/>
          </a:xfrm>
          <a:prstGeom prst="roundRect">
            <a:avLst>
              <a:gd name="adj" fmla="val 6667"/>
            </a:avLst>
          </a:prstGeom>
          <a:solidFill>
            <a:srgbClr val="1C2F4A"/>
          </a:solidFill>
          <a:ln w="12700">
            <a:solidFill>
              <a:srgbClr val="1C2F4A"/>
            </a:solidFill>
            <a:prstDash val="solid"/>
          </a:ln>
        </p:spPr>
      </p:sp>
      <p:sp>
        <p:nvSpPr>
          <p:cNvPr id="17" name="Text 15"/>
          <p:cNvSpPr txBox="1"/>
          <p:nvPr/>
        </p:nvSpPr>
        <p:spPr>
          <a:xfrm>
            <a:off x="9729216" y="2103120"/>
            <a:ext cx="1810512" cy="13716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a:p>
            <a:pPr algn="ctr" indent="0" marL="0">
              <a:buNone/>
            </a:pPr>
            <a:r>
              <a:rPr lang="en-US" sz="1800" b="1" dirty="0">
                <a:solidFill>
                  <a:srgbClr val="FFFFFF"/>
                </a:solidFill>
                <a:latin typeface="Calibri" pitchFamily="34" charset="0"/>
                <a:ea typeface="Calibri" pitchFamily="34" charset="-122"/>
                <a:cs typeface="Calibri" pitchFamily="34" charset="-120"/>
              </a:rPr>
              <a:t>Publish</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validated Ossie model</a:t>
            </a:r>
            <a:endParaRPr lang="en-US" sz="1100" dirty="0"/>
          </a:p>
        </p:txBody>
      </p:sp>
      <p:sp>
        <p:nvSpPr>
          <p:cNvPr id="18" name="Text 16"/>
          <p:cNvSpPr txBox="1"/>
          <p:nvPr/>
        </p:nvSpPr>
        <p:spPr>
          <a:xfrm>
            <a:off x="548640" y="3611880"/>
            <a:ext cx="1956816" cy="365760"/>
          </a:xfrm>
          <a:prstGeom prst="rect">
            <a:avLst/>
          </a:prstGeom>
          <a:noFill/>
          <a:ln/>
        </p:spPr>
        <p:txBody>
          <a:bodyPr wrap="square" lIns="0" tIns="0" rIns="0" bIns="0" rtlCol="0" anchor="t"/>
          <a:lstStyle/>
          <a:p>
            <a:pPr algn="ctr" indent="0" marL="0">
              <a:spcAft>
                <a:spcPts val="400"/>
              </a:spcAft>
              <a:buNone/>
            </a:pPr>
            <a:r>
              <a:rPr lang="en-US" sz="1200" i="1" dirty="0">
                <a:solidFill>
                  <a:srgbClr val="5B6472"/>
                </a:solidFill>
                <a:latin typeface="Calibri" pitchFamily="34" charset="0"/>
                <a:ea typeface="Calibri" pitchFamily="34" charset="-122"/>
                <a:cs typeface="Calibri" pitchFamily="34" charset="-120"/>
              </a:rPr>
              <a:t>harvest.json</a:t>
            </a:r>
            <a:endParaRPr lang="en-US" sz="1200" dirty="0"/>
          </a:p>
        </p:txBody>
      </p:sp>
      <p:sp>
        <p:nvSpPr>
          <p:cNvPr id="19" name="Text 17"/>
          <p:cNvSpPr txBox="1"/>
          <p:nvPr/>
        </p:nvSpPr>
        <p:spPr>
          <a:xfrm>
            <a:off x="2825496" y="3611880"/>
            <a:ext cx="1956816" cy="365760"/>
          </a:xfrm>
          <a:prstGeom prst="rect">
            <a:avLst/>
          </a:prstGeom>
          <a:noFill/>
          <a:ln/>
        </p:spPr>
        <p:txBody>
          <a:bodyPr wrap="square" lIns="0" tIns="0" rIns="0" bIns="0" rtlCol="0" anchor="t"/>
          <a:lstStyle/>
          <a:p>
            <a:pPr algn="ctr" indent="0" marL="0">
              <a:spcAft>
                <a:spcPts val="400"/>
              </a:spcAft>
              <a:buNone/>
            </a:pPr>
            <a:r>
              <a:rPr lang="en-US" sz="1200" i="1" dirty="0">
                <a:solidFill>
                  <a:srgbClr val="5B6472"/>
                </a:solidFill>
                <a:latin typeface="Calibri" pitchFamily="34" charset="0"/>
                <a:ea typeface="Calibri" pitchFamily="34" charset="-122"/>
                <a:cs typeface="Calibri" pitchFamily="34" charset="-120"/>
              </a:rPr>
              <a:t>profile.json</a:t>
            </a:r>
            <a:endParaRPr lang="en-US" sz="1200" dirty="0"/>
          </a:p>
        </p:txBody>
      </p:sp>
      <p:sp>
        <p:nvSpPr>
          <p:cNvPr id="20" name="Text 18"/>
          <p:cNvSpPr txBox="1"/>
          <p:nvPr/>
        </p:nvSpPr>
        <p:spPr>
          <a:xfrm>
            <a:off x="5102352" y="3611880"/>
            <a:ext cx="1956816" cy="365760"/>
          </a:xfrm>
          <a:prstGeom prst="rect">
            <a:avLst/>
          </a:prstGeom>
          <a:noFill/>
          <a:ln/>
        </p:spPr>
        <p:txBody>
          <a:bodyPr wrap="square" lIns="0" tIns="0" rIns="0" bIns="0" rtlCol="0" anchor="t"/>
          <a:lstStyle/>
          <a:p>
            <a:pPr algn="ctr" indent="0" marL="0">
              <a:spcAft>
                <a:spcPts val="400"/>
              </a:spcAft>
              <a:buNone/>
            </a:pPr>
            <a:r>
              <a:rPr lang="en-US" sz="1200" i="1" dirty="0">
                <a:solidFill>
                  <a:srgbClr val="5B6472"/>
                </a:solidFill>
                <a:latin typeface="Calibri" pitchFamily="34" charset="0"/>
                <a:ea typeface="Calibri" pitchFamily="34" charset="-122"/>
                <a:cs typeface="Calibri" pitchFamily="34" charset="-120"/>
              </a:rPr>
              <a:t>propose.json</a:t>
            </a:r>
            <a:endParaRPr lang="en-US" sz="1200" dirty="0"/>
          </a:p>
        </p:txBody>
      </p:sp>
      <p:sp>
        <p:nvSpPr>
          <p:cNvPr id="21" name="Text 19"/>
          <p:cNvSpPr txBox="1"/>
          <p:nvPr/>
        </p:nvSpPr>
        <p:spPr>
          <a:xfrm>
            <a:off x="7379208" y="3611880"/>
            <a:ext cx="1956816" cy="365760"/>
          </a:xfrm>
          <a:prstGeom prst="rect">
            <a:avLst/>
          </a:prstGeom>
          <a:noFill/>
          <a:ln/>
        </p:spPr>
        <p:txBody>
          <a:bodyPr wrap="square" lIns="0" tIns="0" rIns="0" bIns="0" rtlCol="0" anchor="t"/>
          <a:lstStyle/>
          <a:p>
            <a:pPr algn="ctr" indent="0" marL="0">
              <a:spcAft>
                <a:spcPts val="400"/>
              </a:spcAft>
              <a:buNone/>
            </a:pPr>
            <a:r>
              <a:rPr lang="en-US" sz="1200" i="1" dirty="0">
                <a:solidFill>
                  <a:srgbClr val="5B6472"/>
                </a:solidFill>
                <a:latin typeface="Calibri" pitchFamily="34" charset="0"/>
                <a:ea typeface="Calibri" pitchFamily="34" charset="-122"/>
                <a:cs typeface="Calibri" pitchFamily="34" charset="-120"/>
              </a:rPr>
              <a:t>review.json</a:t>
            </a:r>
            <a:endParaRPr lang="en-US" sz="1200" dirty="0"/>
          </a:p>
        </p:txBody>
      </p:sp>
      <p:sp>
        <p:nvSpPr>
          <p:cNvPr id="22" name="Text 20"/>
          <p:cNvSpPr txBox="1"/>
          <p:nvPr/>
        </p:nvSpPr>
        <p:spPr>
          <a:xfrm>
            <a:off x="9656064" y="3611880"/>
            <a:ext cx="1956816" cy="365760"/>
          </a:xfrm>
          <a:prstGeom prst="rect">
            <a:avLst/>
          </a:prstGeom>
          <a:noFill/>
          <a:ln/>
        </p:spPr>
        <p:txBody>
          <a:bodyPr wrap="square" lIns="0" tIns="0" rIns="0" bIns="0" rtlCol="0" anchor="t"/>
          <a:lstStyle/>
          <a:p>
            <a:pPr algn="ctr" indent="0" marL="0">
              <a:spcAft>
                <a:spcPts val="400"/>
              </a:spcAft>
              <a:buNone/>
            </a:pPr>
            <a:r>
              <a:rPr lang="en-US" sz="1200" i="1" dirty="0">
                <a:solidFill>
                  <a:srgbClr val="5B6472"/>
                </a:solidFill>
                <a:latin typeface="Calibri" pitchFamily="34" charset="0"/>
                <a:ea typeface="Calibri" pitchFamily="34" charset="-122"/>
                <a:cs typeface="Calibri" pitchFamily="34" charset="-120"/>
              </a:rPr>
              <a:t>semantic.ossie.yaml</a:t>
            </a:r>
            <a:endParaRPr lang="en-US" sz="1200" dirty="0"/>
          </a:p>
        </p:txBody>
      </p:sp>
      <p:sp>
        <p:nvSpPr>
          <p:cNvPr id="23" name="Shape 21"/>
          <p:cNvSpPr/>
          <p:nvPr/>
        </p:nvSpPr>
        <p:spPr>
          <a:xfrm>
            <a:off x="548640" y="4343400"/>
            <a:ext cx="11064240" cy="1600200"/>
          </a:xfrm>
          <a:prstGeom prst="roundRect">
            <a:avLst>
              <a:gd name="adj" fmla="val 4571"/>
            </a:avLst>
          </a:prstGeom>
          <a:solidFill>
            <a:srgbClr val="FDF1DE"/>
          </a:solidFill>
          <a:ln w="12700">
            <a:solidFill>
              <a:srgbClr val="FDF1DE"/>
            </a:solidFill>
            <a:prstDash val="solid"/>
          </a:ln>
        </p:spPr>
      </p:sp>
      <p:sp>
        <p:nvSpPr>
          <p:cNvPr id="24" name="Shape 22"/>
          <p:cNvSpPr/>
          <p:nvPr/>
        </p:nvSpPr>
        <p:spPr>
          <a:xfrm>
            <a:off x="822960" y="4754880"/>
            <a:ext cx="731520" cy="731520"/>
          </a:xfrm>
          <a:prstGeom prst="ellipse">
            <a:avLst/>
          </a:prstGeom>
          <a:solidFill>
            <a:srgbClr val="F2A541"/>
          </a:solidFill>
          <a:ln w="12700">
            <a:solidFill>
              <a:srgbClr val="F2A541"/>
            </a:solidFill>
            <a:prstDash val="solid"/>
          </a:ln>
        </p:spPr>
      </p:sp>
      <p:pic>
        <p:nvPicPr>
          <p:cNvPr id="25" name="Image 0" descr="preencoded.png">    </p:cNvPr>
          <p:cNvPicPr>
            <a:picLocks noChangeAspect="1"/>
          </p:cNvPicPr>
          <p:nvPr/>
        </p:nvPicPr>
        <p:blipFill>
          <a:blip r:embed="rId1"/>
          <a:stretch>
            <a:fillRect/>
          </a:stretch>
        </p:blipFill>
        <p:spPr>
          <a:xfrm>
            <a:off x="998525" y="4930445"/>
            <a:ext cx="380390" cy="380390"/>
          </a:xfrm>
          <a:prstGeom prst="rect">
            <a:avLst/>
          </a:prstGeom>
        </p:spPr>
      </p:pic>
      <p:sp>
        <p:nvSpPr>
          <p:cNvPr id="26" name="Text 23"/>
          <p:cNvSpPr txBox="1"/>
          <p:nvPr/>
        </p:nvSpPr>
        <p:spPr>
          <a:xfrm>
            <a:off x="1783080" y="4526280"/>
            <a:ext cx="9601200" cy="1280160"/>
          </a:xfrm>
          <a:prstGeom prst="rect">
            <a:avLst/>
          </a:prstGeom>
          <a:noFill/>
          <a:ln/>
        </p:spPr>
        <p:txBody>
          <a:bodyPr wrap="square" lIns="0" tIns="0" rIns="0" bIns="0" rtlCol="0" anchor="ctr"/>
          <a:lstStyle/>
          <a:p>
            <a:pPr algn="l" indent="0" marL="0">
              <a:spcAft>
                <a:spcPts val="400"/>
              </a:spcAft>
              <a:buNone/>
            </a:pPr>
            <a:r>
              <a:rPr lang="en-US" sz="1600" b="1" dirty="0">
                <a:solidFill>
                  <a:srgbClr val="1F2937"/>
                </a:solidFill>
                <a:latin typeface="Calibri" pitchFamily="34" charset="0"/>
                <a:ea typeface="Calibri" pitchFamily="34" charset="-122"/>
                <a:cs typeface="Calibri" pitchFamily="34" charset="-120"/>
              </a:rPr>
              <a:t>Published models feed AI agents through MCP, </a:t>
            </a:r>
            <a:pPr algn="l" indent="0" marL="0">
              <a:spcAft>
                <a:spcPts val="400"/>
              </a:spcAft>
              <a:buNone/>
            </a:pPr>
            <a:r>
              <a:rPr lang="en-US" sz="1600" dirty="0">
                <a:solidFill>
                  <a:srgbClr val="1F2937"/>
                </a:solidFill>
                <a:latin typeface="Calibri" pitchFamily="34" charset="0"/>
                <a:ea typeface="Calibri" pitchFamily="34" charset="-122"/>
                <a:cs typeface="Calibri" pitchFamily="34" charset="-120"/>
              </a:rPr>
              <a:t>and new terms flow back into the glossary. Every run is recorded under runs/&lt;run_id&gt;/, and the proposal itself is immutable; review decisions are stored alongside it.</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2600" b="1" dirty="0">
                <a:solidFill>
                  <a:srgbClr val="0E1A2B"/>
                </a:solidFill>
                <a:latin typeface="Cambria" pitchFamily="34" charset="0"/>
                <a:ea typeface="Cambria" pitchFamily="34" charset="-122"/>
                <a:cs typeface="Cambria" pitchFamily="34" charset="-120"/>
              </a:rPr>
              <a:t>1 · Harvest: snapshot what the warehouse already knows</a:t>
            </a:r>
            <a:endParaRPr lang="en-US" sz="2600" dirty="0"/>
          </a:p>
        </p:txBody>
      </p:sp>
      <p:sp>
        <p:nvSpPr>
          <p:cNvPr id="3" name="Text 1"/>
          <p:cNvSpPr txBox="1"/>
          <p:nvPr/>
        </p:nvSpPr>
        <p:spPr>
          <a:xfrm>
            <a:off x="548640" y="1463040"/>
            <a:ext cx="6400800" cy="40233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Hive Metastore: tables, columns, types, partitions, Iceberg schema, row counts</a:t>
            </a:r>
            <a:endParaRPr lang="en-US" sz="1700" dirty="0"/>
          </a:p>
          <a:p>
            <a:pPr marL="342900" indent="-3429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Atlas: glossary terms and their links to columns</a:t>
            </a:r>
            <a:endParaRPr lang="en-US" sz="1700" dirty="0"/>
          </a:p>
          <a:p>
            <a:pPr marL="342900" indent="-3429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Query history from sys.impala_query_log (or a folder of .sql files)</a:t>
            </a:r>
            <a:endParaRPr lang="en-US" sz="1700" dirty="0"/>
          </a:p>
          <a:p>
            <a:pPr marL="342900" indent="-3429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Written to runs/&lt;run_id&gt;/harvest.json; the run id is a UTC timestamp</a:t>
            </a:r>
            <a:endParaRPr lang="en-US" sz="1700" dirty="0"/>
          </a:p>
          <a:p>
            <a:pPr marL="342900" indent="-3429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"Nothing clever happens here." It's a faithful snapshot for the later stages</a:t>
            </a:r>
            <a:endParaRPr lang="en-US" sz="1700" dirty="0"/>
          </a:p>
        </p:txBody>
      </p:sp>
      <p:sp>
        <p:nvSpPr>
          <p:cNvPr id="4" name="Shape 2"/>
          <p:cNvSpPr/>
          <p:nvPr/>
        </p:nvSpPr>
        <p:spPr>
          <a:xfrm>
            <a:off x="7406640" y="1463040"/>
            <a:ext cx="4206240" cy="3931920"/>
          </a:xfrm>
          <a:prstGeom prst="roundRect">
            <a:avLst>
              <a:gd name="adj" fmla="val 1860"/>
            </a:avLst>
          </a:prstGeom>
          <a:solidFill>
            <a:srgbClr val="0E1A2B"/>
          </a:solidFill>
          <a:ln w="12700">
            <a:solidFill>
              <a:srgbClr val="0E1A2B"/>
            </a:solidFill>
            <a:prstDash val="solid"/>
          </a:ln>
        </p:spPr>
      </p:sp>
      <p:sp>
        <p:nvSpPr>
          <p:cNvPr id="5" name="Text 3"/>
          <p:cNvSpPr txBox="1"/>
          <p:nvPr/>
        </p:nvSpPr>
        <p:spPr>
          <a:xfrm>
            <a:off x="7680960" y="1645920"/>
            <a:ext cx="3657600" cy="457200"/>
          </a:xfrm>
          <a:prstGeom prst="rect">
            <a:avLst/>
          </a:prstGeom>
          <a:noFill/>
          <a:ln/>
        </p:spPr>
        <p:txBody>
          <a:bodyPr wrap="square" lIns="0" tIns="0" rIns="0" bIns="0" rtlCol="0" anchor="ctr"/>
          <a:lstStyle/>
          <a:p>
            <a:pPr indent="0" marL="0">
              <a:buNone/>
            </a:pPr>
            <a:r>
              <a:rPr lang="en-US" sz="1400" b="1" dirty="0">
                <a:solidFill>
                  <a:srgbClr val="F2A541"/>
                </a:solidFill>
                <a:latin typeface="Calibri" pitchFamily="34" charset="0"/>
                <a:ea typeface="Calibri" pitchFamily="34" charset="-122"/>
                <a:cs typeface="Calibri" pitchFamily="34" charset="-120"/>
              </a:rPr>
              <a:t>Example run</a:t>
            </a:r>
            <a:endParaRPr lang="en-US" sz="1400" dirty="0"/>
          </a:p>
        </p:txBody>
      </p:sp>
      <p:sp>
        <p:nvSpPr>
          <p:cNvPr id="6" name="Text 4"/>
          <p:cNvSpPr txBox="1"/>
          <p:nvPr/>
        </p:nvSpPr>
        <p:spPr>
          <a:xfrm>
            <a:off x="7680960" y="2148840"/>
            <a:ext cx="1737360" cy="914400"/>
          </a:xfrm>
          <a:prstGeom prst="rect">
            <a:avLst/>
          </a:prstGeom>
          <a:noFill/>
          <a:ln/>
        </p:spPr>
        <p:txBody>
          <a:bodyPr wrap="square" lIns="0" tIns="0" rIns="0" bIns="0" rtlCol="0" anchor="ctr"/>
          <a:lstStyle/>
          <a:p>
            <a:pPr algn="l" indent="0" marL="0">
              <a:buNone/>
            </a:pPr>
            <a:r>
              <a:rPr lang="en-US" sz="4400" b="1" dirty="0">
                <a:solidFill>
                  <a:srgbClr val="FFFFFF"/>
                </a:solidFill>
                <a:latin typeface="Cambria" pitchFamily="34" charset="0"/>
                <a:ea typeface="Cambria" pitchFamily="34" charset="-122"/>
                <a:cs typeface="Cambria" pitchFamily="34" charset="-120"/>
              </a:rPr>
              <a:t>24</a:t>
            </a:r>
            <a:endParaRPr lang="en-US" sz="4400" dirty="0"/>
          </a:p>
        </p:txBody>
      </p:sp>
      <p:sp>
        <p:nvSpPr>
          <p:cNvPr id="7" name="Text 5"/>
          <p:cNvSpPr txBox="1"/>
          <p:nvPr/>
        </p:nvSpPr>
        <p:spPr>
          <a:xfrm>
            <a:off x="7680960" y="3063240"/>
            <a:ext cx="1737360" cy="548640"/>
          </a:xfrm>
          <a:prstGeom prst="rect">
            <a:avLst/>
          </a:prstGeom>
          <a:noFill/>
          <a:ln/>
        </p:spPr>
        <p:txBody>
          <a:bodyPr wrap="square" lIns="0" tIns="0" rIns="0" bIns="0" rtlCol="0" anchor="ctr"/>
          <a:lstStyle/>
          <a:p>
            <a:pPr algn="l" indent="0" marL="0">
              <a:buNone/>
            </a:pPr>
            <a:r>
              <a:rPr lang="en-US" sz="1300" dirty="0">
                <a:solidFill>
                  <a:srgbClr val="5B6472"/>
                </a:solidFill>
                <a:latin typeface="Calibri" pitchFamily="34" charset="0"/>
                <a:ea typeface="Calibri" pitchFamily="34" charset="-122"/>
                <a:cs typeface="Calibri" pitchFamily="34" charset="-120"/>
              </a:rPr>
              <a:t>tables</a:t>
            </a:r>
            <a:endParaRPr lang="en-US" sz="1300" dirty="0"/>
          </a:p>
        </p:txBody>
      </p:sp>
      <p:sp>
        <p:nvSpPr>
          <p:cNvPr id="8" name="Text 6"/>
          <p:cNvSpPr txBox="1"/>
          <p:nvPr/>
        </p:nvSpPr>
        <p:spPr>
          <a:xfrm>
            <a:off x="9509760" y="2148840"/>
            <a:ext cx="1920240" cy="914400"/>
          </a:xfrm>
          <a:prstGeom prst="rect">
            <a:avLst/>
          </a:prstGeom>
          <a:noFill/>
          <a:ln/>
        </p:spPr>
        <p:txBody>
          <a:bodyPr wrap="square" lIns="0" tIns="0" rIns="0" bIns="0" rtlCol="0" anchor="ctr"/>
          <a:lstStyle/>
          <a:p>
            <a:pPr algn="l" indent="0" marL="0">
              <a:buNone/>
            </a:pPr>
            <a:r>
              <a:rPr lang="en-US" sz="4400" b="1" dirty="0">
                <a:solidFill>
                  <a:srgbClr val="FFFFFF"/>
                </a:solidFill>
                <a:latin typeface="Cambria" pitchFamily="34" charset="0"/>
                <a:ea typeface="Cambria" pitchFamily="34" charset="-122"/>
                <a:cs typeface="Cambria" pitchFamily="34" charset="-120"/>
              </a:rPr>
              <a:t>425</a:t>
            </a:r>
            <a:endParaRPr lang="en-US" sz="4400" dirty="0"/>
          </a:p>
        </p:txBody>
      </p:sp>
      <p:sp>
        <p:nvSpPr>
          <p:cNvPr id="9" name="Text 7"/>
          <p:cNvSpPr txBox="1"/>
          <p:nvPr/>
        </p:nvSpPr>
        <p:spPr>
          <a:xfrm>
            <a:off x="9509760" y="3063240"/>
            <a:ext cx="1920240" cy="548640"/>
          </a:xfrm>
          <a:prstGeom prst="rect">
            <a:avLst/>
          </a:prstGeom>
          <a:noFill/>
          <a:ln/>
        </p:spPr>
        <p:txBody>
          <a:bodyPr wrap="square" lIns="0" tIns="0" rIns="0" bIns="0" rtlCol="0" anchor="ctr"/>
          <a:lstStyle/>
          <a:p>
            <a:pPr algn="l" indent="0" marL="0">
              <a:buNone/>
            </a:pPr>
            <a:r>
              <a:rPr lang="en-US" sz="1300" dirty="0">
                <a:solidFill>
                  <a:srgbClr val="5B6472"/>
                </a:solidFill>
                <a:latin typeface="Calibri" pitchFamily="34" charset="0"/>
                <a:ea typeface="Calibri" pitchFamily="34" charset="-122"/>
                <a:cs typeface="Calibri" pitchFamily="34" charset="-120"/>
              </a:rPr>
              <a:t>columns</a:t>
            </a:r>
            <a:endParaRPr lang="en-US" sz="1300" dirty="0"/>
          </a:p>
        </p:txBody>
      </p:sp>
      <p:sp>
        <p:nvSpPr>
          <p:cNvPr id="10" name="Text 8"/>
          <p:cNvSpPr txBox="1"/>
          <p:nvPr/>
        </p:nvSpPr>
        <p:spPr>
          <a:xfrm>
            <a:off x="7680960" y="3611880"/>
            <a:ext cx="1737360" cy="914400"/>
          </a:xfrm>
          <a:prstGeom prst="rect">
            <a:avLst/>
          </a:prstGeom>
          <a:noFill/>
          <a:ln/>
        </p:spPr>
        <p:txBody>
          <a:bodyPr wrap="square" lIns="0" tIns="0" rIns="0" bIns="0" rtlCol="0" anchor="ctr"/>
          <a:lstStyle/>
          <a:p>
            <a:pPr algn="l" indent="0" marL="0">
              <a:buNone/>
            </a:pPr>
            <a:r>
              <a:rPr lang="en-US" sz="4400" b="1" dirty="0">
                <a:solidFill>
                  <a:srgbClr val="FFFFFF"/>
                </a:solidFill>
                <a:latin typeface="Cambria" pitchFamily="34" charset="0"/>
                <a:ea typeface="Cambria" pitchFamily="34" charset="-122"/>
                <a:cs typeface="Cambria" pitchFamily="34" charset="-120"/>
              </a:rPr>
              <a:t>138</a:t>
            </a:r>
            <a:endParaRPr lang="en-US" sz="4400" dirty="0"/>
          </a:p>
        </p:txBody>
      </p:sp>
      <p:sp>
        <p:nvSpPr>
          <p:cNvPr id="11" name="Text 9"/>
          <p:cNvSpPr txBox="1"/>
          <p:nvPr/>
        </p:nvSpPr>
        <p:spPr>
          <a:xfrm>
            <a:off x="7680960" y="4526280"/>
            <a:ext cx="1737360" cy="548640"/>
          </a:xfrm>
          <a:prstGeom prst="rect">
            <a:avLst/>
          </a:prstGeom>
          <a:noFill/>
          <a:ln/>
        </p:spPr>
        <p:txBody>
          <a:bodyPr wrap="square" lIns="0" tIns="0" rIns="0" bIns="0" rtlCol="0" anchor="ctr"/>
          <a:lstStyle/>
          <a:p>
            <a:pPr algn="l" indent="0" marL="0">
              <a:buNone/>
            </a:pPr>
            <a:r>
              <a:rPr lang="en-US" sz="1300" dirty="0">
                <a:solidFill>
                  <a:srgbClr val="5B6472"/>
                </a:solidFill>
                <a:latin typeface="Calibri" pitchFamily="34" charset="0"/>
                <a:ea typeface="Calibri" pitchFamily="34" charset="-122"/>
                <a:cs typeface="Calibri" pitchFamily="34" charset="-120"/>
              </a:rPr>
              <a:t>glossary terms</a:t>
            </a:r>
            <a:endParaRPr lang="en-US" sz="1300" dirty="0"/>
          </a:p>
        </p:txBody>
      </p:sp>
      <p:sp>
        <p:nvSpPr>
          <p:cNvPr id="12" name="Text 10"/>
          <p:cNvSpPr txBox="1"/>
          <p:nvPr/>
        </p:nvSpPr>
        <p:spPr>
          <a:xfrm>
            <a:off x="9509760" y="3611880"/>
            <a:ext cx="1920240" cy="914400"/>
          </a:xfrm>
          <a:prstGeom prst="rect">
            <a:avLst/>
          </a:prstGeom>
          <a:noFill/>
          <a:ln/>
        </p:spPr>
        <p:txBody>
          <a:bodyPr wrap="square" lIns="0" tIns="0" rIns="0" bIns="0" rtlCol="0" anchor="ctr"/>
          <a:lstStyle/>
          <a:p>
            <a:pPr algn="l" indent="0" marL="0">
              <a:buNone/>
            </a:pPr>
            <a:r>
              <a:rPr lang="en-US" sz="4400" b="1" dirty="0">
                <a:solidFill>
                  <a:srgbClr val="FFFFFF"/>
                </a:solidFill>
                <a:latin typeface="Cambria" pitchFamily="34" charset="0"/>
                <a:ea typeface="Cambria" pitchFamily="34" charset="-122"/>
                <a:cs typeface="Cambria" pitchFamily="34" charset="-120"/>
              </a:rPr>
              <a:t>12</a:t>
            </a:r>
            <a:endParaRPr lang="en-US" sz="4400" dirty="0"/>
          </a:p>
        </p:txBody>
      </p:sp>
      <p:sp>
        <p:nvSpPr>
          <p:cNvPr id="13" name="Text 11"/>
          <p:cNvSpPr txBox="1"/>
          <p:nvPr/>
        </p:nvSpPr>
        <p:spPr>
          <a:xfrm>
            <a:off x="9509760" y="4526280"/>
            <a:ext cx="1920240" cy="548640"/>
          </a:xfrm>
          <a:prstGeom prst="rect">
            <a:avLst/>
          </a:prstGeom>
          <a:noFill/>
          <a:ln/>
        </p:spPr>
        <p:txBody>
          <a:bodyPr wrap="square" lIns="0" tIns="0" rIns="0" bIns="0" rtlCol="0" anchor="ctr"/>
          <a:lstStyle/>
          <a:p>
            <a:pPr algn="l" indent="0" marL="0">
              <a:buNone/>
            </a:pPr>
            <a:r>
              <a:rPr lang="en-US" sz="1300" dirty="0">
                <a:solidFill>
                  <a:srgbClr val="5B6472"/>
                </a:solidFill>
                <a:latin typeface="Calibri" pitchFamily="34" charset="0"/>
                <a:ea typeface="Calibri" pitchFamily="34" charset="-122"/>
                <a:cs typeface="Calibri" pitchFamily="34" charset="-120"/>
              </a:rPr>
              <a:t>historical queries</a:t>
            </a:r>
            <a:endParaRPr lang="en-US" sz="1300" dirty="0"/>
          </a:p>
        </p:txBody>
      </p:sp>
      <p:sp>
        <p:nvSpPr>
          <p:cNvPr id="14" name="Text 12"/>
          <p:cNvSpPr txBox="1"/>
          <p:nvPr/>
        </p:nvSpPr>
        <p:spPr>
          <a:xfrm>
            <a:off x="548640" y="6291072"/>
            <a:ext cx="11094415" cy="411480"/>
          </a:xfrm>
          <a:prstGeom prst="rect">
            <a:avLst/>
          </a:prstGeom>
          <a:noFill/>
          <a:ln/>
        </p:spPr>
        <p:txBody>
          <a:bodyPr wrap="square" lIns="0" tIns="0" rIns="0" bIns="0" rtlCol="0" anchor="b"/>
          <a:lstStyle/>
          <a:p>
            <a:pPr indent="0" marL="0">
              <a:buNone/>
            </a:pPr>
            <a:r>
              <a:rPr lang="en-US" sz="950" i="1" dirty="0">
                <a:solidFill>
                  <a:srgbClr val="5B6472"/>
                </a:solidFill>
                <a:latin typeface="Calibri" pitchFamily="34" charset="0"/>
                <a:ea typeface="Calibri" pitchFamily="34" charset="-122"/>
                <a:cs typeface="Calibri" pitchFamily="34" charset="-120"/>
              </a:rPr>
              <a:t>TPC-DS SF1 (~1 GB) as Iceberg tables in database tpcds, queried through Impala. Source: console-runs.md</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2900" b="1" dirty="0">
                <a:solidFill>
                  <a:srgbClr val="0E1A2B"/>
                </a:solidFill>
                <a:latin typeface="Cambria" pitchFamily="34" charset="0"/>
                <a:ea typeface="Cambria" pitchFamily="34" charset="-122"/>
                <a:cs typeface="Cambria" pitchFamily="34" charset="-120"/>
              </a:rPr>
              <a:t>2 · Profile: let the data prove its own structure</a:t>
            </a:r>
            <a:endParaRPr lang="en-US" sz="2900" dirty="0"/>
          </a:p>
        </p:txBody>
      </p:sp>
      <p:sp>
        <p:nvSpPr>
          <p:cNvPr id="3" name="Text 1"/>
          <p:cNvSpPr txBox="1"/>
          <p:nvPr/>
        </p:nvSpPr>
        <p:spPr>
          <a:xfrm>
            <a:off x="548640" y="1463040"/>
            <a:ext cx="6035040" cy="4206240"/>
          </a:xfrm>
          <a:prstGeom prst="rect">
            <a:avLst/>
          </a:prstGeom>
          <a:noFill/>
          <a:ln/>
        </p:spPr>
        <p:txBody>
          <a:bodyPr wrap="square" lIns="0" tIns="0" rIns="0" bIns="0" rtlCol="0" anchor="t"/>
          <a:lstStyle/>
          <a:p>
            <a:pPr marL="342900" indent="-342900">
              <a:spcAft>
                <a:spcPts val="600"/>
              </a:spcAft>
              <a:buSzPct val="100000"/>
              <a:buChar char="•"/>
            </a:pPr>
            <a:r>
              <a:rPr lang="en-US" sz="1600" b="1" dirty="0">
                <a:solidFill>
                  <a:srgbClr val="1F2937"/>
                </a:solidFill>
                <a:latin typeface="Calibri" pitchFamily="34" charset="0"/>
                <a:ea typeface="Calibri" pitchFamily="34" charset="-122"/>
                <a:cs typeface="Calibri" pitchFamily="34" charset="-120"/>
              </a:rPr>
              <a:t>Column statistics</a:t>
            </a:r>
            <a:endParaRPr lang="en-US" sz="1600" dirty="0"/>
          </a:p>
          <a:p>
            <a:pPr lvl="1" marL="6858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Null rate, distinct counts (exact for key candidates), min and max</a:t>
            </a:r>
            <a:endParaRPr lang="en-US" sz="1600" dirty="0"/>
          </a:p>
          <a:p>
            <a:pPr marL="342900" indent="-342900">
              <a:spcAft>
                <a:spcPts val="600"/>
              </a:spcAft>
              <a:buSzPct val="100000"/>
              <a:buChar char="•"/>
            </a:pPr>
            <a:r>
              <a:rPr lang="en-US" sz="1600" b="1" dirty="0">
                <a:solidFill>
                  <a:srgbClr val="1F2937"/>
                </a:solidFill>
                <a:latin typeface="Calibri" pitchFamily="34" charset="0"/>
                <a:ea typeface="Calibri" pitchFamily="34" charset="-122"/>
                <a:cs typeface="Calibri" pitchFamily="34" charset="-120"/>
              </a:rPr>
              <a:t>Primary-key candidates</a:t>
            </a:r>
            <a:endParaRPr lang="en-US" sz="1600" dirty="0"/>
          </a:p>
          <a:p>
            <a:pPr lvl="1" marL="6858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No nulls, and distinct = row count, among *_sk / *_id / *_key columns</a:t>
            </a:r>
            <a:endParaRPr lang="en-US" sz="1600" dirty="0"/>
          </a:p>
          <a:p>
            <a:pPr marL="342900" indent="-342900">
              <a:spcAft>
                <a:spcPts val="600"/>
              </a:spcAft>
              <a:buSzPct val="100000"/>
              <a:buChar char="•"/>
            </a:pPr>
            <a:r>
              <a:rPr lang="en-US" sz="1600" b="1" dirty="0">
                <a:solidFill>
                  <a:srgbClr val="1F2937"/>
                </a:solidFill>
                <a:latin typeface="Calibri" pitchFamily="34" charset="0"/>
                <a:ea typeface="Calibri" pitchFamily="34" charset="-122"/>
                <a:cs typeface="Calibri" pitchFamily="34" charset="-120"/>
              </a:rPr>
              <a:t>Relationships (FK → PK)</a:t>
            </a:r>
            <a:endParaRPr lang="en-US" sz="1600" dirty="0"/>
          </a:p>
          <a:p>
            <a:pPr lvl="1" marL="6858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A join is proven when ≥95% of values match the target key</a:t>
            </a:r>
            <a:endParaRPr lang="en-US" sz="1600" dirty="0"/>
          </a:p>
          <a:p>
            <a:pPr lvl="1" marL="685800" indent="-3429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Name score: exact 1.0 · partial 0.9 · abbreviation 0.8 (cdemo → customer_demographics)</a:t>
            </a:r>
            <a:endParaRPr lang="en-US" sz="1600" dirty="0"/>
          </a:p>
        </p:txBody>
      </p:sp>
      <p:sp>
        <p:nvSpPr>
          <p:cNvPr id="4" name="Shape 2"/>
          <p:cNvSpPr/>
          <p:nvPr/>
        </p:nvSpPr>
        <p:spPr>
          <a:xfrm>
            <a:off x="6949440" y="1463040"/>
            <a:ext cx="4663440" cy="1188720"/>
          </a:xfrm>
          <a:prstGeom prst="roundRect">
            <a:avLst>
              <a:gd name="adj" fmla="val 6154"/>
            </a:avLst>
          </a:prstGeom>
          <a:solidFill>
            <a:srgbClr val="F4F6F9"/>
          </a:solidFill>
          <a:ln w="12700">
            <a:solidFill>
              <a:srgbClr val="F4F6F9"/>
            </a:solidFill>
            <a:prstDash val="solid"/>
          </a:ln>
        </p:spPr>
      </p:sp>
      <p:sp>
        <p:nvSpPr>
          <p:cNvPr id="5" name="Shape 3"/>
          <p:cNvSpPr/>
          <p:nvPr/>
        </p:nvSpPr>
        <p:spPr>
          <a:xfrm>
            <a:off x="7178040" y="1783080"/>
            <a:ext cx="502920" cy="502920"/>
          </a:xfrm>
          <a:prstGeom prst="ellipse">
            <a:avLst/>
          </a:prstGeom>
          <a:solidFill>
            <a:srgbClr val="2E8B57"/>
          </a:solidFill>
          <a:ln w="12700">
            <a:solidFill>
              <a:srgbClr val="2E8B57"/>
            </a:solidFill>
            <a:prstDash val="solid"/>
          </a:ln>
        </p:spPr>
      </p:sp>
      <p:sp>
        <p:nvSpPr>
          <p:cNvPr id="6" name="Text 4"/>
          <p:cNvSpPr txBox="1"/>
          <p:nvPr/>
        </p:nvSpPr>
        <p:spPr>
          <a:xfrm>
            <a:off x="7863840" y="1508760"/>
            <a:ext cx="3611880" cy="1097280"/>
          </a:xfrm>
          <a:prstGeom prst="rect">
            <a:avLst/>
          </a:prstGeom>
          <a:noFill/>
          <a:ln/>
        </p:spPr>
        <p:txBody>
          <a:bodyPr wrap="square" lIns="0" tIns="0" rIns="0" bIns="0" rtlCol="0" anchor="ctr"/>
          <a:lstStyle/>
          <a:p>
            <a:pPr indent="0" marL="0">
              <a:buNone/>
            </a:pPr>
            <a:r>
              <a:rPr lang="en-US" sz="1600" b="1" dirty="0">
                <a:solidFill>
                  <a:srgbClr val="1F2937"/>
                </a:solidFill>
                <a:latin typeface="Calibri" pitchFamily="34" charset="0"/>
                <a:ea typeface="Calibri" pitchFamily="34" charset="-122"/>
                <a:cs typeface="Calibri" pitchFamily="34" charset="-120"/>
              </a:rPr>
              <a:t>Accepted</a:t>
            </a:r>
            <a:endParaRPr lang="en-US" sz="1600" dirty="0"/>
          </a:p>
          <a:p>
            <a:pPr indent="0" marL="0">
              <a:buNone/>
            </a:pPr>
            <a:r>
              <a:rPr lang="en-US" sz="1300" dirty="0">
                <a:solidFill>
                  <a:srgbClr val="1F2937"/>
                </a:solidFill>
                <a:latin typeface="Calibri" pitchFamily="34" charset="0"/>
                <a:ea typeface="Calibri" pitchFamily="34" charset="-122"/>
                <a:cs typeface="Calibri" pitchFamily="34" charset="-120"/>
              </a:rPr>
              <a:t>Data test passes and the name points at the target table</a:t>
            </a:r>
            <a:endParaRPr lang="en-US" sz="1600" dirty="0"/>
          </a:p>
        </p:txBody>
      </p:sp>
      <p:sp>
        <p:nvSpPr>
          <p:cNvPr id="7" name="Shape 5"/>
          <p:cNvSpPr/>
          <p:nvPr/>
        </p:nvSpPr>
        <p:spPr>
          <a:xfrm>
            <a:off x="6949440" y="2834640"/>
            <a:ext cx="4663440" cy="1188720"/>
          </a:xfrm>
          <a:prstGeom prst="roundRect">
            <a:avLst>
              <a:gd name="adj" fmla="val 6154"/>
            </a:avLst>
          </a:prstGeom>
          <a:solidFill>
            <a:srgbClr val="F4F6F9"/>
          </a:solidFill>
          <a:ln w="12700">
            <a:solidFill>
              <a:srgbClr val="F4F6F9"/>
            </a:solidFill>
            <a:prstDash val="solid"/>
          </a:ln>
        </p:spPr>
      </p:sp>
      <p:sp>
        <p:nvSpPr>
          <p:cNvPr id="8" name="Shape 6"/>
          <p:cNvSpPr/>
          <p:nvPr/>
        </p:nvSpPr>
        <p:spPr>
          <a:xfrm>
            <a:off x="7178040" y="3154680"/>
            <a:ext cx="502920" cy="502920"/>
          </a:xfrm>
          <a:prstGeom prst="ellipse">
            <a:avLst/>
          </a:prstGeom>
          <a:solidFill>
            <a:srgbClr val="F2A541"/>
          </a:solidFill>
          <a:ln w="12700">
            <a:solidFill>
              <a:srgbClr val="F2A541"/>
            </a:solidFill>
            <a:prstDash val="solid"/>
          </a:ln>
        </p:spPr>
      </p:sp>
      <p:sp>
        <p:nvSpPr>
          <p:cNvPr id="9" name="Text 7"/>
          <p:cNvSpPr txBox="1"/>
          <p:nvPr/>
        </p:nvSpPr>
        <p:spPr>
          <a:xfrm>
            <a:off x="7863840" y="2880360"/>
            <a:ext cx="3611880" cy="1097280"/>
          </a:xfrm>
          <a:prstGeom prst="rect">
            <a:avLst/>
          </a:prstGeom>
          <a:noFill/>
          <a:ln/>
        </p:spPr>
        <p:txBody>
          <a:bodyPr wrap="square" lIns="0" tIns="0" rIns="0" bIns="0" rtlCol="0" anchor="ctr"/>
          <a:lstStyle/>
          <a:p>
            <a:pPr indent="0" marL="0">
              <a:buNone/>
            </a:pPr>
            <a:r>
              <a:rPr lang="en-US" sz="1600" b="1" dirty="0">
                <a:solidFill>
                  <a:srgbClr val="1F2937"/>
                </a:solidFill>
                <a:latin typeface="Calibri" pitchFamily="34" charset="0"/>
                <a:ea typeface="Calibri" pitchFamily="34" charset="-122"/>
                <a:cs typeface="Calibri" pitchFamily="34" charset="-120"/>
              </a:rPr>
              <a:t>Suggested</a:t>
            </a:r>
            <a:endParaRPr lang="en-US" sz="1600" dirty="0"/>
          </a:p>
          <a:p>
            <a:pPr indent="0" marL="0">
              <a:buNone/>
            </a:pPr>
            <a:r>
              <a:rPr lang="en-US" sz="1300" dirty="0">
                <a:solidFill>
                  <a:srgbClr val="1F2937"/>
                </a:solidFill>
                <a:latin typeface="Calibri" pitchFamily="34" charset="0"/>
                <a:ea typeface="Calibri" pitchFamily="34" charset="-122"/>
                <a:cs typeface="Calibri" pitchFamily="34" charset="-120"/>
              </a:rPr>
              <a:t>Data test passes, name gives no hint: sent to the LLM and a human</a:t>
            </a:r>
            <a:endParaRPr lang="en-US" sz="1600" dirty="0"/>
          </a:p>
        </p:txBody>
      </p:sp>
      <p:sp>
        <p:nvSpPr>
          <p:cNvPr id="10" name="Shape 8"/>
          <p:cNvSpPr/>
          <p:nvPr/>
        </p:nvSpPr>
        <p:spPr>
          <a:xfrm>
            <a:off x="6949440" y="4206240"/>
            <a:ext cx="4663440" cy="1188720"/>
          </a:xfrm>
          <a:prstGeom prst="roundRect">
            <a:avLst>
              <a:gd name="adj" fmla="val 6154"/>
            </a:avLst>
          </a:prstGeom>
          <a:solidFill>
            <a:srgbClr val="F4F6F9"/>
          </a:solidFill>
          <a:ln w="12700">
            <a:solidFill>
              <a:srgbClr val="F4F6F9"/>
            </a:solidFill>
            <a:prstDash val="solid"/>
          </a:ln>
        </p:spPr>
      </p:sp>
      <p:sp>
        <p:nvSpPr>
          <p:cNvPr id="11" name="Shape 9"/>
          <p:cNvSpPr/>
          <p:nvPr/>
        </p:nvSpPr>
        <p:spPr>
          <a:xfrm>
            <a:off x="7178040" y="4526280"/>
            <a:ext cx="502920" cy="502920"/>
          </a:xfrm>
          <a:prstGeom prst="ellipse">
            <a:avLst/>
          </a:prstGeom>
          <a:solidFill>
            <a:srgbClr val="E4572E"/>
          </a:solidFill>
          <a:ln w="12700">
            <a:solidFill>
              <a:srgbClr val="E4572E"/>
            </a:solidFill>
            <a:prstDash val="solid"/>
          </a:ln>
        </p:spPr>
      </p:sp>
      <p:sp>
        <p:nvSpPr>
          <p:cNvPr id="12" name="Text 10"/>
          <p:cNvSpPr txBox="1"/>
          <p:nvPr/>
        </p:nvSpPr>
        <p:spPr>
          <a:xfrm>
            <a:off x="7863840" y="4251960"/>
            <a:ext cx="3611880" cy="1097280"/>
          </a:xfrm>
          <a:prstGeom prst="rect">
            <a:avLst/>
          </a:prstGeom>
          <a:noFill/>
          <a:ln/>
        </p:spPr>
        <p:txBody>
          <a:bodyPr wrap="square" lIns="0" tIns="0" rIns="0" bIns="0" rtlCol="0" anchor="ctr"/>
          <a:lstStyle/>
          <a:p>
            <a:pPr indent="0" marL="0">
              <a:buNone/>
            </a:pPr>
            <a:r>
              <a:rPr lang="en-US" sz="1600" b="1" dirty="0">
                <a:solidFill>
                  <a:srgbClr val="1F2937"/>
                </a:solidFill>
                <a:latin typeface="Calibri" pitchFamily="34" charset="0"/>
                <a:ea typeface="Calibri" pitchFamily="34" charset="-122"/>
                <a:cs typeface="Calibri" pitchFamily="34" charset="-120"/>
              </a:rPr>
              <a:t>Rejected</a:t>
            </a:r>
            <a:endParaRPr lang="en-US" sz="1600" dirty="0"/>
          </a:p>
          <a:p>
            <a:pPr indent="0" marL="0">
              <a:buNone/>
            </a:pPr>
            <a:r>
              <a:rPr lang="en-US" sz="1300" dirty="0">
                <a:solidFill>
                  <a:srgbClr val="1F2937"/>
                </a:solidFill>
                <a:latin typeface="Calibri" pitchFamily="34" charset="0"/>
                <a:ea typeface="Calibri" pitchFamily="34" charset="-122"/>
                <a:cs typeface="Calibri" pitchFamily="34" charset="-120"/>
              </a:rPr>
              <a:t>The name suggests a join the data disproves: a data-quality signal</a:t>
            </a:r>
            <a:endParaRPr lang="en-US" sz="1600" dirty="0"/>
          </a:p>
        </p:txBody>
      </p:sp>
      <p:sp>
        <p:nvSpPr>
          <p:cNvPr id="13" name="Text 11"/>
          <p:cNvSpPr txBox="1"/>
          <p:nvPr/>
        </p:nvSpPr>
        <p:spPr>
          <a:xfrm>
            <a:off x="6949440" y="5669280"/>
            <a:ext cx="4663440" cy="365760"/>
          </a:xfrm>
          <a:prstGeom prst="rect">
            <a:avLst/>
          </a:prstGeom>
          <a:noFill/>
          <a:ln/>
        </p:spPr>
        <p:txBody>
          <a:bodyPr wrap="square" lIns="0" tIns="0" rIns="0" bIns="0" rtlCol="0" anchor="t"/>
          <a:lstStyle/>
          <a:p>
            <a:pPr algn="l" indent="0" marL="0">
              <a:spcAft>
                <a:spcPts val="400"/>
              </a:spcAft>
              <a:buNone/>
            </a:pPr>
            <a:r>
              <a:rPr lang="en-US" sz="1400" b="1" dirty="0">
                <a:solidFill>
                  <a:srgbClr val="0E1A2B"/>
                </a:solidFill>
                <a:latin typeface="Calibri" pitchFamily="34" charset="0"/>
                <a:ea typeface="Calibri" pitchFamily="34" charset="-122"/>
                <a:cs typeface="Calibri" pitchFamily="34" charset="-120"/>
              </a:rPr>
              <a:t>Latest run: 103 accepted · 10 suggested · 1 rejected</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2600" b="1" dirty="0">
                <a:solidFill>
                  <a:srgbClr val="0E1A2B"/>
                </a:solidFill>
                <a:latin typeface="Cambria" pitchFamily="34" charset="0"/>
                <a:ea typeface="Cambria" pitchFamily="34" charset="-122"/>
                <a:cs typeface="Cambria" pitchFamily="34" charset="-120"/>
              </a:rPr>
              <a:t>3 · Propose: the LLM adds judgement, with confidence and a rationale</a:t>
            </a:r>
            <a:endParaRPr lang="en-US" sz="2600" dirty="0"/>
          </a:p>
        </p:txBody>
      </p:sp>
      <p:sp>
        <p:nvSpPr>
          <p:cNvPr id="3" name="Shape 1"/>
          <p:cNvSpPr/>
          <p:nvPr/>
        </p:nvSpPr>
        <p:spPr>
          <a:xfrm>
            <a:off x="548640" y="1371600"/>
            <a:ext cx="3474720" cy="2011680"/>
          </a:xfrm>
          <a:prstGeom prst="roundRect">
            <a:avLst>
              <a:gd name="adj" fmla="val 3636"/>
            </a:avLst>
          </a:prstGeom>
          <a:solidFill>
            <a:srgbClr val="F4F6F9"/>
          </a:solidFill>
          <a:ln w="12700">
            <a:solidFill>
              <a:srgbClr val="F4F6F9"/>
            </a:solidFill>
            <a:prstDash val="solid"/>
          </a:ln>
        </p:spPr>
      </p:sp>
      <p:sp>
        <p:nvSpPr>
          <p:cNvPr id="4" name="Shape 2"/>
          <p:cNvSpPr/>
          <p:nvPr/>
        </p:nvSpPr>
        <p:spPr>
          <a:xfrm>
            <a:off x="777240" y="1600200"/>
            <a:ext cx="502920" cy="502920"/>
          </a:xfrm>
          <a:prstGeom prst="ellipse">
            <a:avLst/>
          </a:prstGeom>
          <a:solidFill>
            <a:srgbClr val="F2A541"/>
          </a:solidFill>
          <a:ln w="12700">
            <a:solidFill>
              <a:srgbClr val="F2A541"/>
            </a:solidFill>
            <a:prstDash val="solid"/>
          </a:ln>
        </p:spPr>
      </p:sp>
      <p:pic>
        <p:nvPicPr>
          <p:cNvPr id="5" name="Image 0" descr="preencoded.png">    </p:cNvPr>
          <p:cNvPicPr>
            <a:picLocks noChangeAspect="1"/>
          </p:cNvPicPr>
          <p:nvPr/>
        </p:nvPicPr>
        <p:blipFill>
          <a:blip r:embed="rId1"/>
          <a:stretch>
            <a:fillRect/>
          </a:stretch>
        </p:blipFill>
        <p:spPr>
          <a:xfrm>
            <a:off x="897941" y="1720901"/>
            <a:ext cx="261518" cy="261518"/>
          </a:xfrm>
          <a:prstGeom prst="rect">
            <a:avLst/>
          </a:prstGeom>
        </p:spPr>
      </p:pic>
      <p:sp>
        <p:nvSpPr>
          <p:cNvPr id="6" name="Text 3"/>
          <p:cNvSpPr txBox="1"/>
          <p:nvPr/>
        </p:nvSpPr>
        <p:spPr>
          <a:xfrm>
            <a:off x="1417320" y="1572768"/>
            <a:ext cx="242316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Datasets</a:t>
            </a:r>
            <a:endParaRPr lang="en-US" sz="1700" dirty="0"/>
          </a:p>
        </p:txBody>
      </p:sp>
      <p:sp>
        <p:nvSpPr>
          <p:cNvPr id="7" name="Text 4"/>
          <p:cNvSpPr txBox="1"/>
          <p:nvPr/>
        </p:nvSpPr>
        <p:spPr>
          <a:xfrm>
            <a:off x="822960" y="2240280"/>
            <a:ext cx="2971800" cy="100584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Kind: fact, dimension, bridge, lookup; descriptions for tables and columns</a:t>
            </a:r>
            <a:endParaRPr lang="en-US" sz="1350" dirty="0"/>
          </a:p>
        </p:txBody>
      </p:sp>
      <p:sp>
        <p:nvSpPr>
          <p:cNvPr id="8" name="Shape 5"/>
          <p:cNvSpPr/>
          <p:nvPr/>
        </p:nvSpPr>
        <p:spPr>
          <a:xfrm>
            <a:off x="4297680" y="1371600"/>
            <a:ext cx="3474720" cy="2011680"/>
          </a:xfrm>
          <a:prstGeom prst="roundRect">
            <a:avLst>
              <a:gd name="adj" fmla="val 3636"/>
            </a:avLst>
          </a:prstGeom>
          <a:solidFill>
            <a:srgbClr val="F4F6F9"/>
          </a:solidFill>
          <a:ln w="12700">
            <a:solidFill>
              <a:srgbClr val="F4F6F9"/>
            </a:solidFill>
            <a:prstDash val="solid"/>
          </a:ln>
        </p:spPr>
      </p:sp>
      <p:sp>
        <p:nvSpPr>
          <p:cNvPr id="9" name="Shape 6"/>
          <p:cNvSpPr/>
          <p:nvPr/>
        </p:nvSpPr>
        <p:spPr>
          <a:xfrm>
            <a:off x="4526280" y="1600200"/>
            <a:ext cx="502920" cy="502920"/>
          </a:xfrm>
          <a:prstGeom prst="ellipse">
            <a:avLst/>
          </a:prstGeom>
          <a:solidFill>
            <a:srgbClr val="F2A541"/>
          </a:solidFill>
          <a:ln w="12700">
            <a:solidFill>
              <a:srgbClr val="F2A541"/>
            </a:solidFill>
            <a:prstDash val="solid"/>
          </a:ln>
        </p:spPr>
      </p:sp>
      <p:pic>
        <p:nvPicPr>
          <p:cNvPr id="10" name="Image 1" descr="preencoded.png">    </p:cNvPr>
          <p:cNvPicPr>
            <a:picLocks noChangeAspect="1"/>
          </p:cNvPicPr>
          <p:nvPr/>
        </p:nvPicPr>
        <p:blipFill>
          <a:blip r:embed="rId2"/>
          <a:stretch>
            <a:fillRect/>
          </a:stretch>
        </p:blipFill>
        <p:spPr>
          <a:xfrm>
            <a:off x="4646981" y="1720901"/>
            <a:ext cx="261518" cy="261518"/>
          </a:xfrm>
          <a:prstGeom prst="rect">
            <a:avLst/>
          </a:prstGeom>
        </p:spPr>
      </p:pic>
      <p:sp>
        <p:nvSpPr>
          <p:cNvPr id="11" name="Text 7"/>
          <p:cNvSpPr txBox="1"/>
          <p:nvPr/>
        </p:nvSpPr>
        <p:spPr>
          <a:xfrm>
            <a:off x="5166360" y="1572768"/>
            <a:ext cx="242316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Column roles</a:t>
            </a:r>
            <a:endParaRPr lang="en-US" sz="1700" dirty="0"/>
          </a:p>
        </p:txBody>
      </p:sp>
      <p:sp>
        <p:nvSpPr>
          <p:cNvPr id="12" name="Text 8"/>
          <p:cNvSpPr txBox="1"/>
          <p:nvPr/>
        </p:nvSpPr>
        <p:spPr>
          <a:xfrm>
            <a:off x="4572000" y="2240280"/>
            <a:ext cx="2971800" cy="100584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identifier, foreign key, time, measure, dimension, attribute; starting from statistical hints</a:t>
            </a:r>
            <a:endParaRPr lang="en-US" sz="1350" dirty="0"/>
          </a:p>
        </p:txBody>
      </p:sp>
      <p:sp>
        <p:nvSpPr>
          <p:cNvPr id="13" name="Shape 9"/>
          <p:cNvSpPr/>
          <p:nvPr/>
        </p:nvSpPr>
        <p:spPr>
          <a:xfrm>
            <a:off x="8046720" y="1371600"/>
            <a:ext cx="3474720" cy="2011680"/>
          </a:xfrm>
          <a:prstGeom prst="roundRect">
            <a:avLst>
              <a:gd name="adj" fmla="val 3636"/>
            </a:avLst>
          </a:prstGeom>
          <a:solidFill>
            <a:srgbClr val="F4F6F9"/>
          </a:solidFill>
          <a:ln w="12700">
            <a:solidFill>
              <a:srgbClr val="F4F6F9"/>
            </a:solidFill>
            <a:prstDash val="solid"/>
          </a:ln>
        </p:spPr>
      </p:sp>
      <p:sp>
        <p:nvSpPr>
          <p:cNvPr id="14" name="Shape 10"/>
          <p:cNvSpPr/>
          <p:nvPr/>
        </p:nvSpPr>
        <p:spPr>
          <a:xfrm>
            <a:off x="8275320" y="1600200"/>
            <a:ext cx="502920" cy="502920"/>
          </a:xfrm>
          <a:prstGeom prst="ellipse">
            <a:avLst/>
          </a:prstGeom>
          <a:solidFill>
            <a:srgbClr val="F2A541"/>
          </a:solidFill>
          <a:ln w="12700">
            <a:solidFill>
              <a:srgbClr val="F2A541"/>
            </a:solidFill>
            <a:prstDash val="solid"/>
          </a:ln>
        </p:spPr>
      </p:sp>
      <p:pic>
        <p:nvPicPr>
          <p:cNvPr id="15" name="Image 2" descr="preencoded.png">    </p:cNvPr>
          <p:cNvPicPr>
            <a:picLocks noChangeAspect="1"/>
          </p:cNvPicPr>
          <p:nvPr/>
        </p:nvPicPr>
        <p:blipFill>
          <a:blip r:embed="rId3"/>
          <a:stretch>
            <a:fillRect/>
          </a:stretch>
        </p:blipFill>
        <p:spPr>
          <a:xfrm>
            <a:off x="8396021" y="1720901"/>
            <a:ext cx="261518" cy="261518"/>
          </a:xfrm>
          <a:prstGeom prst="rect">
            <a:avLst/>
          </a:prstGeom>
        </p:spPr>
      </p:pic>
      <p:sp>
        <p:nvSpPr>
          <p:cNvPr id="16" name="Text 11"/>
          <p:cNvSpPr txBox="1"/>
          <p:nvPr/>
        </p:nvSpPr>
        <p:spPr>
          <a:xfrm>
            <a:off x="8915400" y="1572768"/>
            <a:ext cx="242316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Relationships</a:t>
            </a:r>
            <a:endParaRPr lang="en-US" sz="1700" dirty="0"/>
          </a:p>
        </p:txBody>
      </p:sp>
      <p:sp>
        <p:nvSpPr>
          <p:cNvPr id="17" name="Text 12"/>
          <p:cNvSpPr txBox="1"/>
          <p:nvPr/>
        </p:nvSpPr>
        <p:spPr>
          <a:xfrm>
            <a:off x="8321040" y="2240280"/>
            <a:ext cx="2971800" cy="100584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Confirms or rejects the "suggested" joins the profiler couldn't settle</a:t>
            </a:r>
            <a:endParaRPr lang="en-US" sz="1350" dirty="0"/>
          </a:p>
        </p:txBody>
      </p:sp>
      <p:sp>
        <p:nvSpPr>
          <p:cNvPr id="18" name="Shape 13"/>
          <p:cNvSpPr/>
          <p:nvPr/>
        </p:nvSpPr>
        <p:spPr>
          <a:xfrm>
            <a:off x="548640" y="3611880"/>
            <a:ext cx="3474720" cy="2011680"/>
          </a:xfrm>
          <a:prstGeom prst="roundRect">
            <a:avLst>
              <a:gd name="adj" fmla="val 3636"/>
            </a:avLst>
          </a:prstGeom>
          <a:solidFill>
            <a:srgbClr val="F4F6F9"/>
          </a:solidFill>
          <a:ln w="12700">
            <a:solidFill>
              <a:srgbClr val="F4F6F9"/>
            </a:solidFill>
            <a:prstDash val="solid"/>
          </a:ln>
        </p:spPr>
      </p:sp>
      <p:sp>
        <p:nvSpPr>
          <p:cNvPr id="19" name="Shape 14"/>
          <p:cNvSpPr/>
          <p:nvPr/>
        </p:nvSpPr>
        <p:spPr>
          <a:xfrm>
            <a:off x="777240" y="3840480"/>
            <a:ext cx="502920" cy="502920"/>
          </a:xfrm>
          <a:prstGeom prst="ellipse">
            <a:avLst/>
          </a:prstGeom>
          <a:solidFill>
            <a:srgbClr val="F2A541"/>
          </a:solidFill>
          <a:ln w="12700">
            <a:solidFill>
              <a:srgbClr val="F2A541"/>
            </a:solidFill>
            <a:prstDash val="solid"/>
          </a:ln>
        </p:spPr>
      </p:sp>
      <p:pic>
        <p:nvPicPr>
          <p:cNvPr id="20" name="Image 3" descr="preencoded.png">    </p:cNvPr>
          <p:cNvPicPr>
            <a:picLocks noChangeAspect="1"/>
          </p:cNvPicPr>
          <p:nvPr/>
        </p:nvPicPr>
        <p:blipFill>
          <a:blip r:embed="rId4"/>
          <a:stretch>
            <a:fillRect/>
          </a:stretch>
        </p:blipFill>
        <p:spPr>
          <a:xfrm>
            <a:off x="897941" y="3961181"/>
            <a:ext cx="261518" cy="261518"/>
          </a:xfrm>
          <a:prstGeom prst="rect">
            <a:avLst/>
          </a:prstGeom>
        </p:spPr>
      </p:pic>
      <p:sp>
        <p:nvSpPr>
          <p:cNvPr id="21" name="Text 15"/>
          <p:cNvSpPr txBox="1"/>
          <p:nvPr/>
        </p:nvSpPr>
        <p:spPr>
          <a:xfrm>
            <a:off x="1417320" y="3813048"/>
            <a:ext cx="242316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Metrics</a:t>
            </a:r>
            <a:endParaRPr lang="en-US" sz="1700" dirty="0"/>
          </a:p>
        </p:txBody>
      </p:sp>
      <p:sp>
        <p:nvSpPr>
          <p:cNvPr id="22" name="Text 16"/>
          <p:cNvSpPr txBox="1"/>
          <p:nvPr/>
        </p:nvSpPr>
        <p:spPr>
          <a:xfrm>
            <a:off x="822960" y="4480560"/>
            <a:ext cx="2971800" cy="100584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From query history or derived; metrics that reference missing columns are dropped</a:t>
            </a:r>
            <a:endParaRPr lang="en-US" sz="1350" dirty="0"/>
          </a:p>
        </p:txBody>
      </p:sp>
      <p:sp>
        <p:nvSpPr>
          <p:cNvPr id="23" name="Shape 17"/>
          <p:cNvSpPr/>
          <p:nvPr/>
        </p:nvSpPr>
        <p:spPr>
          <a:xfrm>
            <a:off x="4297680" y="3611880"/>
            <a:ext cx="3474720" cy="2011680"/>
          </a:xfrm>
          <a:prstGeom prst="roundRect">
            <a:avLst>
              <a:gd name="adj" fmla="val 3636"/>
            </a:avLst>
          </a:prstGeom>
          <a:solidFill>
            <a:srgbClr val="F4F6F9"/>
          </a:solidFill>
          <a:ln w="12700">
            <a:solidFill>
              <a:srgbClr val="F4F6F9"/>
            </a:solidFill>
            <a:prstDash val="solid"/>
          </a:ln>
        </p:spPr>
      </p:sp>
      <p:sp>
        <p:nvSpPr>
          <p:cNvPr id="24" name="Shape 18"/>
          <p:cNvSpPr/>
          <p:nvPr/>
        </p:nvSpPr>
        <p:spPr>
          <a:xfrm>
            <a:off x="4526280" y="3840480"/>
            <a:ext cx="502920" cy="502920"/>
          </a:xfrm>
          <a:prstGeom prst="ellipse">
            <a:avLst/>
          </a:prstGeom>
          <a:solidFill>
            <a:srgbClr val="F2A541"/>
          </a:solidFill>
          <a:ln w="12700">
            <a:solidFill>
              <a:srgbClr val="F2A541"/>
            </a:solidFill>
            <a:prstDash val="solid"/>
          </a:ln>
        </p:spPr>
      </p:sp>
      <p:pic>
        <p:nvPicPr>
          <p:cNvPr id="25" name="Image 4" descr="preencoded.png">    </p:cNvPr>
          <p:cNvPicPr>
            <a:picLocks noChangeAspect="1"/>
          </p:cNvPicPr>
          <p:nvPr/>
        </p:nvPicPr>
        <p:blipFill>
          <a:blip r:embed="rId5"/>
          <a:stretch>
            <a:fillRect/>
          </a:stretch>
        </p:blipFill>
        <p:spPr>
          <a:xfrm>
            <a:off x="4646981" y="3961181"/>
            <a:ext cx="261518" cy="261518"/>
          </a:xfrm>
          <a:prstGeom prst="rect">
            <a:avLst/>
          </a:prstGeom>
        </p:spPr>
      </p:pic>
      <p:sp>
        <p:nvSpPr>
          <p:cNvPr id="26" name="Text 19"/>
          <p:cNvSpPr txBox="1"/>
          <p:nvPr/>
        </p:nvSpPr>
        <p:spPr>
          <a:xfrm>
            <a:off x="5166360" y="3813048"/>
            <a:ext cx="242316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Glossary terms</a:t>
            </a:r>
            <a:endParaRPr lang="en-US" sz="1700" dirty="0"/>
          </a:p>
        </p:txBody>
      </p:sp>
      <p:sp>
        <p:nvSpPr>
          <p:cNvPr id="27" name="Text 20"/>
          <p:cNvSpPr txBox="1"/>
          <p:nvPr/>
        </p:nvSpPr>
        <p:spPr>
          <a:xfrm>
            <a:off x="4572000" y="4480560"/>
            <a:ext cx="2971800" cy="100584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New business terms, de-duplicated across tables</a:t>
            </a:r>
            <a:endParaRPr lang="en-US" sz="1350" dirty="0"/>
          </a:p>
        </p:txBody>
      </p:sp>
      <p:sp>
        <p:nvSpPr>
          <p:cNvPr id="28" name="Shape 21"/>
          <p:cNvSpPr/>
          <p:nvPr/>
        </p:nvSpPr>
        <p:spPr>
          <a:xfrm>
            <a:off x="8046720" y="3611880"/>
            <a:ext cx="3474720" cy="2011680"/>
          </a:xfrm>
          <a:prstGeom prst="roundRect">
            <a:avLst>
              <a:gd name="adj" fmla="val 3636"/>
            </a:avLst>
          </a:prstGeom>
          <a:solidFill>
            <a:srgbClr val="F4F6F9"/>
          </a:solidFill>
          <a:ln w="12700">
            <a:solidFill>
              <a:srgbClr val="F4F6F9"/>
            </a:solidFill>
            <a:prstDash val="solid"/>
          </a:ln>
        </p:spPr>
      </p:sp>
      <p:sp>
        <p:nvSpPr>
          <p:cNvPr id="29" name="Shape 22"/>
          <p:cNvSpPr/>
          <p:nvPr/>
        </p:nvSpPr>
        <p:spPr>
          <a:xfrm>
            <a:off x="8275320" y="3840480"/>
            <a:ext cx="502920" cy="502920"/>
          </a:xfrm>
          <a:prstGeom prst="ellipse">
            <a:avLst/>
          </a:prstGeom>
          <a:solidFill>
            <a:srgbClr val="F2A541"/>
          </a:solidFill>
          <a:ln w="12700">
            <a:solidFill>
              <a:srgbClr val="F2A541"/>
            </a:solidFill>
            <a:prstDash val="solid"/>
          </a:ln>
        </p:spPr>
      </p:sp>
      <p:pic>
        <p:nvPicPr>
          <p:cNvPr id="30" name="Image 5" descr="preencoded.png">    </p:cNvPr>
          <p:cNvPicPr>
            <a:picLocks noChangeAspect="1"/>
          </p:cNvPicPr>
          <p:nvPr/>
        </p:nvPicPr>
        <p:blipFill>
          <a:blip r:embed="rId6"/>
          <a:stretch>
            <a:fillRect/>
          </a:stretch>
        </p:blipFill>
        <p:spPr>
          <a:xfrm>
            <a:off x="8396021" y="3961181"/>
            <a:ext cx="261518" cy="261518"/>
          </a:xfrm>
          <a:prstGeom prst="rect">
            <a:avLst/>
          </a:prstGeom>
        </p:spPr>
      </p:pic>
      <p:sp>
        <p:nvSpPr>
          <p:cNvPr id="31" name="Text 23"/>
          <p:cNvSpPr txBox="1"/>
          <p:nvPr/>
        </p:nvSpPr>
        <p:spPr>
          <a:xfrm>
            <a:off x="8915400" y="3813048"/>
            <a:ext cx="242316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Confidence</a:t>
            </a:r>
            <a:endParaRPr lang="en-US" sz="1700" dirty="0"/>
          </a:p>
        </p:txBody>
      </p:sp>
      <p:sp>
        <p:nvSpPr>
          <p:cNvPr id="32" name="Text 24"/>
          <p:cNvSpPr txBox="1"/>
          <p:nvPr/>
        </p:nvSpPr>
        <p:spPr>
          <a:xfrm>
            <a:off x="8321040" y="4480560"/>
            <a:ext cx="2971800" cy="100584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Every element scored 0–1, with a rationale where the LLM decided</a:t>
            </a:r>
            <a:endParaRPr lang="en-US" sz="1350" dirty="0"/>
          </a:p>
        </p:txBody>
      </p:sp>
      <p:sp>
        <p:nvSpPr>
          <p:cNvPr id="33" name="Text 25"/>
          <p:cNvSpPr txBox="1"/>
          <p:nvPr/>
        </p:nvSpPr>
        <p:spPr>
          <a:xfrm>
            <a:off x="548640" y="6291072"/>
            <a:ext cx="11094415" cy="411480"/>
          </a:xfrm>
          <a:prstGeom prst="rect">
            <a:avLst/>
          </a:prstGeom>
          <a:noFill/>
          <a:ln/>
        </p:spPr>
        <p:txBody>
          <a:bodyPr wrap="square" lIns="0" tIns="0" rIns="0" bIns="0" rtlCol="0" anchor="b"/>
          <a:lstStyle/>
          <a:p>
            <a:pPr indent="0" marL="0">
              <a:buNone/>
            </a:pPr>
            <a:r>
              <a:rPr lang="en-US" sz="950" i="1" dirty="0">
                <a:solidFill>
                  <a:srgbClr val="5B6472"/>
                </a:solidFill>
                <a:latin typeface="Calibri" pitchFamily="34" charset="0"/>
                <a:ea typeface="Calibri" pitchFamily="34" charset="-122"/>
                <a:cs typeface="Calibri" pitchFamily="34" charset="-120"/>
              </a:rPr>
              <a:t>Latest run: 24 datasets, 113 relationships, 42 metrics proposed in 27 LLM calls (Claude Haiku 4.5). Providers: Mistral, Anthropic or any OpenAI-compatible endpoint such as Cloudera AI Inference.</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3200" b="1" dirty="0">
                <a:solidFill>
                  <a:srgbClr val="0E1A2B"/>
                </a:solidFill>
                <a:latin typeface="Cambria" pitchFamily="34" charset="0"/>
                <a:ea typeface="Cambria" pitchFamily="34" charset="-122"/>
                <a:cs typeface="Cambria" pitchFamily="34" charset="-120"/>
              </a:rPr>
              <a:t>4 · Review: a person decides</a:t>
            </a:r>
            <a:endParaRPr lang="en-US" sz="3200" dirty="0"/>
          </a:p>
        </p:txBody>
      </p:sp>
      <p:sp>
        <p:nvSpPr>
          <p:cNvPr id="3" name="Text 1"/>
          <p:cNvSpPr txBox="1"/>
          <p:nvPr/>
        </p:nvSpPr>
        <p:spPr>
          <a:xfrm>
            <a:off x="548640" y="1417320"/>
            <a:ext cx="5303520" cy="45720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Every element is pending, accepted, rejected or edited</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Bulk: accept everything pending above a confidence threshold</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Per dataset (cascades to its columns) or per row: ✓ ✗ edit</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Decisions are saved beside the immutable proposal (review.json)</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Cross-table or broken metrics are flagged and block publishing</a:t>
            </a:r>
            <a:endParaRPr lang="en-US" sz="1600" dirty="0"/>
          </a:p>
          <a:p>
            <a:pPr marL="342900" indent="-342900">
              <a:spcAft>
                <a:spcPts val="800"/>
              </a:spcAft>
              <a:buSzPct val="100000"/>
              <a:buChar char="•"/>
            </a:pPr>
            <a:r>
              <a:rPr lang="en-US" sz="1600" b="1" dirty="0">
                <a:solidFill>
                  <a:srgbClr val="1F2937"/>
                </a:solidFill>
                <a:latin typeface="Calibri" pitchFamily="34" charset="0"/>
                <a:ea typeface="Calibri" pitchFamily="34" charset="-122"/>
                <a:cs typeface="Calibri" pitchFamily="34" charset="-120"/>
              </a:rPr>
              <a:t>"Start with the relationships. A wrong join poisons every metric computed across it."</a:t>
            </a:r>
            <a:endParaRPr lang="en-US" sz="1600" dirty="0"/>
          </a:p>
        </p:txBody>
      </p:sp>
      <p:sp>
        <p:nvSpPr>
          <p:cNvPr id="4" name="Shape 2"/>
          <p:cNvSpPr/>
          <p:nvPr/>
        </p:nvSpPr>
        <p:spPr>
          <a:xfrm>
            <a:off x="6217920" y="1417320"/>
            <a:ext cx="5394960" cy="4526280"/>
          </a:xfrm>
          <a:prstGeom prst="roundRect">
            <a:avLst>
              <a:gd name="adj" fmla="val 1212"/>
            </a:avLst>
          </a:prstGeom>
          <a:solidFill>
            <a:srgbClr val="EEF1F5"/>
          </a:solidFill>
          <a:ln w="15875">
            <a:solidFill>
              <a:srgbClr val="9AA5B4"/>
            </a:solidFill>
            <a:prstDash val="dash"/>
          </a:ln>
        </p:spPr>
      </p:sp>
      <p:pic>
        <p:nvPicPr>
          <p:cNvPr id="5" name="Image 0" descr="preencoded.png">    </p:cNvPr>
          <p:cNvPicPr>
            <a:picLocks noChangeAspect="1"/>
          </p:cNvPicPr>
          <p:nvPr/>
        </p:nvPicPr>
        <p:blipFill>
          <a:blip r:embed="rId1"/>
          <a:stretch>
            <a:fillRect/>
          </a:stretch>
        </p:blipFill>
        <p:spPr>
          <a:xfrm>
            <a:off x="8549640" y="2857500"/>
            <a:ext cx="731520" cy="731520"/>
          </a:xfrm>
          <a:prstGeom prst="rect">
            <a:avLst/>
          </a:prstGeom>
        </p:spPr>
      </p:pic>
      <p:sp>
        <p:nvSpPr>
          <p:cNvPr id="6" name="Text 3"/>
          <p:cNvSpPr txBox="1"/>
          <p:nvPr/>
        </p:nvSpPr>
        <p:spPr>
          <a:xfrm>
            <a:off x="6492240" y="3726180"/>
            <a:ext cx="4846320" cy="1097280"/>
          </a:xfrm>
          <a:prstGeom prst="rect">
            <a:avLst/>
          </a:prstGeom>
          <a:noFill/>
          <a:ln/>
        </p:spPr>
        <p:txBody>
          <a:bodyPr wrap="square" lIns="0" tIns="0" rIns="0" bIns="0" rtlCol="0" anchor="t"/>
          <a:lstStyle/>
          <a:p>
            <a:pPr algn="ctr" indent="0" marL="0">
              <a:buNone/>
            </a:pPr>
            <a:r>
              <a:rPr lang="en-US" sz="1200" b="1" dirty="0">
                <a:solidFill>
                  <a:srgbClr val="6B7686"/>
                </a:solidFill>
                <a:latin typeface="Calibri" pitchFamily="34" charset="0"/>
                <a:ea typeface="Calibri" pitchFamily="34" charset="-122"/>
                <a:cs typeface="Calibri" pitchFamily="34" charset="-120"/>
              </a:rPr>
              <a:t>SCREENSHOT PLACEHOLDER</a:t>
            </a:r>
            <a:endParaRPr lang="en-US" sz="1200" dirty="0"/>
          </a:p>
          <a:p>
            <a:pPr algn="ctr" indent="0" marL="0">
              <a:buNone/>
            </a:pPr>
            <a:r>
              <a:rPr lang="en-US" sz="1300" dirty="0">
                <a:solidFill>
                  <a:srgbClr val="4B5563"/>
                </a:solidFill>
                <a:latin typeface="Calibri" pitchFamily="34" charset="0"/>
                <a:ea typeface="Calibri" pitchFamily="34" charset="-122"/>
                <a:cs typeface="Calibri" pitchFamily="34" charset="-120"/>
              </a:rPr>
              <a:t>Semantic Model canvas in review mode: proposal elements with Approve / Reject / Edit</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2900" b="1" dirty="0">
                <a:solidFill>
                  <a:srgbClr val="0E1A2B"/>
                </a:solidFill>
                <a:latin typeface="Cambria" pitchFamily="34" charset="0"/>
                <a:ea typeface="Cambria" pitchFamily="34" charset="-122"/>
                <a:cs typeface="Cambria" pitchFamily="34" charset="-120"/>
              </a:rPr>
              <a:t>5 · Publish: validated, immutable, pinned</a:t>
            </a:r>
            <a:endParaRPr lang="en-US" sz="2900" dirty="0"/>
          </a:p>
        </p:txBody>
      </p:sp>
      <p:sp>
        <p:nvSpPr>
          <p:cNvPr id="3" name="Shape 1"/>
          <p:cNvSpPr/>
          <p:nvPr/>
        </p:nvSpPr>
        <p:spPr>
          <a:xfrm>
            <a:off x="548640" y="1371600"/>
            <a:ext cx="3474720" cy="2468880"/>
          </a:xfrm>
          <a:prstGeom prst="roundRect">
            <a:avLst>
              <a:gd name="adj" fmla="val 2963"/>
            </a:avLst>
          </a:prstGeom>
          <a:solidFill>
            <a:srgbClr val="F4F6F9"/>
          </a:solidFill>
          <a:ln w="12700">
            <a:solidFill>
              <a:srgbClr val="F4F6F9"/>
            </a:solidFill>
            <a:prstDash val="solid"/>
          </a:ln>
        </p:spPr>
      </p:sp>
      <p:sp>
        <p:nvSpPr>
          <p:cNvPr id="4" name="Shape 2"/>
          <p:cNvSpPr/>
          <p:nvPr/>
        </p:nvSpPr>
        <p:spPr>
          <a:xfrm>
            <a:off x="777240" y="1600200"/>
            <a:ext cx="502920" cy="502920"/>
          </a:xfrm>
          <a:prstGeom prst="ellipse">
            <a:avLst/>
          </a:prstGeom>
          <a:solidFill>
            <a:srgbClr val="F2A541"/>
          </a:solidFill>
          <a:ln w="12700">
            <a:solidFill>
              <a:srgbClr val="F2A541"/>
            </a:solidFill>
            <a:prstDash val="solid"/>
          </a:ln>
        </p:spPr>
      </p:sp>
      <p:pic>
        <p:nvPicPr>
          <p:cNvPr id="5" name="Image 0" descr="preencoded.png">    </p:cNvPr>
          <p:cNvPicPr>
            <a:picLocks noChangeAspect="1"/>
          </p:cNvPicPr>
          <p:nvPr/>
        </p:nvPicPr>
        <p:blipFill>
          <a:blip r:embed="rId1"/>
          <a:stretch>
            <a:fillRect/>
          </a:stretch>
        </p:blipFill>
        <p:spPr>
          <a:xfrm>
            <a:off x="897941" y="1720901"/>
            <a:ext cx="261518" cy="261518"/>
          </a:xfrm>
          <a:prstGeom prst="rect">
            <a:avLst/>
          </a:prstGeom>
        </p:spPr>
      </p:pic>
      <p:sp>
        <p:nvSpPr>
          <p:cNvPr id="6" name="Text 3"/>
          <p:cNvSpPr txBox="1"/>
          <p:nvPr/>
        </p:nvSpPr>
        <p:spPr>
          <a:xfrm>
            <a:off x="1417320" y="1572768"/>
            <a:ext cx="242316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Validated</a:t>
            </a:r>
            <a:endParaRPr lang="en-US" sz="1700" dirty="0"/>
          </a:p>
        </p:txBody>
      </p:sp>
      <p:sp>
        <p:nvSpPr>
          <p:cNvPr id="7" name="Text 4"/>
          <p:cNvSpPr txBox="1"/>
          <p:nvPr/>
        </p:nvSpPr>
        <p:spPr>
          <a:xfrm>
            <a:off x="822960" y="2240280"/>
            <a:ext cx="2971800" cy="14630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Built from the review and checked against the vendored Ossie JSON schema plus referential rules. Nothing is written unless it passes.</a:t>
            </a:r>
            <a:endParaRPr lang="en-US" sz="1400" dirty="0"/>
          </a:p>
        </p:txBody>
      </p:sp>
      <p:sp>
        <p:nvSpPr>
          <p:cNvPr id="8" name="Shape 5"/>
          <p:cNvSpPr/>
          <p:nvPr/>
        </p:nvSpPr>
        <p:spPr>
          <a:xfrm>
            <a:off x="4297680" y="1371600"/>
            <a:ext cx="3474720" cy="2468880"/>
          </a:xfrm>
          <a:prstGeom prst="roundRect">
            <a:avLst>
              <a:gd name="adj" fmla="val 2963"/>
            </a:avLst>
          </a:prstGeom>
          <a:solidFill>
            <a:srgbClr val="F4F6F9"/>
          </a:solidFill>
          <a:ln w="12700">
            <a:solidFill>
              <a:srgbClr val="F4F6F9"/>
            </a:solidFill>
            <a:prstDash val="solid"/>
          </a:ln>
        </p:spPr>
      </p:sp>
      <p:sp>
        <p:nvSpPr>
          <p:cNvPr id="9" name="Shape 6"/>
          <p:cNvSpPr/>
          <p:nvPr/>
        </p:nvSpPr>
        <p:spPr>
          <a:xfrm>
            <a:off x="4526280" y="1600200"/>
            <a:ext cx="502920" cy="502920"/>
          </a:xfrm>
          <a:prstGeom prst="ellipse">
            <a:avLst/>
          </a:prstGeom>
          <a:solidFill>
            <a:srgbClr val="F2A541"/>
          </a:solidFill>
          <a:ln w="12700">
            <a:solidFill>
              <a:srgbClr val="F2A541"/>
            </a:solidFill>
            <a:prstDash val="solid"/>
          </a:ln>
        </p:spPr>
      </p:sp>
      <p:pic>
        <p:nvPicPr>
          <p:cNvPr id="10" name="Image 1" descr="preencoded.png">    </p:cNvPr>
          <p:cNvPicPr>
            <a:picLocks noChangeAspect="1"/>
          </p:cNvPicPr>
          <p:nvPr/>
        </p:nvPicPr>
        <p:blipFill>
          <a:blip r:embed="rId2"/>
          <a:stretch>
            <a:fillRect/>
          </a:stretch>
        </p:blipFill>
        <p:spPr>
          <a:xfrm>
            <a:off x="4646981" y="1720901"/>
            <a:ext cx="261518" cy="261518"/>
          </a:xfrm>
          <a:prstGeom prst="rect">
            <a:avLst/>
          </a:prstGeom>
        </p:spPr>
      </p:pic>
      <p:sp>
        <p:nvSpPr>
          <p:cNvPr id="11" name="Text 7"/>
          <p:cNvSpPr txBox="1"/>
          <p:nvPr/>
        </p:nvSpPr>
        <p:spPr>
          <a:xfrm>
            <a:off x="5166360" y="1572768"/>
            <a:ext cx="242316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Content-addressed</a:t>
            </a:r>
            <a:endParaRPr lang="en-US" sz="1700" dirty="0"/>
          </a:p>
        </p:txBody>
      </p:sp>
      <p:sp>
        <p:nvSpPr>
          <p:cNvPr id="12" name="Text 8"/>
          <p:cNvSpPr txBox="1"/>
          <p:nvPr/>
        </p:nvSpPr>
        <p:spPr>
          <a:xfrm>
            <a:off x="4572000" y="2240280"/>
            <a:ext cx="2971800" cy="14630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Each revision's ID is the SHA-256 of its exact bytes. Revisions are never overwritten.</a:t>
            </a:r>
            <a:endParaRPr lang="en-US" sz="1400" dirty="0"/>
          </a:p>
        </p:txBody>
      </p:sp>
      <p:sp>
        <p:nvSpPr>
          <p:cNvPr id="13" name="Shape 9"/>
          <p:cNvSpPr/>
          <p:nvPr/>
        </p:nvSpPr>
        <p:spPr>
          <a:xfrm>
            <a:off x="8046720" y="1371600"/>
            <a:ext cx="3474720" cy="2468880"/>
          </a:xfrm>
          <a:prstGeom prst="roundRect">
            <a:avLst>
              <a:gd name="adj" fmla="val 2963"/>
            </a:avLst>
          </a:prstGeom>
          <a:solidFill>
            <a:srgbClr val="F4F6F9"/>
          </a:solidFill>
          <a:ln w="12700">
            <a:solidFill>
              <a:srgbClr val="F4F6F9"/>
            </a:solidFill>
            <a:prstDash val="solid"/>
          </a:ln>
        </p:spPr>
      </p:sp>
      <p:sp>
        <p:nvSpPr>
          <p:cNvPr id="14" name="Shape 10"/>
          <p:cNvSpPr/>
          <p:nvPr/>
        </p:nvSpPr>
        <p:spPr>
          <a:xfrm>
            <a:off x="8275320" y="1600200"/>
            <a:ext cx="502920" cy="502920"/>
          </a:xfrm>
          <a:prstGeom prst="ellipse">
            <a:avLst/>
          </a:prstGeom>
          <a:solidFill>
            <a:srgbClr val="F2A541"/>
          </a:solidFill>
          <a:ln w="12700">
            <a:solidFill>
              <a:srgbClr val="F2A541"/>
            </a:solidFill>
            <a:prstDash val="solid"/>
          </a:ln>
        </p:spPr>
      </p:sp>
      <p:pic>
        <p:nvPicPr>
          <p:cNvPr id="15" name="Image 2" descr="preencoded.png">    </p:cNvPr>
          <p:cNvPicPr>
            <a:picLocks noChangeAspect="1"/>
          </p:cNvPicPr>
          <p:nvPr/>
        </p:nvPicPr>
        <p:blipFill>
          <a:blip r:embed="rId3"/>
          <a:stretch>
            <a:fillRect/>
          </a:stretch>
        </p:blipFill>
        <p:spPr>
          <a:xfrm>
            <a:off x="8396021" y="1720901"/>
            <a:ext cx="261518" cy="261518"/>
          </a:xfrm>
          <a:prstGeom prst="rect">
            <a:avLst/>
          </a:prstGeom>
        </p:spPr>
      </p:pic>
      <p:sp>
        <p:nvSpPr>
          <p:cNvPr id="16" name="Text 11"/>
          <p:cNvSpPr txBox="1"/>
          <p:nvPr/>
        </p:nvSpPr>
        <p:spPr>
          <a:xfrm>
            <a:off x="8915400" y="1572768"/>
            <a:ext cx="242316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Pinned per answer</a:t>
            </a:r>
            <a:endParaRPr lang="en-US" sz="1700" dirty="0"/>
          </a:p>
        </p:txBody>
      </p:sp>
      <p:sp>
        <p:nvSpPr>
          <p:cNvPr id="17" name="Text 12"/>
          <p:cNvSpPr txBox="1"/>
          <p:nvPr/>
        </p:nvSpPr>
        <p:spPr>
          <a:xfrm>
            <a:off x="8321040" y="2240280"/>
            <a:ext cx="2971800" cy="14630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A Talk turn pins its revision, so republishing mid-turn can't change the definitions used by that answer.</a:t>
            </a:r>
            <a:endParaRPr lang="en-US" sz="1400" dirty="0"/>
          </a:p>
        </p:txBody>
      </p:sp>
      <p:sp>
        <p:nvSpPr>
          <p:cNvPr id="18" name="Shape 13"/>
          <p:cNvSpPr/>
          <p:nvPr/>
        </p:nvSpPr>
        <p:spPr>
          <a:xfrm>
            <a:off x="548640" y="4114800"/>
            <a:ext cx="11064240" cy="1828800"/>
          </a:xfrm>
          <a:prstGeom prst="roundRect">
            <a:avLst>
              <a:gd name="adj" fmla="val 4000"/>
            </a:avLst>
          </a:prstGeom>
          <a:solidFill>
            <a:srgbClr val="0E1A2B"/>
          </a:solidFill>
          <a:ln w="12700">
            <a:solidFill>
              <a:srgbClr val="0E1A2B"/>
            </a:solidFill>
            <a:prstDash val="solid"/>
          </a:ln>
        </p:spPr>
      </p:sp>
      <p:sp>
        <p:nvSpPr>
          <p:cNvPr id="19" name="Text 14"/>
          <p:cNvSpPr txBox="1"/>
          <p:nvPr/>
        </p:nvSpPr>
        <p:spPr>
          <a:xfrm>
            <a:off x="822960" y="4206240"/>
            <a:ext cx="4572000" cy="365760"/>
          </a:xfrm>
          <a:prstGeom prst="rect">
            <a:avLst/>
          </a:prstGeom>
          <a:noFill/>
          <a:ln/>
        </p:spPr>
        <p:txBody>
          <a:bodyPr wrap="square" lIns="0" tIns="0" rIns="0" bIns="0" rtlCol="0" anchor="t"/>
          <a:lstStyle/>
          <a:p>
            <a:pPr algn="l" indent="0" marL="0">
              <a:spcAft>
                <a:spcPts val="400"/>
              </a:spcAft>
              <a:buNone/>
            </a:pPr>
            <a:r>
              <a:rPr lang="en-US" sz="1400" b="1" dirty="0">
                <a:solidFill>
                  <a:srgbClr val="F2A541"/>
                </a:solidFill>
                <a:latin typeface="Calibri" pitchFamily="34" charset="0"/>
                <a:ea typeface="Calibri" pitchFamily="34" charset="-122"/>
                <a:cs typeface="Calibri" pitchFamily="34" charset="-120"/>
              </a:rPr>
              <a:t>Published TPC-DS model</a:t>
            </a:r>
            <a:endParaRPr lang="en-US" sz="1400" dirty="0"/>
          </a:p>
        </p:txBody>
      </p:sp>
      <p:sp>
        <p:nvSpPr>
          <p:cNvPr id="20" name="Text 15"/>
          <p:cNvSpPr txBox="1"/>
          <p:nvPr/>
        </p:nvSpPr>
        <p:spPr>
          <a:xfrm>
            <a:off x="822960" y="4526280"/>
            <a:ext cx="2468880" cy="914400"/>
          </a:xfrm>
          <a:prstGeom prst="rect">
            <a:avLst/>
          </a:prstGeom>
          <a:noFill/>
          <a:ln/>
        </p:spPr>
        <p:txBody>
          <a:bodyPr wrap="square" lIns="0" tIns="0" rIns="0" bIns="0" rtlCol="0" anchor="ctr"/>
          <a:lstStyle/>
          <a:p>
            <a:pPr algn="l" indent="0" marL="0">
              <a:buNone/>
            </a:pPr>
            <a:r>
              <a:rPr lang="en-US" sz="4200" b="1" dirty="0">
                <a:solidFill>
                  <a:srgbClr val="FFFFFF"/>
                </a:solidFill>
                <a:latin typeface="Cambria" pitchFamily="34" charset="0"/>
                <a:ea typeface="Cambria" pitchFamily="34" charset="-122"/>
                <a:cs typeface="Cambria" pitchFamily="34" charset="-120"/>
              </a:rPr>
              <a:t>24</a:t>
            </a:r>
            <a:endParaRPr lang="en-US" sz="4200" dirty="0"/>
          </a:p>
        </p:txBody>
      </p:sp>
      <p:sp>
        <p:nvSpPr>
          <p:cNvPr id="21" name="Text 16"/>
          <p:cNvSpPr txBox="1"/>
          <p:nvPr/>
        </p:nvSpPr>
        <p:spPr>
          <a:xfrm>
            <a:off x="822960" y="5440680"/>
            <a:ext cx="2468880" cy="548640"/>
          </a:xfrm>
          <a:prstGeom prst="rect">
            <a:avLst/>
          </a:prstGeom>
          <a:noFill/>
          <a:ln/>
        </p:spPr>
        <p:txBody>
          <a:bodyPr wrap="square" lIns="0" tIns="0" rIns="0" bIns="0" rtlCol="0" anchor="ctr"/>
          <a:lstStyle/>
          <a:p>
            <a:pPr algn="l" indent="0" marL="0">
              <a:buNone/>
            </a:pPr>
            <a:r>
              <a:rPr lang="en-US" sz="1300" dirty="0">
                <a:solidFill>
                  <a:srgbClr val="5B6472"/>
                </a:solidFill>
                <a:latin typeface="Calibri" pitchFamily="34" charset="0"/>
                <a:ea typeface="Calibri" pitchFamily="34" charset="-122"/>
                <a:cs typeface="Calibri" pitchFamily="34" charset="-120"/>
              </a:rPr>
              <a:t>datasets</a:t>
            </a:r>
            <a:endParaRPr lang="en-US" sz="1300" dirty="0"/>
          </a:p>
        </p:txBody>
      </p:sp>
      <p:sp>
        <p:nvSpPr>
          <p:cNvPr id="22" name="Text 17"/>
          <p:cNvSpPr txBox="1"/>
          <p:nvPr/>
        </p:nvSpPr>
        <p:spPr>
          <a:xfrm>
            <a:off x="3566160" y="4526280"/>
            <a:ext cx="2468880" cy="914400"/>
          </a:xfrm>
          <a:prstGeom prst="rect">
            <a:avLst/>
          </a:prstGeom>
          <a:noFill/>
          <a:ln/>
        </p:spPr>
        <p:txBody>
          <a:bodyPr wrap="square" lIns="0" tIns="0" rIns="0" bIns="0" rtlCol="0" anchor="ctr"/>
          <a:lstStyle/>
          <a:p>
            <a:pPr algn="l" indent="0" marL="0">
              <a:buNone/>
            </a:pPr>
            <a:r>
              <a:rPr lang="en-US" sz="4200" b="1" dirty="0">
                <a:solidFill>
                  <a:srgbClr val="FFFFFF"/>
                </a:solidFill>
                <a:latin typeface="Cambria" pitchFamily="34" charset="0"/>
                <a:ea typeface="Cambria" pitchFamily="34" charset="-122"/>
                <a:cs typeface="Cambria" pitchFamily="34" charset="-120"/>
              </a:rPr>
              <a:t>425</a:t>
            </a:r>
            <a:endParaRPr lang="en-US" sz="4200" dirty="0"/>
          </a:p>
        </p:txBody>
      </p:sp>
      <p:sp>
        <p:nvSpPr>
          <p:cNvPr id="23" name="Text 18"/>
          <p:cNvSpPr txBox="1"/>
          <p:nvPr/>
        </p:nvSpPr>
        <p:spPr>
          <a:xfrm>
            <a:off x="3566160" y="5440680"/>
            <a:ext cx="2468880" cy="548640"/>
          </a:xfrm>
          <a:prstGeom prst="rect">
            <a:avLst/>
          </a:prstGeom>
          <a:noFill/>
          <a:ln/>
        </p:spPr>
        <p:txBody>
          <a:bodyPr wrap="square" lIns="0" tIns="0" rIns="0" bIns="0" rtlCol="0" anchor="ctr"/>
          <a:lstStyle/>
          <a:p>
            <a:pPr algn="l" indent="0" marL="0">
              <a:buNone/>
            </a:pPr>
            <a:r>
              <a:rPr lang="en-US" sz="1300" dirty="0">
                <a:solidFill>
                  <a:srgbClr val="5B6472"/>
                </a:solidFill>
                <a:latin typeface="Calibri" pitchFamily="34" charset="0"/>
                <a:ea typeface="Calibri" pitchFamily="34" charset="-122"/>
                <a:cs typeface="Calibri" pitchFamily="34" charset="-120"/>
              </a:rPr>
              <a:t>fields</a:t>
            </a:r>
            <a:endParaRPr lang="en-US" sz="1300" dirty="0"/>
          </a:p>
        </p:txBody>
      </p:sp>
      <p:sp>
        <p:nvSpPr>
          <p:cNvPr id="24" name="Text 19"/>
          <p:cNvSpPr txBox="1"/>
          <p:nvPr/>
        </p:nvSpPr>
        <p:spPr>
          <a:xfrm>
            <a:off x="6309360" y="4526280"/>
            <a:ext cx="2468880" cy="914400"/>
          </a:xfrm>
          <a:prstGeom prst="rect">
            <a:avLst/>
          </a:prstGeom>
          <a:noFill/>
          <a:ln/>
        </p:spPr>
        <p:txBody>
          <a:bodyPr wrap="square" lIns="0" tIns="0" rIns="0" bIns="0" rtlCol="0" anchor="ctr"/>
          <a:lstStyle/>
          <a:p>
            <a:pPr algn="l" indent="0" marL="0">
              <a:buNone/>
            </a:pPr>
            <a:r>
              <a:rPr lang="en-US" sz="4200" b="1" dirty="0">
                <a:solidFill>
                  <a:srgbClr val="FFFFFF"/>
                </a:solidFill>
                <a:latin typeface="Cambria" pitchFamily="34" charset="0"/>
                <a:ea typeface="Cambria" pitchFamily="34" charset="-122"/>
                <a:cs typeface="Cambria" pitchFamily="34" charset="-120"/>
              </a:rPr>
              <a:t>105</a:t>
            </a:r>
            <a:endParaRPr lang="en-US" sz="4200" dirty="0"/>
          </a:p>
        </p:txBody>
      </p:sp>
      <p:sp>
        <p:nvSpPr>
          <p:cNvPr id="25" name="Text 20"/>
          <p:cNvSpPr txBox="1"/>
          <p:nvPr/>
        </p:nvSpPr>
        <p:spPr>
          <a:xfrm>
            <a:off x="6309360" y="5440680"/>
            <a:ext cx="2468880" cy="548640"/>
          </a:xfrm>
          <a:prstGeom prst="rect">
            <a:avLst/>
          </a:prstGeom>
          <a:noFill/>
          <a:ln/>
        </p:spPr>
        <p:txBody>
          <a:bodyPr wrap="square" lIns="0" tIns="0" rIns="0" bIns="0" rtlCol="0" anchor="ctr"/>
          <a:lstStyle/>
          <a:p>
            <a:pPr algn="l" indent="0" marL="0">
              <a:buNone/>
            </a:pPr>
            <a:r>
              <a:rPr lang="en-US" sz="1300" dirty="0">
                <a:solidFill>
                  <a:srgbClr val="5B6472"/>
                </a:solidFill>
                <a:latin typeface="Calibri" pitchFamily="34" charset="0"/>
                <a:ea typeface="Calibri" pitchFamily="34" charset="-122"/>
                <a:cs typeface="Calibri" pitchFamily="34" charset="-120"/>
              </a:rPr>
              <a:t>relationships</a:t>
            </a:r>
            <a:endParaRPr lang="en-US" sz="1300" dirty="0"/>
          </a:p>
        </p:txBody>
      </p:sp>
      <p:sp>
        <p:nvSpPr>
          <p:cNvPr id="26" name="Text 21"/>
          <p:cNvSpPr txBox="1"/>
          <p:nvPr/>
        </p:nvSpPr>
        <p:spPr>
          <a:xfrm>
            <a:off x="9052560" y="4526280"/>
            <a:ext cx="2468880" cy="914400"/>
          </a:xfrm>
          <a:prstGeom prst="rect">
            <a:avLst/>
          </a:prstGeom>
          <a:noFill/>
          <a:ln/>
        </p:spPr>
        <p:txBody>
          <a:bodyPr wrap="square" lIns="0" tIns="0" rIns="0" bIns="0" rtlCol="0" anchor="ctr"/>
          <a:lstStyle/>
          <a:p>
            <a:pPr algn="l" indent="0" marL="0">
              <a:buNone/>
            </a:pPr>
            <a:r>
              <a:rPr lang="en-US" sz="4200" b="1" dirty="0">
                <a:solidFill>
                  <a:srgbClr val="FFFFFF"/>
                </a:solidFill>
                <a:latin typeface="Cambria" pitchFamily="34" charset="0"/>
                <a:ea typeface="Cambria" pitchFamily="34" charset="-122"/>
                <a:cs typeface="Cambria" pitchFamily="34" charset="-120"/>
              </a:rPr>
              <a:t>39</a:t>
            </a:r>
            <a:endParaRPr lang="en-US" sz="4200" dirty="0"/>
          </a:p>
        </p:txBody>
      </p:sp>
      <p:sp>
        <p:nvSpPr>
          <p:cNvPr id="27" name="Text 22"/>
          <p:cNvSpPr txBox="1"/>
          <p:nvPr/>
        </p:nvSpPr>
        <p:spPr>
          <a:xfrm>
            <a:off x="9052560" y="5440680"/>
            <a:ext cx="2468880" cy="548640"/>
          </a:xfrm>
          <a:prstGeom prst="rect">
            <a:avLst/>
          </a:prstGeom>
          <a:noFill/>
          <a:ln/>
        </p:spPr>
        <p:txBody>
          <a:bodyPr wrap="square" lIns="0" tIns="0" rIns="0" bIns="0" rtlCol="0" anchor="ctr"/>
          <a:lstStyle/>
          <a:p>
            <a:pPr algn="l" indent="0" marL="0">
              <a:buNone/>
            </a:pPr>
            <a:r>
              <a:rPr lang="en-US" sz="1300" dirty="0">
                <a:solidFill>
                  <a:srgbClr val="5B6472"/>
                </a:solidFill>
                <a:latin typeface="Calibri" pitchFamily="34" charset="0"/>
                <a:ea typeface="Calibri" pitchFamily="34" charset="-122"/>
                <a:cs typeface="Calibri" pitchFamily="34" charset="-120"/>
              </a:rPr>
              <a:t>metrics</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3200" b="1" dirty="0">
                <a:solidFill>
                  <a:srgbClr val="0E1A2B"/>
                </a:solidFill>
                <a:latin typeface="Cambria" pitchFamily="34" charset="0"/>
                <a:ea typeface="Cambria" pitchFamily="34" charset="-122"/>
                <a:cs typeface="Cambria" pitchFamily="34" charset="-120"/>
              </a:rPr>
              <a:t>Inside the semantic model: Apache Ossie</a:t>
            </a:r>
            <a:endParaRPr lang="en-US" sz="3200" dirty="0"/>
          </a:p>
        </p:txBody>
      </p:sp>
      <p:sp>
        <p:nvSpPr>
          <p:cNvPr id="3" name="Text 1"/>
          <p:cNvSpPr txBox="1"/>
          <p:nvPr/>
        </p:nvSpPr>
        <p:spPr>
          <a:xfrm>
            <a:off x="548640" y="1097280"/>
            <a:ext cx="11094415" cy="457200"/>
          </a:xfrm>
          <a:prstGeom prst="rect">
            <a:avLst/>
          </a:prstGeom>
          <a:noFill/>
          <a:ln/>
        </p:spPr>
        <p:txBody>
          <a:bodyPr wrap="square" lIns="0" tIns="0" rIns="0" bIns="0" rtlCol="0" anchor="ctr"/>
          <a:lstStyle/>
          <a:p>
            <a:pPr indent="0" marL="0">
              <a:buNone/>
            </a:pPr>
            <a:r>
              <a:rPr lang="en-US" sz="1400" i="1" dirty="0">
                <a:solidFill>
                  <a:srgbClr val="5B6472"/>
                </a:solidFill>
                <a:latin typeface="Calibri" pitchFamily="34" charset="0"/>
                <a:ea typeface="Calibri" pitchFamily="34" charset="-122"/>
                <a:cs typeface="Calibri" pitchFamily="34" charset="-120"/>
              </a:rPr>
              <a:t>Ossie is a format, not an engine. Helios adds the discovery pipeline that fills it and the compiler that executes it.</a:t>
            </a:r>
            <a:endParaRPr lang="en-US" sz="1400" dirty="0"/>
          </a:p>
        </p:txBody>
      </p:sp>
      <p:sp>
        <p:nvSpPr>
          <p:cNvPr id="4" name="Shape 2"/>
          <p:cNvSpPr/>
          <p:nvPr/>
        </p:nvSpPr>
        <p:spPr>
          <a:xfrm>
            <a:off x="548640" y="1874520"/>
            <a:ext cx="11064240" cy="685800"/>
          </a:xfrm>
          <a:prstGeom prst="roundRect">
            <a:avLst>
              <a:gd name="adj" fmla="val 10667"/>
            </a:avLst>
          </a:prstGeom>
          <a:solidFill>
            <a:srgbClr val="F4F6F9"/>
          </a:solidFill>
          <a:ln w="12700">
            <a:solidFill>
              <a:srgbClr val="F4F6F9"/>
            </a:solidFill>
            <a:prstDash val="solid"/>
          </a:ln>
        </p:spPr>
      </p:sp>
      <p:sp>
        <p:nvSpPr>
          <p:cNvPr id="5" name="Text 3"/>
          <p:cNvSpPr txBox="1"/>
          <p:nvPr/>
        </p:nvSpPr>
        <p:spPr>
          <a:xfrm>
            <a:off x="822960" y="1874520"/>
            <a:ext cx="2377440" cy="685800"/>
          </a:xfrm>
          <a:prstGeom prst="rect">
            <a:avLst/>
          </a:prstGeom>
          <a:noFill/>
          <a:ln/>
        </p:spPr>
        <p:txBody>
          <a:bodyPr wrap="square" lIns="0" tIns="0" rIns="0" bIns="0" rtlCol="0" anchor="ctr"/>
          <a:lstStyle/>
          <a:p>
            <a:pPr algn="l" indent="0" marL="0">
              <a:spcAft>
                <a:spcPts val="400"/>
              </a:spcAft>
              <a:buNone/>
            </a:pPr>
            <a:r>
              <a:rPr lang="en-US" sz="1600" b="1" dirty="0">
                <a:solidFill>
                  <a:srgbClr val="0E1A2B"/>
                </a:solidFill>
                <a:latin typeface="Calibri" pitchFamily="34" charset="0"/>
                <a:ea typeface="Calibri" pitchFamily="34" charset="-122"/>
                <a:cs typeface="Calibri" pitchFamily="34" charset="-120"/>
              </a:rPr>
              <a:t>Datasets</a:t>
            </a:r>
            <a:endParaRPr lang="en-US" sz="1600" dirty="0"/>
          </a:p>
        </p:txBody>
      </p:sp>
      <p:sp>
        <p:nvSpPr>
          <p:cNvPr id="6" name="Text 4"/>
          <p:cNvSpPr txBox="1"/>
          <p:nvPr/>
        </p:nvSpPr>
        <p:spPr>
          <a:xfrm>
            <a:off x="3291840" y="1874520"/>
            <a:ext cx="8138160" cy="685800"/>
          </a:xfrm>
          <a:prstGeom prst="rect">
            <a:avLst/>
          </a:prstGeom>
          <a:noFill/>
          <a:ln/>
        </p:spPr>
        <p:txBody>
          <a:bodyPr wrap="square" lIns="0" tIns="0" rIns="0" bIns="0" rtlCol="0" anchor="ctr"/>
          <a:lstStyle/>
          <a:p>
            <a:pPr algn="l" indent="0" marL="0">
              <a:spcAft>
                <a:spcPts val="400"/>
              </a:spcAft>
              <a:buNone/>
            </a:pPr>
            <a:r>
              <a:rPr lang="en-US" sz="1500" dirty="0">
                <a:solidFill>
                  <a:srgbClr val="1F2937"/>
                </a:solidFill>
                <a:latin typeface="Calibri" pitchFamily="34" charset="0"/>
                <a:ea typeface="Calibri" pitchFamily="34" charset="-122"/>
                <a:cs typeface="Calibri" pitchFamily="34" charset="-120"/>
              </a:rPr>
              <a:t>store_sales (fact), customer (dimension), date_dim…</a:t>
            </a:r>
            <a:endParaRPr lang="en-US" sz="1500" dirty="0"/>
          </a:p>
        </p:txBody>
      </p:sp>
      <p:sp>
        <p:nvSpPr>
          <p:cNvPr id="7" name="Shape 5"/>
          <p:cNvSpPr/>
          <p:nvPr/>
        </p:nvSpPr>
        <p:spPr>
          <a:xfrm>
            <a:off x="548640" y="2697480"/>
            <a:ext cx="11064240" cy="685800"/>
          </a:xfrm>
          <a:prstGeom prst="roundRect">
            <a:avLst>
              <a:gd name="adj" fmla="val 10667"/>
            </a:avLst>
          </a:prstGeom>
          <a:solidFill>
            <a:srgbClr val="FFFFFF"/>
          </a:solidFill>
          <a:ln w="12700">
            <a:solidFill>
              <a:srgbClr val="FFFFFF"/>
            </a:solidFill>
            <a:prstDash val="solid"/>
          </a:ln>
        </p:spPr>
      </p:sp>
      <p:sp>
        <p:nvSpPr>
          <p:cNvPr id="8" name="Text 6"/>
          <p:cNvSpPr txBox="1"/>
          <p:nvPr/>
        </p:nvSpPr>
        <p:spPr>
          <a:xfrm>
            <a:off x="822960" y="2697480"/>
            <a:ext cx="2377440" cy="685800"/>
          </a:xfrm>
          <a:prstGeom prst="rect">
            <a:avLst/>
          </a:prstGeom>
          <a:noFill/>
          <a:ln/>
        </p:spPr>
        <p:txBody>
          <a:bodyPr wrap="square" lIns="0" tIns="0" rIns="0" bIns="0" rtlCol="0" anchor="ctr"/>
          <a:lstStyle/>
          <a:p>
            <a:pPr algn="l" indent="0" marL="0">
              <a:spcAft>
                <a:spcPts val="400"/>
              </a:spcAft>
              <a:buNone/>
            </a:pPr>
            <a:r>
              <a:rPr lang="en-US" sz="1600" b="1" dirty="0">
                <a:solidFill>
                  <a:srgbClr val="0E1A2B"/>
                </a:solidFill>
                <a:latin typeface="Calibri" pitchFamily="34" charset="0"/>
                <a:ea typeface="Calibri" pitchFamily="34" charset="-122"/>
                <a:cs typeface="Calibri" pitchFamily="34" charset="-120"/>
              </a:rPr>
              <a:t>Fields</a:t>
            </a:r>
            <a:endParaRPr lang="en-US" sz="1600" dirty="0"/>
          </a:p>
        </p:txBody>
      </p:sp>
      <p:sp>
        <p:nvSpPr>
          <p:cNvPr id="9" name="Text 7"/>
          <p:cNvSpPr txBox="1"/>
          <p:nvPr/>
        </p:nvSpPr>
        <p:spPr>
          <a:xfrm>
            <a:off x="3291840" y="2697480"/>
            <a:ext cx="8138160" cy="685800"/>
          </a:xfrm>
          <a:prstGeom prst="rect">
            <a:avLst/>
          </a:prstGeom>
          <a:noFill/>
          <a:ln/>
        </p:spPr>
        <p:txBody>
          <a:bodyPr wrap="square" lIns="0" tIns="0" rIns="0" bIns="0" rtlCol="0" anchor="ctr"/>
          <a:lstStyle/>
          <a:p>
            <a:pPr algn="l" indent="0" marL="0">
              <a:spcAft>
                <a:spcPts val="400"/>
              </a:spcAft>
              <a:buNone/>
            </a:pPr>
            <a:r>
              <a:rPr lang="en-US" sz="1500" dirty="0">
                <a:solidFill>
                  <a:srgbClr val="1F2937"/>
                </a:solidFill>
                <a:latin typeface="Calibri" pitchFamily="34" charset="0"/>
                <a:ea typeface="Calibri" pitchFamily="34" charset="-122"/>
                <a:cs typeface="Calibri" pitchFamily="34" charset="-120"/>
              </a:rPr>
              <a:t>roles, types, descriptions, synonyms (ai_context)</a:t>
            </a:r>
            <a:endParaRPr lang="en-US" sz="1500" dirty="0"/>
          </a:p>
        </p:txBody>
      </p:sp>
      <p:sp>
        <p:nvSpPr>
          <p:cNvPr id="10" name="Shape 8"/>
          <p:cNvSpPr/>
          <p:nvPr/>
        </p:nvSpPr>
        <p:spPr>
          <a:xfrm>
            <a:off x="548640" y="3520440"/>
            <a:ext cx="11064240" cy="685800"/>
          </a:xfrm>
          <a:prstGeom prst="roundRect">
            <a:avLst>
              <a:gd name="adj" fmla="val 10667"/>
            </a:avLst>
          </a:prstGeom>
          <a:solidFill>
            <a:srgbClr val="F4F6F9"/>
          </a:solidFill>
          <a:ln w="12700">
            <a:solidFill>
              <a:srgbClr val="F4F6F9"/>
            </a:solidFill>
            <a:prstDash val="solid"/>
          </a:ln>
        </p:spPr>
      </p:sp>
      <p:sp>
        <p:nvSpPr>
          <p:cNvPr id="11" name="Text 9"/>
          <p:cNvSpPr txBox="1"/>
          <p:nvPr/>
        </p:nvSpPr>
        <p:spPr>
          <a:xfrm>
            <a:off x="822960" y="3520440"/>
            <a:ext cx="2377440" cy="685800"/>
          </a:xfrm>
          <a:prstGeom prst="rect">
            <a:avLst/>
          </a:prstGeom>
          <a:noFill/>
          <a:ln/>
        </p:spPr>
        <p:txBody>
          <a:bodyPr wrap="square" lIns="0" tIns="0" rIns="0" bIns="0" rtlCol="0" anchor="ctr"/>
          <a:lstStyle/>
          <a:p>
            <a:pPr algn="l" indent="0" marL="0">
              <a:spcAft>
                <a:spcPts val="400"/>
              </a:spcAft>
              <a:buNone/>
            </a:pPr>
            <a:r>
              <a:rPr lang="en-US" sz="1600" b="1" dirty="0">
                <a:solidFill>
                  <a:srgbClr val="0E1A2B"/>
                </a:solidFill>
                <a:latin typeface="Calibri" pitchFamily="34" charset="0"/>
                <a:ea typeface="Calibri" pitchFamily="34" charset="-122"/>
                <a:cs typeface="Calibri" pitchFamily="34" charset="-120"/>
              </a:rPr>
              <a:t>Relationships</a:t>
            </a:r>
            <a:endParaRPr lang="en-US" sz="1600" dirty="0"/>
          </a:p>
        </p:txBody>
      </p:sp>
      <p:sp>
        <p:nvSpPr>
          <p:cNvPr id="12" name="Text 10"/>
          <p:cNvSpPr txBox="1"/>
          <p:nvPr/>
        </p:nvSpPr>
        <p:spPr>
          <a:xfrm>
            <a:off x="3291840" y="3520440"/>
            <a:ext cx="8138160" cy="685800"/>
          </a:xfrm>
          <a:prstGeom prst="rect">
            <a:avLst/>
          </a:prstGeom>
          <a:noFill/>
          <a:ln/>
        </p:spPr>
        <p:txBody>
          <a:bodyPr wrap="square" lIns="0" tIns="0" rIns="0" bIns="0" rtlCol="0" anchor="ctr"/>
          <a:lstStyle/>
          <a:p>
            <a:pPr algn="l" indent="0" marL="0">
              <a:spcAft>
                <a:spcPts val="400"/>
              </a:spcAft>
              <a:buNone/>
            </a:pPr>
            <a:r>
              <a:rPr lang="en-US" sz="1500" dirty="0">
                <a:solidFill>
                  <a:srgbClr val="1F2937"/>
                </a:solidFill>
                <a:latin typeface="Calibri" pitchFamily="34" charset="0"/>
                <a:ea typeface="Calibri" pitchFamily="34" charset="-122"/>
                <a:cs typeface="Calibri" pitchFamily="34" charset="-120"/>
              </a:rPr>
              <a:t>store_sales.ss_customer_sk → customer.c_customer_sk</a:t>
            </a:r>
            <a:endParaRPr lang="en-US" sz="1500" dirty="0"/>
          </a:p>
        </p:txBody>
      </p:sp>
      <p:sp>
        <p:nvSpPr>
          <p:cNvPr id="13" name="Shape 11"/>
          <p:cNvSpPr/>
          <p:nvPr/>
        </p:nvSpPr>
        <p:spPr>
          <a:xfrm>
            <a:off x="548640" y="4343400"/>
            <a:ext cx="11064240" cy="685800"/>
          </a:xfrm>
          <a:prstGeom prst="roundRect">
            <a:avLst>
              <a:gd name="adj" fmla="val 10667"/>
            </a:avLst>
          </a:prstGeom>
          <a:solidFill>
            <a:srgbClr val="FFFFFF"/>
          </a:solidFill>
          <a:ln w="12700">
            <a:solidFill>
              <a:srgbClr val="FFFFFF"/>
            </a:solidFill>
            <a:prstDash val="solid"/>
          </a:ln>
        </p:spPr>
      </p:sp>
      <p:sp>
        <p:nvSpPr>
          <p:cNvPr id="14" name="Text 12"/>
          <p:cNvSpPr txBox="1"/>
          <p:nvPr/>
        </p:nvSpPr>
        <p:spPr>
          <a:xfrm>
            <a:off x="822960" y="4343400"/>
            <a:ext cx="2377440" cy="685800"/>
          </a:xfrm>
          <a:prstGeom prst="rect">
            <a:avLst/>
          </a:prstGeom>
          <a:noFill/>
          <a:ln/>
        </p:spPr>
        <p:txBody>
          <a:bodyPr wrap="square" lIns="0" tIns="0" rIns="0" bIns="0" rtlCol="0" anchor="ctr"/>
          <a:lstStyle/>
          <a:p>
            <a:pPr algn="l" indent="0" marL="0">
              <a:spcAft>
                <a:spcPts val="400"/>
              </a:spcAft>
              <a:buNone/>
            </a:pPr>
            <a:r>
              <a:rPr lang="en-US" sz="1600" b="1" dirty="0">
                <a:solidFill>
                  <a:srgbClr val="0E1A2B"/>
                </a:solidFill>
                <a:latin typeface="Calibri" pitchFamily="34" charset="0"/>
                <a:ea typeface="Calibri" pitchFamily="34" charset="-122"/>
                <a:cs typeface="Calibri" pitchFamily="34" charset="-120"/>
              </a:rPr>
              <a:t>Metrics</a:t>
            </a:r>
            <a:endParaRPr lang="en-US" sz="1600" dirty="0"/>
          </a:p>
        </p:txBody>
      </p:sp>
      <p:sp>
        <p:nvSpPr>
          <p:cNvPr id="15" name="Text 13"/>
          <p:cNvSpPr txBox="1"/>
          <p:nvPr/>
        </p:nvSpPr>
        <p:spPr>
          <a:xfrm>
            <a:off x="3291840" y="4343400"/>
            <a:ext cx="8138160" cy="685800"/>
          </a:xfrm>
          <a:prstGeom prst="rect">
            <a:avLst/>
          </a:prstGeom>
          <a:noFill/>
          <a:ln/>
        </p:spPr>
        <p:txBody>
          <a:bodyPr wrap="square" lIns="0" tIns="0" rIns="0" bIns="0" rtlCol="0" anchor="ctr"/>
          <a:lstStyle/>
          <a:p>
            <a:pPr algn="l" indent="0" marL="0">
              <a:spcAft>
                <a:spcPts val="400"/>
              </a:spcAft>
              <a:buNone/>
            </a:pPr>
            <a:r>
              <a:rPr lang="en-US" sz="1500" dirty="0">
                <a:solidFill>
                  <a:srgbClr val="1F2937"/>
                </a:solidFill>
                <a:latin typeface="Calibri" pitchFamily="34" charset="0"/>
                <a:ea typeface="Calibri" pitchFamily="34" charset="-122"/>
                <a:cs typeface="Calibri" pitchFamily="34" charset="-120"/>
              </a:rPr>
              <a:t>store_sales_revenue = SUM(store_sales.ss_net_paid)</a:t>
            </a:r>
            <a:endParaRPr lang="en-US" sz="1500" dirty="0"/>
          </a:p>
        </p:txBody>
      </p:sp>
      <p:sp>
        <p:nvSpPr>
          <p:cNvPr id="16" name="Shape 14"/>
          <p:cNvSpPr/>
          <p:nvPr/>
        </p:nvSpPr>
        <p:spPr>
          <a:xfrm>
            <a:off x="548640" y="5166360"/>
            <a:ext cx="11064240" cy="685800"/>
          </a:xfrm>
          <a:prstGeom prst="roundRect">
            <a:avLst>
              <a:gd name="adj" fmla="val 10667"/>
            </a:avLst>
          </a:prstGeom>
          <a:solidFill>
            <a:srgbClr val="F4F6F9"/>
          </a:solidFill>
          <a:ln w="12700">
            <a:solidFill>
              <a:srgbClr val="F4F6F9"/>
            </a:solidFill>
            <a:prstDash val="solid"/>
          </a:ln>
        </p:spPr>
      </p:sp>
      <p:sp>
        <p:nvSpPr>
          <p:cNvPr id="17" name="Text 15"/>
          <p:cNvSpPr txBox="1"/>
          <p:nvPr/>
        </p:nvSpPr>
        <p:spPr>
          <a:xfrm>
            <a:off x="822960" y="5166360"/>
            <a:ext cx="2377440" cy="685800"/>
          </a:xfrm>
          <a:prstGeom prst="rect">
            <a:avLst/>
          </a:prstGeom>
          <a:noFill/>
          <a:ln/>
        </p:spPr>
        <p:txBody>
          <a:bodyPr wrap="square" lIns="0" tIns="0" rIns="0" bIns="0" rtlCol="0" anchor="ctr"/>
          <a:lstStyle/>
          <a:p>
            <a:pPr algn="l" indent="0" marL="0">
              <a:spcAft>
                <a:spcPts val="400"/>
              </a:spcAft>
              <a:buNone/>
            </a:pPr>
            <a:r>
              <a:rPr lang="en-US" sz="1600" b="1" dirty="0">
                <a:solidFill>
                  <a:srgbClr val="0E1A2B"/>
                </a:solidFill>
                <a:latin typeface="Calibri" pitchFamily="34" charset="0"/>
                <a:ea typeface="Calibri" pitchFamily="34" charset="-122"/>
                <a:cs typeface="Calibri" pitchFamily="34" charset="-120"/>
              </a:rPr>
              <a:t>Provenance</a:t>
            </a:r>
            <a:endParaRPr lang="en-US" sz="1600" dirty="0"/>
          </a:p>
        </p:txBody>
      </p:sp>
      <p:sp>
        <p:nvSpPr>
          <p:cNvPr id="18" name="Text 16"/>
          <p:cNvSpPr txBox="1"/>
          <p:nvPr/>
        </p:nvSpPr>
        <p:spPr>
          <a:xfrm>
            <a:off x="3291840" y="5166360"/>
            <a:ext cx="8138160" cy="685800"/>
          </a:xfrm>
          <a:prstGeom prst="rect">
            <a:avLst/>
          </a:prstGeom>
          <a:noFill/>
          <a:ln/>
        </p:spPr>
        <p:txBody>
          <a:bodyPr wrap="square" lIns="0" tIns="0" rIns="0" bIns="0" rtlCol="0" anchor="ctr"/>
          <a:lstStyle/>
          <a:p>
            <a:pPr algn="l" indent="0" marL="0">
              <a:spcAft>
                <a:spcPts val="400"/>
              </a:spcAft>
              <a:buNone/>
            </a:pPr>
            <a:r>
              <a:rPr lang="en-US" sz="1500" dirty="0">
                <a:solidFill>
                  <a:srgbClr val="1F2937"/>
                </a:solidFill>
                <a:latin typeface="Calibri" pitchFamily="34" charset="0"/>
                <a:ea typeface="Calibri" pitchFamily="34" charset="-122"/>
                <a:cs typeface="Calibri" pitchFamily="34" charset="-120"/>
              </a:rPr>
              <a:t>custom_extensions: role, confidence, glossary terms, match ratio</a:t>
            </a:r>
            <a:endParaRPr lang="en-US" sz="1500" dirty="0"/>
          </a:p>
        </p:txBody>
      </p:sp>
      <p:sp>
        <p:nvSpPr>
          <p:cNvPr id="19" name="Text 17"/>
          <p:cNvSpPr txBox="1"/>
          <p:nvPr/>
        </p:nvSpPr>
        <p:spPr>
          <a:xfrm>
            <a:off x="548640" y="6291072"/>
            <a:ext cx="11094415" cy="411480"/>
          </a:xfrm>
          <a:prstGeom prst="rect">
            <a:avLst/>
          </a:prstGeom>
          <a:noFill/>
          <a:ln/>
        </p:spPr>
        <p:txBody>
          <a:bodyPr wrap="square" lIns="0" tIns="0" rIns="0" bIns="0" rtlCol="0" anchor="b"/>
          <a:lstStyle/>
          <a:p>
            <a:pPr indent="0" marL="0">
              <a:buNone/>
            </a:pPr>
            <a:r>
              <a:rPr lang="en-US" sz="950" i="1" dirty="0">
                <a:solidFill>
                  <a:srgbClr val="5B6472"/>
                </a:solidFill>
                <a:latin typeface="Calibri" pitchFamily="34" charset="0"/>
                <a:ea typeface="Calibri" pitchFamily="34" charset="-122"/>
                <a:cs typeface="Calibri" pitchFamily="34" charset="-120"/>
              </a:rPr>
              <a:t>Apache Ossie (formerly Open Semantic Interchange) is an Apache Incubator spec, version 0.2.0.dev0 here, with converters for dbt, GoodData, Polaris and Salesforce.</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3200" b="1" dirty="0">
                <a:solidFill>
                  <a:srgbClr val="0E1A2B"/>
                </a:solidFill>
                <a:latin typeface="Cambria" pitchFamily="34" charset="0"/>
                <a:ea typeface="Cambria" pitchFamily="34" charset="-122"/>
                <a:cs typeface="Cambria" pitchFamily="34" charset="-120"/>
              </a:rPr>
              <a:t>The business glossary in Apache Atlas</a:t>
            </a:r>
            <a:endParaRPr lang="en-US" sz="3200" dirty="0"/>
          </a:p>
        </p:txBody>
      </p:sp>
      <p:sp>
        <p:nvSpPr>
          <p:cNvPr id="3" name="Text 1"/>
          <p:cNvSpPr txBox="1"/>
          <p:nvPr/>
        </p:nvSpPr>
        <p:spPr>
          <a:xfrm>
            <a:off x="548640" y="1554480"/>
            <a:ext cx="3291840" cy="914400"/>
          </a:xfrm>
          <a:prstGeom prst="rect">
            <a:avLst/>
          </a:prstGeom>
          <a:noFill/>
          <a:ln/>
        </p:spPr>
        <p:txBody>
          <a:bodyPr wrap="square" lIns="0" tIns="0" rIns="0" bIns="0" rtlCol="0" anchor="ctr"/>
          <a:lstStyle/>
          <a:p>
            <a:pPr algn="l" indent="0" marL="0">
              <a:buNone/>
            </a:pPr>
            <a:r>
              <a:rPr lang="en-US" sz="5400" b="1" dirty="0">
                <a:solidFill>
                  <a:srgbClr val="0E1A2B"/>
                </a:solidFill>
                <a:latin typeface="Cambria" pitchFamily="34" charset="0"/>
                <a:ea typeface="Cambria" pitchFamily="34" charset="-122"/>
                <a:cs typeface="Cambria" pitchFamily="34" charset="-120"/>
              </a:rPr>
              <a:t>138</a:t>
            </a:r>
            <a:endParaRPr lang="en-US" sz="5400" dirty="0"/>
          </a:p>
        </p:txBody>
      </p:sp>
      <p:sp>
        <p:nvSpPr>
          <p:cNvPr id="4" name="Text 2"/>
          <p:cNvSpPr txBox="1"/>
          <p:nvPr/>
        </p:nvSpPr>
        <p:spPr>
          <a:xfrm>
            <a:off x="548640" y="2468880"/>
            <a:ext cx="3291840" cy="548640"/>
          </a:xfrm>
          <a:prstGeom prst="rect">
            <a:avLst/>
          </a:prstGeom>
          <a:noFill/>
          <a:ln/>
        </p:spPr>
        <p:txBody>
          <a:bodyPr wrap="square" lIns="0" tIns="0" rIns="0" bIns="0" rtlCol="0" anchor="ctr"/>
          <a:lstStyle/>
          <a:p>
            <a:pPr algn="l" indent="0" marL="0">
              <a:buNone/>
            </a:pPr>
            <a:r>
              <a:rPr lang="en-US" sz="1300" dirty="0">
                <a:solidFill>
                  <a:srgbClr val="5B6472"/>
                </a:solidFill>
                <a:latin typeface="Calibri" pitchFamily="34" charset="0"/>
                <a:ea typeface="Calibri" pitchFamily="34" charset="-122"/>
                <a:cs typeface="Calibri" pitchFamily="34" charset="-120"/>
              </a:rPr>
              <a:t>terms in the TPCDS Retail glossary</a:t>
            </a:r>
            <a:endParaRPr lang="en-US" sz="1300" dirty="0"/>
          </a:p>
        </p:txBody>
      </p:sp>
      <p:sp>
        <p:nvSpPr>
          <p:cNvPr id="5" name="Text 3"/>
          <p:cNvSpPr txBox="1"/>
          <p:nvPr/>
        </p:nvSpPr>
        <p:spPr>
          <a:xfrm>
            <a:off x="4023360" y="1554480"/>
            <a:ext cx="3291840" cy="914400"/>
          </a:xfrm>
          <a:prstGeom prst="rect">
            <a:avLst/>
          </a:prstGeom>
          <a:noFill/>
          <a:ln/>
        </p:spPr>
        <p:txBody>
          <a:bodyPr wrap="square" lIns="0" tIns="0" rIns="0" bIns="0" rtlCol="0" anchor="ctr"/>
          <a:lstStyle/>
          <a:p>
            <a:pPr algn="l" indent="0" marL="0">
              <a:buNone/>
            </a:pPr>
            <a:r>
              <a:rPr lang="en-US" sz="5400" b="1" dirty="0">
                <a:solidFill>
                  <a:srgbClr val="0E1A2B"/>
                </a:solidFill>
                <a:latin typeface="Cambria" pitchFamily="34" charset="0"/>
                <a:ea typeface="Cambria" pitchFamily="34" charset="-122"/>
                <a:cs typeface="Cambria" pitchFamily="34" charset="-120"/>
              </a:rPr>
              <a:t>393</a:t>
            </a:r>
            <a:endParaRPr lang="en-US" sz="5400" dirty="0"/>
          </a:p>
        </p:txBody>
      </p:sp>
      <p:sp>
        <p:nvSpPr>
          <p:cNvPr id="6" name="Text 4"/>
          <p:cNvSpPr txBox="1"/>
          <p:nvPr/>
        </p:nvSpPr>
        <p:spPr>
          <a:xfrm>
            <a:off x="4023360" y="2468880"/>
            <a:ext cx="3291840" cy="548640"/>
          </a:xfrm>
          <a:prstGeom prst="rect">
            <a:avLst/>
          </a:prstGeom>
          <a:noFill/>
          <a:ln/>
        </p:spPr>
        <p:txBody>
          <a:bodyPr wrap="square" lIns="0" tIns="0" rIns="0" bIns="0" rtlCol="0" anchor="ctr"/>
          <a:lstStyle/>
          <a:p>
            <a:pPr algn="l" indent="0" marL="0">
              <a:buNone/>
            </a:pPr>
            <a:r>
              <a:rPr lang="en-US" sz="1300" dirty="0">
                <a:solidFill>
                  <a:srgbClr val="5B6472"/>
                </a:solidFill>
                <a:latin typeface="Calibri" pitchFamily="34" charset="0"/>
                <a:ea typeface="Calibri" pitchFamily="34" charset="-122"/>
                <a:cs typeface="Calibri" pitchFamily="34" charset="-120"/>
              </a:rPr>
              <a:t>columns linked to terms</a:t>
            </a:r>
            <a:endParaRPr lang="en-US" sz="1300" dirty="0"/>
          </a:p>
        </p:txBody>
      </p:sp>
      <p:sp>
        <p:nvSpPr>
          <p:cNvPr id="7" name="Text 5"/>
          <p:cNvSpPr txBox="1"/>
          <p:nvPr/>
        </p:nvSpPr>
        <p:spPr>
          <a:xfrm>
            <a:off x="7498080" y="1554480"/>
            <a:ext cx="3291840" cy="914400"/>
          </a:xfrm>
          <a:prstGeom prst="rect">
            <a:avLst/>
          </a:prstGeom>
          <a:noFill/>
          <a:ln/>
        </p:spPr>
        <p:txBody>
          <a:bodyPr wrap="square" lIns="0" tIns="0" rIns="0" bIns="0" rtlCol="0" anchor="ctr"/>
          <a:lstStyle/>
          <a:p>
            <a:pPr algn="l" indent="0" marL="0">
              <a:buNone/>
            </a:pPr>
            <a:r>
              <a:rPr lang="en-US" sz="5400" b="1" dirty="0">
                <a:solidFill>
                  <a:srgbClr val="0E1A2B"/>
                </a:solidFill>
                <a:latin typeface="Cambria" pitchFamily="34" charset="0"/>
                <a:ea typeface="Cambria" pitchFamily="34" charset="-122"/>
                <a:cs typeface="Cambria" pitchFamily="34" charset="-120"/>
              </a:rPr>
              <a:t>32</a:t>
            </a:r>
            <a:endParaRPr lang="en-US" sz="5400" dirty="0"/>
          </a:p>
        </p:txBody>
      </p:sp>
      <p:sp>
        <p:nvSpPr>
          <p:cNvPr id="8" name="Text 6"/>
          <p:cNvSpPr txBox="1"/>
          <p:nvPr/>
        </p:nvSpPr>
        <p:spPr>
          <a:xfrm>
            <a:off x="7498080" y="2468880"/>
            <a:ext cx="3291840" cy="548640"/>
          </a:xfrm>
          <a:prstGeom prst="rect">
            <a:avLst/>
          </a:prstGeom>
          <a:noFill/>
          <a:ln/>
        </p:spPr>
        <p:txBody>
          <a:bodyPr wrap="square" lIns="0" tIns="0" rIns="0" bIns="0" rtlCol="0" anchor="ctr"/>
          <a:lstStyle/>
          <a:p>
            <a:pPr algn="l" indent="0" marL="0">
              <a:buNone/>
            </a:pPr>
            <a:r>
              <a:rPr lang="en-US" sz="1300" dirty="0">
                <a:solidFill>
                  <a:srgbClr val="5B6472"/>
                </a:solidFill>
                <a:latin typeface="Calibri" pitchFamily="34" charset="0"/>
                <a:ea typeface="Calibri" pitchFamily="34" charset="-122"/>
                <a:cs typeface="Calibri" pitchFamily="34" charset="-120"/>
              </a:rPr>
              <a:t>core terms in the seed glossary</a:t>
            </a:r>
            <a:endParaRPr lang="en-US" sz="1300" dirty="0"/>
          </a:p>
        </p:txBody>
      </p:sp>
      <p:sp>
        <p:nvSpPr>
          <p:cNvPr id="9" name="Shape 7"/>
          <p:cNvSpPr/>
          <p:nvPr/>
        </p:nvSpPr>
        <p:spPr>
          <a:xfrm>
            <a:off x="548640" y="3429000"/>
            <a:ext cx="5394960" cy="2514600"/>
          </a:xfrm>
          <a:prstGeom prst="roundRect">
            <a:avLst>
              <a:gd name="adj" fmla="val 2909"/>
            </a:avLst>
          </a:prstGeom>
          <a:solidFill>
            <a:srgbClr val="F4F6F9"/>
          </a:solidFill>
          <a:ln w="12700">
            <a:solidFill>
              <a:srgbClr val="F4F6F9"/>
            </a:solidFill>
            <a:prstDash val="solid"/>
          </a:ln>
        </p:spPr>
      </p:sp>
      <p:sp>
        <p:nvSpPr>
          <p:cNvPr id="10" name="Text 8"/>
          <p:cNvSpPr txBox="1"/>
          <p:nvPr/>
        </p:nvSpPr>
        <p:spPr>
          <a:xfrm>
            <a:off x="822960" y="3611880"/>
            <a:ext cx="4846320" cy="2194560"/>
          </a:xfrm>
          <a:prstGeom prst="rect">
            <a:avLst/>
          </a:prstGeom>
          <a:noFill/>
          <a:ln/>
        </p:spPr>
        <p:txBody>
          <a:bodyPr wrap="square" lIns="0" tIns="0" rIns="0" bIns="0" rtlCol="0" anchor="t"/>
          <a:lstStyle/>
          <a:p>
            <a:pPr indent="0" marL="0">
              <a:buNone/>
            </a:pPr>
            <a:r>
              <a:rPr lang="en-US" sz="1800" b="1" dirty="0">
                <a:solidFill>
                  <a:srgbClr val="0E1A2B"/>
                </a:solidFill>
                <a:latin typeface="Calibri" pitchFamily="34" charset="0"/>
                <a:ea typeface="Calibri" pitchFamily="34" charset="-122"/>
                <a:cs typeface="Calibri" pitchFamily="34" charset="-120"/>
              </a:rPr>
              <a:t>Why two glossaries?</a:t>
            </a:r>
            <a:endParaRPr lang="en-US" sz="1800" dirty="0"/>
          </a:p>
          <a:p>
            <a:pPr indent="0" marL="0">
              <a:buNone/>
            </a:pPr>
            <a:r>
              <a:rPr lang="en-US" sz="1500" dirty="0">
                <a:solidFill>
                  <a:srgbClr val="1F2937"/>
                </a:solidFill>
                <a:latin typeface="Calibri" pitchFamily="34" charset="0"/>
                <a:ea typeface="Calibri" pitchFamily="34" charset="-122"/>
                <a:cs typeface="Calibri" pitchFamily="34" charset="-120"/>
              </a:rPr>
              <a:t>The full glossary is the reference answer; loading it would "hand the engine the answer key." The 32-term seed is for cold-start experiments that test what Helios can discover on its own.</a:t>
            </a:r>
            <a:endParaRPr lang="en-US" sz="1800" dirty="0"/>
          </a:p>
        </p:txBody>
      </p:sp>
      <p:sp>
        <p:nvSpPr>
          <p:cNvPr id="11" name="Shape 9"/>
          <p:cNvSpPr/>
          <p:nvPr/>
        </p:nvSpPr>
        <p:spPr>
          <a:xfrm>
            <a:off x="6217920" y="3429000"/>
            <a:ext cx="5394960" cy="2514600"/>
          </a:xfrm>
          <a:prstGeom prst="roundRect">
            <a:avLst>
              <a:gd name="adj" fmla="val 2909"/>
            </a:avLst>
          </a:prstGeom>
          <a:solidFill>
            <a:srgbClr val="F4F6F9"/>
          </a:solidFill>
          <a:ln w="12700">
            <a:solidFill>
              <a:srgbClr val="F4F6F9"/>
            </a:solidFill>
            <a:prstDash val="solid"/>
          </a:ln>
        </p:spPr>
      </p:sp>
      <p:sp>
        <p:nvSpPr>
          <p:cNvPr id="12" name="Text 10"/>
          <p:cNvSpPr txBox="1"/>
          <p:nvPr/>
        </p:nvSpPr>
        <p:spPr>
          <a:xfrm>
            <a:off x="6492240" y="3611880"/>
            <a:ext cx="4846320" cy="2194560"/>
          </a:xfrm>
          <a:prstGeom prst="rect">
            <a:avLst/>
          </a:prstGeom>
          <a:noFill/>
          <a:ln/>
        </p:spPr>
        <p:txBody>
          <a:bodyPr wrap="square" lIns="0" tIns="0" rIns="0" bIns="0" rtlCol="0" anchor="t"/>
          <a:lstStyle/>
          <a:p>
            <a:pPr indent="0" marL="0">
              <a:buNone/>
            </a:pPr>
            <a:r>
              <a:rPr lang="en-US" sz="1800" b="1" dirty="0">
                <a:solidFill>
                  <a:srgbClr val="0E1A2B"/>
                </a:solidFill>
                <a:latin typeface="Calibri" pitchFamily="34" charset="0"/>
                <a:ea typeface="Calibri" pitchFamily="34" charset="-122"/>
                <a:cs typeface="Calibri" pitchFamily="34" charset="-120"/>
              </a:rPr>
              <a:t>In the UI</a:t>
            </a:r>
            <a:endParaRPr lang="en-US" sz="1800" dirty="0"/>
          </a:p>
          <a:p>
            <a:pPr indent="0" marL="0">
              <a:buNone/>
            </a:pPr>
            <a:r>
              <a:rPr lang="en-US" sz="1500" dirty="0">
                <a:solidFill>
                  <a:srgbClr val="1F2937"/>
                </a:solidFill>
                <a:latin typeface="Calibri" pitchFamily="34" charset="0"/>
                <a:ea typeface="Calibri" pitchFamily="34" charset="-122"/>
                <a:cs typeface="Calibri" pitchFamily="34" charset="-120"/>
              </a:rPr>
              <a:t>Glossary CRUD and CSV import, term detail with "Mapped model attributes", term-to-column assignment, and a Proposals queue for terms Helios suggests.</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2900" b="1" dirty="0">
                <a:solidFill>
                  <a:srgbClr val="0E1A2B"/>
                </a:solidFill>
                <a:latin typeface="Cambria" pitchFamily="34" charset="0"/>
                <a:ea typeface="Cambria" pitchFamily="34" charset="-122"/>
                <a:cs typeface="Cambria" pitchFamily="34" charset="-120"/>
              </a:rPr>
              <a:t>The ontology: the layer an agent consults first</a:t>
            </a:r>
            <a:endParaRPr lang="en-US" sz="2900" dirty="0"/>
          </a:p>
        </p:txBody>
      </p:sp>
      <p:sp>
        <p:nvSpPr>
          <p:cNvPr id="3" name="Text 1"/>
          <p:cNvSpPr txBox="1"/>
          <p:nvPr/>
        </p:nvSpPr>
        <p:spPr>
          <a:xfrm>
            <a:off x="548640" y="1463040"/>
            <a:ext cx="5852160" cy="438912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Concepts: Customer, Order, Return, Channel</a:t>
            </a:r>
            <a:endParaRPr lang="en-US" sz="1700" dirty="0"/>
          </a:p>
          <a:p>
            <a:pPr marL="342900" indent="-3429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Relations: "a Return reverses part of an Order"</a:t>
            </a:r>
            <a:endParaRPr lang="en-US" sz="1700" dirty="0"/>
          </a:p>
          <a:p>
            <a:pPr marL="342900" indent="-3429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Rules and synonyms that sit above individual tables</a:t>
            </a:r>
            <a:endParaRPr lang="en-US" sz="1700" dirty="0"/>
          </a:p>
          <a:p>
            <a:pPr marL="342900" indent="-3429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Status: in design. Options under consideration are Ossie's ontology section, OWL/SKOS, or Atlas as the store</a:t>
            </a:r>
            <a:endParaRPr lang="en-US" sz="1700" dirty="0"/>
          </a:p>
          <a:p>
            <a:pPr marL="342900" indent="-342900">
              <a:spcAft>
                <a:spcPts val="800"/>
              </a:spcAft>
              <a:buSzPct val="100000"/>
              <a:buChar char="•"/>
            </a:pPr>
            <a:r>
              <a:rPr lang="en-US" sz="1700" dirty="0">
                <a:solidFill>
                  <a:srgbClr val="1F2937"/>
                </a:solidFill>
                <a:latin typeface="Calibri" pitchFamily="34" charset="0"/>
                <a:ea typeface="Calibri" pitchFamily="34" charset="-122"/>
                <a:cs typeface="Calibri" pitchFamily="34" charset="-120"/>
              </a:rPr>
              <a:t>The UI already has an Ontology lens on the model canvas; authoring comes later</a:t>
            </a:r>
            <a:endParaRPr lang="en-US" sz="1700" dirty="0"/>
          </a:p>
        </p:txBody>
      </p:sp>
      <p:sp>
        <p:nvSpPr>
          <p:cNvPr id="4" name="Shape 2"/>
          <p:cNvSpPr/>
          <p:nvPr/>
        </p:nvSpPr>
        <p:spPr>
          <a:xfrm>
            <a:off x="6766560" y="1463040"/>
            <a:ext cx="4846320" cy="4480560"/>
          </a:xfrm>
          <a:prstGeom prst="roundRect">
            <a:avLst>
              <a:gd name="adj" fmla="val 1633"/>
            </a:avLst>
          </a:prstGeom>
          <a:solidFill>
            <a:srgbClr val="0E1A2B"/>
          </a:solidFill>
          <a:ln w="12700">
            <a:solidFill>
              <a:srgbClr val="0E1A2B"/>
            </a:solidFill>
            <a:prstDash val="solid"/>
          </a:ln>
        </p:spPr>
      </p:sp>
      <p:sp>
        <p:nvSpPr>
          <p:cNvPr id="5" name="Shape 3"/>
          <p:cNvSpPr/>
          <p:nvPr/>
        </p:nvSpPr>
        <p:spPr>
          <a:xfrm>
            <a:off x="7132320" y="1920240"/>
            <a:ext cx="1737360" cy="822960"/>
          </a:xfrm>
          <a:prstGeom prst="ellipse">
            <a:avLst/>
          </a:prstGeom>
          <a:solidFill>
            <a:srgbClr val="F2A541"/>
          </a:solidFill>
          <a:ln w="12700">
            <a:solidFill>
              <a:srgbClr val="F2A541"/>
            </a:solidFill>
            <a:prstDash val="solid"/>
          </a:ln>
        </p:spPr>
      </p:sp>
      <p:sp>
        <p:nvSpPr>
          <p:cNvPr id="6" name="Text 4"/>
          <p:cNvSpPr txBox="1"/>
          <p:nvPr/>
        </p:nvSpPr>
        <p:spPr>
          <a:xfrm>
            <a:off x="7132320" y="1920240"/>
            <a:ext cx="1737360" cy="822960"/>
          </a:xfrm>
          <a:prstGeom prst="rect">
            <a:avLst/>
          </a:prstGeom>
          <a:noFill/>
          <a:ln/>
        </p:spPr>
        <p:txBody>
          <a:bodyPr wrap="square" lIns="0" tIns="0" rIns="0" bIns="0" rtlCol="0" anchor="ctr"/>
          <a:lstStyle/>
          <a:p>
            <a:pPr algn="ctr" indent="0" marL="0">
              <a:spcAft>
                <a:spcPts val="400"/>
              </a:spcAft>
              <a:buNone/>
            </a:pPr>
            <a:r>
              <a:rPr lang="en-US" sz="1500" b="1" dirty="0">
                <a:solidFill>
                  <a:srgbClr val="0E1A2B"/>
                </a:solidFill>
                <a:latin typeface="Calibri" pitchFamily="34" charset="0"/>
                <a:ea typeface="Calibri" pitchFamily="34" charset="-122"/>
                <a:cs typeface="Calibri" pitchFamily="34" charset="-120"/>
              </a:rPr>
              <a:t>Customer</a:t>
            </a:r>
            <a:endParaRPr lang="en-US" sz="1500" dirty="0"/>
          </a:p>
        </p:txBody>
      </p:sp>
      <p:sp>
        <p:nvSpPr>
          <p:cNvPr id="7" name="Shape 5"/>
          <p:cNvSpPr/>
          <p:nvPr/>
        </p:nvSpPr>
        <p:spPr>
          <a:xfrm>
            <a:off x="9509760" y="1920240"/>
            <a:ext cx="1737360" cy="822960"/>
          </a:xfrm>
          <a:prstGeom prst="ellipse">
            <a:avLst/>
          </a:prstGeom>
          <a:solidFill>
            <a:srgbClr val="F2A541"/>
          </a:solidFill>
          <a:ln w="12700">
            <a:solidFill>
              <a:srgbClr val="F2A541"/>
            </a:solidFill>
            <a:prstDash val="solid"/>
          </a:ln>
        </p:spPr>
      </p:sp>
      <p:sp>
        <p:nvSpPr>
          <p:cNvPr id="8" name="Text 6"/>
          <p:cNvSpPr txBox="1"/>
          <p:nvPr/>
        </p:nvSpPr>
        <p:spPr>
          <a:xfrm>
            <a:off x="9509760" y="1920240"/>
            <a:ext cx="1737360" cy="822960"/>
          </a:xfrm>
          <a:prstGeom prst="rect">
            <a:avLst/>
          </a:prstGeom>
          <a:noFill/>
          <a:ln/>
        </p:spPr>
        <p:txBody>
          <a:bodyPr wrap="square" lIns="0" tIns="0" rIns="0" bIns="0" rtlCol="0" anchor="ctr"/>
          <a:lstStyle/>
          <a:p>
            <a:pPr algn="ctr" indent="0" marL="0">
              <a:spcAft>
                <a:spcPts val="400"/>
              </a:spcAft>
              <a:buNone/>
            </a:pPr>
            <a:r>
              <a:rPr lang="en-US" sz="1500" b="1" dirty="0">
                <a:solidFill>
                  <a:srgbClr val="0E1A2B"/>
                </a:solidFill>
                <a:latin typeface="Calibri" pitchFamily="34" charset="0"/>
                <a:ea typeface="Calibri" pitchFamily="34" charset="-122"/>
                <a:cs typeface="Calibri" pitchFamily="34" charset="-120"/>
              </a:rPr>
              <a:t>Order</a:t>
            </a:r>
            <a:endParaRPr lang="en-US" sz="1500" dirty="0"/>
          </a:p>
        </p:txBody>
      </p:sp>
      <p:sp>
        <p:nvSpPr>
          <p:cNvPr id="9" name="Shape 7"/>
          <p:cNvSpPr/>
          <p:nvPr/>
        </p:nvSpPr>
        <p:spPr>
          <a:xfrm>
            <a:off x="9509760" y="4206240"/>
            <a:ext cx="1737360" cy="822960"/>
          </a:xfrm>
          <a:prstGeom prst="ellipse">
            <a:avLst/>
          </a:prstGeom>
          <a:solidFill>
            <a:srgbClr val="F2A541"/>
          </a:solidFill>
          <a:ln w="12700">
            <a:solidFill>
              <a:srgbClr val="F2A541"/>
            </a:solidFill>
            <a:prstDash val="solid"/>
          </a:ln>
        </p:spPr>
      </p:sp>
      <p:sp>
        <p:nvSpPr>
          <p:cNvPr id="10" name="Text 8"/>
          <p:cNvSpPr txBox="1"/>
          <p:nvPr/>
        </p:nvSpPr>
        <p:spPr>
          <a:xfrm>
            <a:off x="9509760" y="4206240"/>
            <a:ext cx="1737360" cy="822960"/>
          </a:xfrm>
          <a:prstGeom prst="rect">
            <a:avLst/>
          </a:prstGeom>
          <a:noFill/>
          <a:ln/>
        </p:spPr>
        <p:txBody>
          <a:bodyPr wrap="square" lIns="0" tIns="0" rIns="0" bIns="0" rtlCol="0" anchor="ctr"/>
          <a:lstStyle/>
          <a:p>
            <a:pPr algn="ctr" indent="0" marL="0">
              <a:spcAft>
                <a:spcPts val="400"/>
              </a:spcAft>
              <a:buNone/>
            </a:pPr>
            <a:r>
              <a:rPr lang="en-US" sz="1500" b="1" dirty="0">
                <a:solidFill>
                  <a:srgbClr val="0E1A2B"/>
                </a:solidFill>
                <a:latin typeface="Calibri" pitchFamily="34" charset="0"/>
                <a:ea typeface="Calibri" pitchFamily="34" charset="-122"/>
                <a:cs typeface="Calibri" pitchFamily="34" charset="-120"/>
              </a:rPr>
              <a:t>Return</a:t>
            </a:r>
            <a:endParaRPr lang="en-US" sz="1500" dirty="0"/>
          </a:p>
        </p:txBody>
      </p:sp>
      <p:sp>
        <p:nvSpPr>
          <p:cNvPr id="11" name="Shape 9"/>
          <p:cNvSpPr/>
          <p:nvPr/>
        </p:nvSpPr>
        <p:spPr>
          <a:xfrm>
            <a:off x="7132320" y="4206240"/>
            <a:ext cx="1737360" cy="822960"/>
          </a:xfrm>
          <a:prstGeom prst="ellipse">
            <a:avLst/>
          </a:prstGeom>
          <a:solidFill>
            <a:srgbClr val="F2A541"/>
          </a:solidFill>
          <a:ln w="12700">
            <a:solidFill>
              <a:srgbClr val="F2A541"/>
            </a:solidFill>
            <a:prstDash val="solid"/>
          </a:ln>
        </p:spPr>
      </p:sp>
      <p:sp>
        <p:nvSpPr>
          <p:cNvPr id="12" name="Text 10"/>
          <p:cNvSpPr txBox="1"/>
          <p:nvPr/>
        </p:nvSpPr>
        <p:spPr>
          <a:xfrm>
            <a:off x="7132320" y="4206240"/>
            <a:ext cx="1737360" cy="822960"/>
          </a:xfrm>
          <a:prstGeom prst="rect">
            <a:avLst/>
          </a:prstGeom>
          <a:noFill/>
          <a:ln/>
        </p:spPr>
        <p:txBody>
          <a:bodyPr wrap="square" lIns="0" tIns="0" rIns="0" bIns="0" rtlCol="0" anchor="ctr"/>
          <a:lstStyle/>
          <a:p>
            <a:pPr algn="ctr" indent="0" marL="0">
              <a:spcAft>
                <a:spcPts val="400"/>
              </a:spcAft>
              <a:buNone/>
            </a:pPr>
            <a:r>
              <a:rPr lang="en-US" sz="1500" b="1" dirty="0">
                <a:solidFill>
                  <a:srgbClr val="0E1A2B"/>
                </a:solidFill>
                <a:latin typeface="Calibri" pitchFamily="34" charset="0"/>
                <a:ea typeface="Calibri" pitchFamily="34" charset="-122"/>
                <a:cs typeface="Calibri" pitchFamily="34" charset="-120"/>
              </a:rPr>
              <a:t>Channel</a:t>
            </a:r>
            <a:endParaRPr lang="en-US" sz="1500" dirty="0"/>
          </a:p>
        </p:txBody>
      </p:sp>
      <p:sp>
        <p:nvSpPr>
          <p:cNvPr id="13" name="Shape 11"/>
          <p:cNvSpPr/>
          <p:nvPr/>
        </p:nvSpPr>
        <p:spPr>
          <a:xfrm>
            <a:off x="8869680" y="2331720"/>
            <a:ext cx="640080" cy="0"/>
          </a:xfrm>
          <a:prstGeom prst="line">
            <a:avLst/>
          </a:prstGeom>
          <a:noFill/>
          <a:ln w="25400">
            <a:solidFill>
              <a:srgbClr val="FFFFFF"/>
            </a:solidFill>
            <a:prstDash val="solid"/>
          </a:ln>
        </p:spPr>
      </p:sp>
      <p:sp>
        <p:nvSpPr>
          <p:cNvPr id="14" name="Shape 12"/>
          <p:cNvSpPr/>
          <p:nvPr/>
        </p:nvSpPr>
        <p:spPr>
          <a:xfrm>
            <a:off x="10378440" y="2743200"/>
            <a:ext cx="0" cy="1463040"/>
          </a:xfrm>
          <a:prstGeom prst="line">
            <a:avLst/>
          </a:prstGeom>
          <a:noFill/>
          <a:ln w="25400">
            <a:solidFill>
              <a:srgbClr val="FFFFFF"/>
            </a:solidFill>
            <a:prstDash val="solid"/>
          </a:ln>
        </p:spPr>
      </p:sp>
      <p:sp>
        <p:nvSpPr>
          <p:cNvPr id="15" name="Shape 13"/>
          <p:cNvSpPr/>
          <p:nvPr/>
        </p:nvSpPr>
        <p:spPr>
          <a:xfrm>
            <a:off x="8001000" y="2743200"/>
            <a:ext cx="0" cy="1463040"/>
          </a:xfrm>
          <a:prstGeom prst="line">
            <a:avLst/>
          </a:prstGeom>
          <a:noFill/>
          <a:ln w="25400">
            <a:solidFill>
              <a:srgbClr val="FFFFFF"/>
            </a:solidFill>
            <a:prstDash val="solid"/>
          </a:ln>
        </p:spPr>
      </p:sp>
      <p:sp>
        <p:nvSpPr>
          <p:cNvPr id="16" name="Text 14"/>
          <p:cNvSpPr txBox="1"/>
          <p:nvPr/>
        </p:nvSpPr>
        <p:spPr>
          <a:xfrm>
            <a:off x="8778240" y="1874520"/>
            <a:ext cx="822960" cy="365760"/>
          </a:xfrm>
          <a:prstGeom prst="rect">
            <a:avLst/>
          </a:prstGeom>
          <a:noFill/>
          <a:ln/>
        </p:spPr>
        <p:txBody>
          <a:bodyPr wrap="square" lIns="0" tIns="0" rIns="0" bIns="0" rtlCol="0" anchor="t"/>
          <a:lstStyle/>
          <a:p>
            <a:pPr algn="ctr" indent="0" marL="0">
              <a:spcAft>
                <a:spcPts val="400"/>
              </a:spcAft>
              <a:buNone/>
            </a:pPr>
            <a:r>
              <a:rPr lang="en-US" sz="1100" dirty="0">
                <a:solidFill>
                  <a:srgbClr val="C9D3E0"/>
                </a:solidFill>
                <a:latin typeface="Calibri" pitchFamily="34" charset="0"/>
                <a:ea typeface="Calibri" pitchFamily="34" charset="-122"/>
                <a:cs typeface="Calibri" pitchFamily="34" charset="-120"/>
              </a:rPr>
              <a:t>places</a:t>
            </a:r>
            <a:endParaRPr lang="en-US" sz="1100" dirty="0"/>
          </a:p>
        </p:txBody>
      </p:sp>
      <p:sp>
        <p:nvSpPr>
          <p:cNvPr id="17" name="Text 15"/>
          <p:cNvSpPr txBox="1"/>
          <p:nvPr/>
        </p:nvSpPr>
        <p:spPr>
          <a:xfrm>
            <a:off x="10469880" y="3246120"/>
            <a:ext cx="1097280" cy="548640"/>
          </a:xfrm>
          <a:prstGeom prst="rect">
            <a:avLst/>
          </a:prstGeom>
          <a:noFill/>
          <a:ln/>
        </p:spPr>
        <p:txBody>
          <a:bodyPr wrap="square" lIns="0" tIns="0" rIns="0" bIns="0" rtlCol="0" anchor="t"/>
          <a:lstStyle/>
          <a:p>
            <a:pPr algn="l" indent="0" marL="0">
              <a:spcAft>
                <a:spcPts val="400"/>
              </a:spcAft>
              <a:buNone/>
            </a:pPr>
            <a:r>
              <a:rPr lang="en-US" sz="1100" dirty="0">
                <a:solidFill>
                  <a:srgbClr val="C9D3E0"/>
                </a:solidFill>
                <a:latin typeface="Calibri" pitchFamily="34" charset="0"/>
                <a:ea typeface="Calibri" pitchFamily="34" charset="-122"/>
                <a:cs typeface="Calibri" pitchFamily="34" charset="-120"/>
              </a:rPr>
              <a:t>reverses part of</a:t>
            </a:r>
            <a:endParaRPr lang="en-US" sz="1100" dirty="0"/>
          </a:p>
        </p:txBody>
      </p:sp>
      <p:sp>
        <p:nvSpPr>
          <p:cNvPr id="18" name="Text 16"/>
          <p:cNvSpPr txBox="1"/>
          <p:nvPr/>
        </p:nvSpPr>
        <p:spPr>
          <a:xfrm>
            <a:off x="6949440" y="3291840"/>
            <a:ext cx="1005840" cy="365760"/>
          </a:xfrm>
          <a:prstGeom prst="rect">
            <a:avLst/>
          </a:prstGeom>
          <a:noFill/>
          <a:ln/>
        </p:spPr>
        <p:txBody>
          <a:bodyPr wrap="square" lIns="0" tIns="0" rIns="0" bIns="0" rtlCol="0" anchor="t"/>
          <a:lstStyle/>
          <a:p>
            <a:pPr algn="r" indent="0" marL="0">
              <a:spcAft>
                <a:spcPts val="400"/>
              </a:spcAft>
              <a:buNone/>
            </a:pPr>
            <a:r>
              <a:rPr lang="en-US" sz="1100" dirty="0">
                <a:solidFill>
                  <a:srgbClr val="C9D3E0"/>
                </a:solidFill>
                <a:latin typeface="Calibri" pitchFamily="34" charset="0"/>
                <a:ea typeface="Calibri" pitchFamily="34" charset="-122"/>
                <a:cs typeface="Calibri" pitchFamily="34" charset="-120"/>
              </a:rPr>
              <a:t>buys via</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2600" b="1" dirty="0">
                <a:solidFill>
                  <a:srgbClr val="0E1A2B"/>
                </a:solidFill>
                <a:latin typeface="Cambria" pitchFamily="34" charset="0"/>
                <a:ea typeface="Cambria" pitchFamily="34" charset="-122"/>
                <a:cs typeface="Cambria" pitchFamily="34" charset="-120"/>
              </a:rPr>
              <a:t>The compiler: from a semantic request to engine SQL</a:t>
            </a:r>
            <a:endParaRPr lang="en-US" sz="2600" dirty="0"/>
          </a:p>
        </p:txBody>
      </p:sp>
      <p:sp>
        <p:nvSpPr>
          <p:cNvPr id="3" name="Shape 1"/>
          <p:cNvSpPr/>
          <p:nvPr/>
        </p:nvSpPr>
        <p:spPr>
          <a:xfrm>
            <a:off x="548640" y="1554480"/>
            <a:ext cx="1956816" cy="1280160"/>
          </a:xfrm>
          <a:prstGeom prst="roundRect">
            <a:avLst>
              <a:gd name="adj" fmla="val 7143"/>
            </a:avLst>
          </a:prstGeom>
          <a:solidFill>
            <a:srgbClr val="F2A541"/>
          </a:solidFill>
          <a:ln w="12700">
            <a:solidFill>
              <a:srgbClr val="F2A541"/>
            </a:solidFill>
            <a:prstDash val="solid"/>
          </a:ln>
        </p:spPr>
      </p:sp>
      <p:sp>
        <p:nvSpPr>
          <p:cNvPr id="4" name="Text 2"/>
          <p:cNvSpPr txBox="1"/>
          <p:nvPr/>
        </p:nvSpPr>
        <p:spPr>
          <a:xfrm>
            <a:off x="621792" y="1554480"/>
            <a:ext cx="1810512" cy="1280160"/>
          </a:xfrm>
          <a:prstGeom prst="rect">
            <a:avLst/>
          </a:prstGeom>
          <a:noFill/>
          <a:ln/>
        </p:spPr>
        <p:txBody>
          <a:bodyPr wrap="square" lIns="0" tIns="0" rIns="0" bIns="0" rtlCol="0" anchor="ctr"/>
          <a:lstStyle/>
          <a:p>
            <a:pPr algn="ctr" indent="0" marL="0">
              <a:buNone/>
            </a:pPr>
            <a:r>
              <a:rPr lang="en-US" sz="1600" b="1" dirty="0">
                <a:solidFill>
                  <a:srgbClr val="0E1A2B"/>
                </a:solidFill>
                <a:latin typeface="Calibri" pitchFamily="34" charset="0"/>
                <a:ea typeface="Calibri" pitchFamily="34" charset="-122"/>
                <a:cs typeface="Calibri" pitchFamily="34" charset="-120"/>
              </a:rPr>
              <a:t>Semantic request</a:t>
            </a:r>
            <a:endParaRPr lang="en-US" sz="1600" dirty="0"/>
          </a:p>
          <a:p>
            <a:pPr algn="ctr" indent="0" marL="0">
              <a:buNone/>
            </a:pPr>
            <a:r>
              <a:rPr lang="en-US" sz="1100" dirty="0">
                <a:solidFill>
                  <a:srgbClr val="0E1A2B"/>
                </a:solidFill>
                <a:latin typeface="Calibri" pitchFamily="34" charset="0"/>
                <a:ea typeface="Calibri" pitchFamily="34" charset="-122"/>
                <a:cs typeface="Calibri" pitchFamily="34" charset="-120"/>
              </a:rPr>
              <a:t>metrics · dimensions · filters</a:t>
            </a:r>
            <a:endParaRPr lang="en-US" sz="1600" dirty="0"/>
          </a:p>
        </p:txBody>
      </p:sp>
      <p:sp>
        <p:nvSpPr>
          <p:cNvPr id="5" name="Shape 3"/>
          <p:cNvSpPr/>
          <p:nvPr/>
        </p:nvSpPr>
        <p:spPr>
          <a:xfrm>
            <a:off x="2560320" y="2075688"/>
            <a:ext cx="210312" cy="237744"/>
          </a:xfrm>
          <a:prstGeom prst="rightArrow">
            <a:avLst/>
          </a:prstGeom>
          <a:solidFill>
            <a:srgbClr val="F2A541"/>
          </a:solidFill>
          <a:ln w="12700">
            <a:solidFill>
              <a:srgbClr val="F2A541"/>
            </a:solidFill>
            <a:prstDash val="solid"/>
          </a:ln>
        </p:spPr>
      </p:sp>
      <p:sp>
        <p:nvSpPr>
          <p:cNvPr id="6" name="Shape 4"/>
          <p:cNvSpPr/>
          <p:nvPr/>
        </p:nvSpPr>
        <p:spPr>
          <a:xfrm>
            <a:off x="2825496" y="1554480"/>
            <a:ext cx="1956816" cy="1280160"/>
          </a:xfrm>
          <a:prstGeom prst="roundRect">
            <a:avLst>
              <a:gd name="adj" fmla="val 7143"/>
            </a:avLst>
          </a:prstGeom>
          <a:solidFill>
            <a:srgbClr val="1C2F4A"/>
          </a:solidFill>
          <a:ln w="12700">
            <a:solidFill>
              <a:srgbClr val="1C2F4A"/>
            </a:solidFill>
            <a:prstDash val="solid"/>
          </a:ln>
        </p:spPr>
      </p:sp>
      <p:sp>
        <p:nvSpPr>
          <p:cNvPr id="7" name="Text 5"/>
          <p:cNvSpPr txBox="1"/>
          <p:nvPr/>
        </p:nvSpPr>
        <p:spPr>
          <a:xfrm>
            <a:off x="2898648" y="1554480"/>
            <a:ext cx="1810512" cy="12801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Ossie model</a:t>
            </a:r>
            <a:endParaRPr lang="en-US" sz="1600" dirty="0"/>
          </a:p>
          <a:p>
            <a:pPr algn="ctr" indent="0" marL="0">
              <a:buNone/>
            </a:pPr>
            <a:r>
              <a:rPr lang="en-US" sz="1100" dirty="0">
                <a:solidFill>
                  <a:srgbClr val="FFFFFF"/>
                </a:solidFill>
                <a:latin typeface="Calibri" pitchFamily="34" charset="0"/>
                <a:ea typeface="Calibri" pitchFamily="34" charset="-122"/>
                <a:cs typeface="Calibri" pitchFamily="34" charset="-120"/>
              </a:rPr>
              <a:t>pinned revision</a:t>
            </a:r>
            <a:endParaRPr lang="en-US" sz="1600" dirty="0"/>
          </a:p>
        </p:txBody>
      </p:sp>
      <p:sp>
        <p:nvSpPr>
          <p:cNvPr id="8" name="Shape 6"/>
          <p:cNvSpPr/>
          <p:nvPr/>
        </p:nvSpPr>
        <p:spPr>
          <a:xfrm>
            <a:off x="4837176" y="2075688"/>
            <a:ext cx="210312" cy="237744"/>
          </a:xfrm>
          <a:prstGeom prst="rightArrow">
            <a:avLst/>
          </a:prstGeom>
          <a:solidFill>
            <a:srgbClr val="F2A541"/>
          </a:solidFill>
          <a:ln w="12700">
            <a:solidFill>
              <a:srgbClr val="F2A541"/>
            </a:solidFill>
            <a:prstDash val="solid"/>
          </a:ln>
        </p:spPr>
      </p:sp>
      <p:sp>
        <p:nvSpPr>
          <p:cNvPr id="9" name="Shape 7"/>
          <p:cNvSpPr/>
          <p:nvPr/>
        </p:nvSpPr>
        <p:spPr>
          <a:xfrm>
            <a:off x="5102352" y="1554480"/>
            <a:ext cx="1956816" cy="1280160"/>
          </a:xfrm>
          <a:prstGeom prst="roundRect">
            <a:avLst>
              <a:gd name="adj" fmla="val 7143"/>
            </a:avLst>
          </a:prstGeom>
          <a:solidFill>
            <a:srgbClr val="1C2F4A"/>
          </a:solidFill>
          <a:ln w="12700">
            <a:solidFill>
              <a:srgbClr val="1C2F4A"/>
            </a:solidFill>
            <a:prstDash val="solid"/>
          </a:ln>
        </p:spPr>
      </p:sp>
      <p:sp>
        <p:nvSpPr>
          <p:cNvPr id="10" name="Text 8"/>
          <p:cNvSpPr txBox="1"/>
          <p:nvPr/>
        </p:nvSpPr>
        <p:spPr>
          <a:xfrm>
            <a:off x="5175504" y="1554480"/>
            <a:ext cx="1810512" cy="12801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Join graph</a:t>
            </a:r>
            <a:endParaRPr lang="en-US" sz="1600" dirty="0"/>
          </a:p>
          <a:p>
            <a:pPr algn="ctr" indent="0" marL="0">
              <a:buNone/>
            </a:pPr>
            <a:r>
              <a:rPr lang="en-US" sz="1100" dirty="0">
                <a:solidFill>
                  <a:srgbClr val="FFFFFF"/>
                </a:solidFill>
                <a:latin typeface="Calibri" pitchFamily="34" charset="0"/>
                <a:ea typeface="Calibri" pitchFamily="34" charset="-122"/>
                <a:cs typeface="Calibri" pitchFamily="34" charset="-120"/>
              </a:rPr>
              <a:t>shortest path, or via=</a:t>
            </a:r>
            <a:endParaRPr lang="en-US" sz="1600" dirty="0"/>
          </a:p>
        </p:txBody>
      </p:sp>
      <p:sp>
        <p:nvSpPr>
          <p:cNvPr id="11" name="Shape 9"/>
          <p:cNvSpPr/>
          <p:nvPr/>
        </p:nvSpPr>
        <p:spPr>
          <a:xfrm>
            <a:off x="7114032" y="2075688"/>
            <a:ext cx="210312" cy="237744"/>
          </a:xfrm>
          <a:prstGeom prst="rightArrow">
            <a:avLst/>
          </a:prstGeom>
          <a:solidFill>
            <a:srgbClr val="F2A541"/>
          </a:solidFill>
          <a:ln w="12700">
            <a:solidFill>
              <a:srgbClr val="F2A541"/>
            </a:solidFill>
            <a:prstDash val="solid"/>
          </a:ln>
        </p:spPr>
      </p:sp>
      <p:sp>
        <p:nvSpPr>
          <p:cNvPr id="12" name="Shape 10"/>
          <p:cNvSpPr/>
          <p:nvPr/>
        </p:nvSpPr>
        <p:spPr>
          <a:xfrm>
            <a:off x="7379208" y="1554480"/>
            <a:ext cx="1956816" cy="1280160"/>
          </a:xfrm>
          <a:prstGeom prst="roundRect">
            <a:avLst>
              <a:gd name="adj" fmla="val 7143"/>
            </a:avLst>
          </a:prstGeom>
          <a:solidFill>
            <a:srgbClr val="1C2F4A"/>
          </a:solidFill>
          <a:ln w="12700">
            <a:solidFill>
              <a:srgbClr val="1C2F4A"/>
            </a:solidFill>
            <a:prstDash val="solid"/>
          </a:ln>
        </p:spPr>
      </p:sp>
      <p:sp>
        <p:nvSpPr>
          <p:cNvPr id="13" name="Text 11"/>
          <p:cNvSpPr txBox="1"/>
          <p:nvPr/>
        </p:nvSpPr>
        <p:spPr>
          <a:xfrm>
            <a:off x="7452360" y="1554480"/>
            <a:ext cx="1810512" cy="12801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SQLGlot AST</a:t>
            </a:r>
            <a:endParaRPr lang="en-US" sz="1600" dirty="0"/>
          </a:p>
          <a:p>
            <a:pPr algn="ctr" indent="0" marL="0">
              <a:buNone/>
            </a:pPr>
            <a:r>
              <a:rPr lang="en-US" sz="1100" dirty="0">
                <a:solidFill>
                  <a:srgbClr val="FFFFFF"/>
                </a:solidFill>
                <a:latin typeface="Calibri" pitchFamily="34" charset="0"/>
                <a:ea typeface="Calibri" pitchFamily="34" charset="-122"/>
                <a:cs typeface="Calibri" pitchFamily="34" charset="-120"/>
              </a:rPr>
              <a:t>canonical, engine-neutral</a:t>
            </a:r>
            <a:endParaRPr lang="en-US" sz="1600" dirty="0"/>
          </a:p>
        </p:txBody>
      </p:sp>
      <p:sp>
        <p:nvSpPr>
          <p:cNvPr id="14" name="Shape 12"/>
          <p:cNvSpPr/>
          <p:nvPr/>
        </p:nvSpPr>
        <p:spPr>
          <a:xfrm>
            <a:off x="9390888" y="2075688"/>
            <a:ext cx="210312" cy="237744"/>
          </a:xfrm>
          <a:prstGeom prst="rightArrow">
            <a:avLst/>
          </a:prstGeom>
          <a:solidFill>
            <a:srgbClr val="F2A541"/>
          </a:solidFill>
          <a:ln w="12700">
            <a:solidFill>
              <a:srgbClr val="F2A541"/>
            </a:solidFill>
            <a:prstDash val="solid"/>
          </a:ln>
        </p:spPr>
      </p:sp>
      <p:sp>
        <p:nvSpPr>
          <p:cNvPr id="15" name="Shape 13"/>
          <p:cNvSpPr/>
          <p:nvPr/>
        </p:nvSpPr>
        <p:spPr>
          <a:xfrm>
            <a:off x="9656064" y="1554480"/>
            <a:ext cx="1956816" cy="1280160"/>
          </a:xfrm>
          <a:prstGeom prst="roundRect">
            <a:avLst>
              <a:gd name="adj" fmla="val 7143"/>
            </a:avLst>
          </a:prstGeom>
          <a:solidFill>
            <a:srgbClr val="1C2F4A"/>
          </a:solidFill>
          <a:ln w="12700">
            <a:solidFill>
              <a:srgbClr val="1C2F4A"/>
            </a:solidFill>
            <a:prstDash val="solid"/>
          </a:ln>
        </p:spPr>
      </p:sp>
      <p:sp>
        <p:nvSpPr>
          <p:cNvPr id="16" name="Text 14"/>
          <p:cNvSpPr txBox="1"/>
          <p:nvPr/>
        </p:nvSpPr>
        <p:spPr>
          <a:xfrm>
            <a:off x="9729216" y="1554480"/>
            <a:ext cx="1810512" cy="12801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Impala SQL</a:t>
            </a:r>
            <a:endParaRPr lang="en-US" sz="1600" dirty="0"/>
          </a:p>
          <a:p>
            <a:pPr algn="ctr" indent="0" marL="0">
              <a:buNone/>
            </a:pPr>
            <a:r>
              <a:rPr lang="en-US" sz="1100" dirty="0">
                <a:solidFill>
                  <a:srgbClr val="FFFFFF"/>
                </a:solidFill>
                <a:latin typeface="Calibri" pitchFamily="34" charset="0"/>
                <a:ea typeface="Calibri" pitchFamily="34" charset="-122"/>
                <a:cs typeface="Calibri" pitchFamily="34" charset="-120"/>
              </a:rPr>
              <a:t>dialect + Impala fixes</a:t>
            </a:r>
            <a:endParaRPr lang="en-US" sz="1600" dirty="0"/>
          </a:p>
        </p:txBody>
      </p:sp>
      <p:sp>
        <p:nvSpPr>
          <p:cNvPr id="17" name="Text 15"/>
          <p:cNvSpPr txBox="1"/>
          <p:nvPr/>
        </p:nvSpPr>
        <p:spPr>
          <a:xfrm>
            <a:off x="548640" y="3200400"/>
            <a:ext cx="11064240" cy="27432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Filter values are type-checked against the Ossie datatype</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Operators: =, !=, &gt;, &gt;=, &lt;, &lt;=, in, not in, between, like, is (not) null</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Aggregates: sum, avg, min, max, count, count_distinct</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v1: the requested metrics must share one fact table (cross-fact requests come later)</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Adding an engine means one adapter: connect, execute, fetch query history, name the dialect</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E1A2B"/>
        </a:solidFill>
      </p:bgPr>
    </p:bg>
    <p:spTree>
      <p:nvGrpSpPr>
        <p:cNvPr id="1" name=""/>
        <p:cNvGrpSpPr/>
        <p:nvPr/>
      </p:nvGrpSpPr>
      <p:grpSpPr>
        <a:xfrm>
          <a:off x="0" y="0"/>
          <a:ext cx="0" cy="0"/>
          <a:chOff x="0" y="0"/>
          <a:chExt cx="0" cy="0"/>
        </a:xfrm>
      </p:grpSpPr>
      <p:sp>
        <p:nvSpPr>
          <p:cNvPr id="2" name="Shape 0"/>
          <p:cNvSpPr/>
          <p:nvPr/>
        </p:nvSpPr>
        <p:spPr>
          <a:xfrm>
            <a:off x="8412480" y="1097280"/>
            <a:ext cx="4754880" cy="4754880"/>
          </a:xfrm>
          <a:prstGeom prst="ellipse">
            <a:avLst/>
          </a:prstGeom>
          <a:solidFill>
            <a:srgbClr val="1C2F4A"/>
          </a:solidFill>
          <a:ln w="12700">
            <a:solidFill>
              <a:srgbClr val="1C2F4A"/>
            </a:solidFill>
            <a:prstDash val="solid"/>
          </a:ln>
        </p:spPr>
      </p:sp>
      <p:sp>
        <p:nvSpPr>
          <p:cNvPr id="3" name="Shape 1"/>
          <p:cNvSpPr/>
          <p:nvPr/>
        </p:nvSpPr>
        <p:spPr>
          <a:xfrm>
            <a:off x="9966960" y="2651760"/>
            <a:ext cx="1645920" cy="1645920"/>
          </a:xfrm>
          <a:prstGeom prst="ellipse">
            <a:avLst/>
          </a:prstGeom>
          <a:solidFill>
            <a:srgbClr val="F2A541"/>
          </a:solidFill>
          <a:ln w="12700">
            <a:solidFill>
              <a:srgbClr val="F2A541"/>
            </a:solidFill>
            <a:prstDash val="solid"/>
          </a:ln>
        </p:spPr>
      </p:sp>
      <p:pic>
        <p:nvPicPr>
          <p:cNvPr id="4" name="Image 0" descr="preencoded.png">    </p:cNvPr>
          <p:cNvPicPr>
            <a:picLocks noChangeAspect="1"/>
          </p:cNvPicPr>
          <p:nvPr/>
        </p:nvPicPr>
        <p:blipFill>
          <a:blip r:embed="rId1"/>
          <a:stretch>
            <a:fillRect/>
          </a:stretch>
        </p:blipFill>
        <p:spPr>
          <a:xfrm>
            <a:off x="10361981" y="3046781"/>
            <a:ext cx="855878" cy="855878"/>
          </a:xfrm>
          <a:prstGeom prst="rect">
            <a:avLst/>
          </a:prstGeom>
        </p:spPr>
      </p:pic>
      <p:sp>
        <p:nvSpPr>
          <p:cNvPr id="5" name="Text 2"/>
          <p:cNvSpPr txBox="1"/>
          <p:nvPr/>
        </p:nvSpPr>
        <p:spPr>
          <a:xfrm>
            <a:off x="731520" y="2011680"/>
            <a:ext cx="6858000" cy="365760"/>
          </a:xfrm>
          <a:prstGeom prst="rect">
            <a:avLst/>
          </a:prstGeom>
          <a:noFill/>
          <a:ln/>
        </p:spPr>
        <p:txBody>
          <a:bodyPr wrap="square" lIns="0" tIns="0" rIns="0" bIns="0" rtlCol="0" anchor="ctr"/>
          <a:lstStyle/>
          <a:p>
            <a:pPr indent="0" marL="0">
              <a:buNone/>
            </a:pPr>
            <a:r>
              <a:rPr lang="en-US" sz="1400" b="1" spc="300" kern="0" dirty="0">
                <a:solidFill>
                  <a:srgbClr val="F2A541"/>
                </a:solidFill>
                <a:latin typeface="Calibri" pitchFamily="34" charset="0"/>
                <a:ea typeface="Calibri" pitchFamily="34" charset="-122"/>
                <a:cs typeface="Calibri" pitchFamily="34" charset="-120"/>
              </a:rPr>
              <a:t>PART 4 OF 6</a:t>
            </a:r>
            <a:endParaRPr lang="en-US" sz="1400" dirty="0"/>
          </a:p>
        </p:txBody>
      </p:sp>
      <p:sp>
        <p:nvSpPr>
          <p:cNvPr id="6" name="Text 3"/>
          <p:cNvSpPr txBox="1"/>
          <p:nvPr/>
        </p:nvSpPr>
        <p:spPr>
          <a:xfrm>
            <a:off x="731520" y="2468880"/>
            <a:ext cx="7498080" cy="118872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Talk to your data</a:t>
            </a:r>
            <a:endParaRPr lang="en-US" sz="4400" dirty="0"/>
          </a:p>
        </p:txBody>
      </p:sp>
      <p:sp>
        <p:nvSpPr>
          <p:cNvPr id="7" name="Text 4"/>
          <p:cNvSpPr txBox="1"/>
          <p:nvPr/>
        </p:nvSpPr>
        <p:spPr>
          <a:xfrm>
            <a:off x="731520" y="3749040"/>
            <a:ext cx="6949440" cy="1097280"/>
          </a:xfrm>
          <a:prstGeom prst="rect">
            <a:avLst/>
          </a:prstGeom>
          <a:noFill/>
          <a:ln/>
        </p:spPr>
        <p:txBody>
          <a:bodyPr wrap="square" lIns="0" tIns="0" rIns="0" bIns="0" rtlCol="0" anchor="t"/>
          <a:lstStyle/>
          <a:p>
            <a:pPr indent="0" marL="0">
              <a:buNone/>
            </a:pPr>
            <a:r>
              <a:rPr lang="en-US" sz="1800" dirty="0">
                <a:solidFill>
                  <a:srgbClr val="C9D3E0"/>
                </a:solidFill>
                <a:latin typeface="Calibri" pitchFamily="34" charset="0"/>
                <a:ea typeface="Calibri" pitchFamily="34" charset="-122"/>
                <a:cs typeface="Calibri" pitchFamily="34" charset="-120"/>
              </a:rPr>
              <a:t>Agents answer through governed MCP tools against the published model, never by writing raw SQL.</a:t>
            </a:r>
            <a:endParaRPr lang="en-US"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2900" b="1" dirty="0">
                <a:solidFill>
                  <a:srgbClr val="0E1A2B"/>
                </a:solidFill>
                <a:latin typeface="Cambria" pitchFamily="34" charset="0"/>
                <a:ea typeface="Cambria" pitchFamily="34" charset="-122"/>
                <a:cs typeface="Cambria" pitchFamily="34" charset="-120"/>
              </a:rPr>
              <a:t>The Helios MCP server: seven governed tools</a:t>
            </a:r>
            <a:endParaRPr lang="en-US" sz="2900" dirty="0"/>
          </a:p>
        </p:txBody>
      </p:sp>
      <p:sp>
        <p:nvSpPr>
          <p:cNvPr id="3" name="Shape 1"/>
          <p:cNvSpPr/>
          <p:nvPr/>
        </p:nvSpPr>
        <p:spPr>
          <a:xfrm>
            <a:off x="548640" y="1371600"/>
            <a:ext cx="6583680" cy="566928"/>
          </a:xfrm>
          <a:prstGeom prst="roundRect">
            <a:avLst>
              <a:gd name="adj" fmla="val 12903"/>
            </a:avLst>
          </a:prstGeom>
          <a:solidFill>
            <a:srgbClr val="F4F6F9"/>
          </a:solidFill>
          <a:ln w="12700">
            <a:solidFill>
              <a:srgbClr val="F4F6F9"/>
            </a:solidFill>
            <a:prstDash val="solid"/>
          </a:ln>
        </p:spPr>
      </p:sp>
      <p:sp>
        <p:nvSpPr>
          <p:cNvPr id="4" name="Text 2"/>
          <p:cNvSpPr txBox="1"/>
          <p:nvPr/>
        </p:nvSpPr>
        <p:spPr>
          <a:xfrm>
            <a:off x="777240" y="1371600"/>
            <a:ext cx="2286000" cy="566928"/>
          </a:xfrm>
          <a:prstGeom prst="rect">
            <a:avLst/>
          </a:prstGeom>
          <a:noFill/>
          <a:ln/>
        </p:spPr>
        <p:txBody>
          <a:bodyPr wrap="square" lIns="0" tIns="0" rIns="0" bIns="0" rtlCol="0" anchor="ctr"/>
          <a:lstStyle/>
          <a:p>
            <a:pPr algn="l" indent="0" marL="0">
              <a:spcAft>
                <a:spcPts val="400"/>
              </a:spcAft>
              <a:buNone/>
            </a:pPr>
            <a:r>
              <a:rPr lang="en-US" sz="1500" b="1" dirty="0">
                <a:solidFill>
                  <a:srgbClr val="0E1A2B"/>
                </a:solidFill>
                <a:latin typeface="Calibri" pitchFamily="34" charset="0"/>
                <a:ea typeface="Calibri" pitchFamily="34" charset="-122"/>
                <a:cs typeface="Calibri" pitchFamily="34" charset="-120"/>
              </a:rPr>
              <a:t>list_models</a:t>
            </a:r>
            <a:endParaRPr lang="en-US" sz="1500" dirty="0"/>
          </a:p>
        </p:txBody>
      </p:sp>
      <p:sp>
        <p:nvSpPr>
          <p:cNvPr id="5" name="Text 3"/>
          <p:cNvSpPr txBox="1"/>
          <p:nvPr/>
        </p:nvSpPr>
        <p:spPr>
          <a:xfrm>
            <a:off x="3108960" y="1371600"/>
            <a:ext cx="3931920" cy="566928"/>
          </a:xfrm>
          <a:prstGeom prst="rect">
            <a:avLst/>
          </a:prstGeom>
          <a:noFill/>
          <a:ln/>
        </p:spPr>
        <p:txBody>
          <a:bodyPr wrap="square" lIns="0" tIns="0" rIns="0" bIns="0" rtlCol="0" anchor="ctr"/>
          <a:lstStyle/>
          <a:p>
            <a:pPr algn="l" indent="0" marL="0">
              <a:spcAft>
                <a:spcPts val="400"/>
              </a:spcAft>
              <a:buNone/>
            </a:pPr>
            <a:r>
              <a:rPr lang="en-US" sz="1400" dirty="0">
                <a:solidFill>
                  <a:srgbClr val="1F2937"/>
                </a:solidFill>
                <a:latin typeface="Calibri" pitchFamily="34" charset="0"/>
                <a:ea typeface="Calibri" pitchFamily="34" charset="-122"/>
                <a:cs typeface="Calibri" pitchFamily="34" charset="-120"/>
              </a:rPr>
              <a:t>Models this principal is granted</a:t>
            </a:r>
            <a:endParaRPr lang="en-US" sz="1400" dirty="0"/>
          </a:p>
        </p:txBody>
      </p:sp>
      <p:sp>
        <p:nvSpPr>
          <p:cNvPr id="6" name="Shape 4"/>
          <p:cNvSpPr/>
          <p:nvPr/>
        </p:nvSpPr>
        <p:spPr>
          <a:xfrm>
            <a:off x="548640" y="2029968"/>
            <a:ext cx="6583680" cy="566928"/>
          </a:xfrm>
          <a:prstGeom prst="roundRect">
            <a:avLst>
              <a:gd name="adj" fmla="val 12903"/>
            </a:avLst>
          </a:prstGeom>
          <a:solidFill>
            <a:srgbClr val="FFFFFF"/>
          </a:solidFill>
          <a:ln w="12700">
            <a:solidFill>
              <a:srgbClr val="FFFFFF"/>
            </a:solidFill>
            <a:prstDash val="solid"/>
          </a:ln>
        </p:spPr>
      </p:sp>
      <p:sp>
        <p:nvSpPr>
          <p:cNvPr id="7" name="Text 5"/>
          <p:cNvSpPr txBox="1"/>
          <p:nvPr/>
        </p:nvSpPr>
        <p:spPr>
          <a:xfrm>
            <a:off x="777240" y="2029968"/>
            <a:ext cx="2286000" cy="566928"/>
          </a:xfrm>
          <a:prstGeom prst="rect">
            <a:avLst/>
          </a:prstGeom>
          <a:noFill/>
          <a:ln/>
        </p:spPr>
        <p:txBody>
          <a:bodyPr wrap="square" lIns="0" tIns="0" rIns="0" bIns="0" rtlCol="0" anchor="ctr"/>
          <a:lstStyle/>
          <a:p>
            <a:pPr algn="l" indent="0" marL="0">
              <a:spcAft>
                <a:spcPts val="400"/>
              </a:spcAft>
              <a:buNone/>
            </a:pPr>
            <a:r>
              <a:rPr lang="en-US" sz="1500" b="1" dirty="0">
                <a:solidFill>
                  <a:srgbClr val="0E1A2B"/>
                </a:solidFill>
                <a:latin typeface="Calibri" pitchFamily="34" charset="0"/>
                <a:ea typeface="Calibri" pitchFamily="34" charset="-122"/>
                <a:cs typeface="Calibri" pitchFamily="34" charset="-120"/>
              </a:rPr>
              <a:t>describe_model</a:t>
            </a:r>
            <a:endParaRPr lang="en-US" sz="1500" dirty="0"/>
          </a:p>
        </p:txBody>
      </p:sp>
      <p:sp>
        <p:nvSpPr>
          <p:cNvPr id="8" name="Text 6"/>
          <p:cNvSpPr txBox="1"/>
          <p:nvPr/>
        </p:nvSpPr>
        <p:spPr>
          <a:xfrm>
            <a:off x="3108960" y="2029968"/>
            <a:ext cx="3931920" cy="566928"/>
          </a:xfrm>
          <a:prstGeom prst="rect">
            <a:avLst/>
          </a:prstGeom>
          <a:noFill/>
          <a:ln/>
        </p:spPr>
        <p:txBody>
          <a:bodyPr wrap="square" lIns="0" tIns="0" rIns="0" bIns="0" rtlCol="0" anchor="ctr"/>
          <a:lstStyle/>
          <a:p>
            <a:pPr algn="l" indent="0" marL="0">
              <a:spcAft>
                <a:spcPts val="400"/>
              </a:spcAft>
              <a:buNone/>
            </a:pPr>
            <a:r>
              <a:rPr lang="en-US" sz="1400" dirty="0">
                <a:solidFill>
                  <a:srgbClr val="1F2937"/>
                </a:solidFill>
                <a:latin typeface="Calibri" pitchFamily="34" charset="0"/>
                <a:ea typeface="Calibri" pitchFamily="34" charset="-122"/>
                <a:cs typeface="Calibri" pitchFamily="34" charset="-120"/>
              </a:rPr>
              <a:t>Datasets, fields, metrics, relationships</a:t>
            </a:r>
            <a:endParaRPr lang="en-US" sz="1400" dirty="0"/>
          </a:p>
        </p:txBody>
      </p:sp>
      <p:sp>
        <p:nvSpPr>
          <p:cNvPr id="9" name="Shape 7"/>
          <p:cNvSpPr/>
          <p:nvPr/>
        </p:nvSpPr>
        <p:spPr>
          <a:xfrm>
            <a:off x="548640" y="2688336"/>
            <a:ext cx="6583680" cy="566928"/>
          </a:xfrm>
          <a:prstGeom prst="roundRect">
            <a:avLst>
              <a:gd name="adj" fmla="val 12903"/>
            </a:avLst>
          </a:prstGeom>
          <a:solidFill>
            <a:srgbClr val="F4F6F9"/>
          </a:solidFill>
          <a:ln w="12700">
            <a:solidFill>
              <a:srgbClr val="F4F6F9"/>
            </a:solidFill>
            <a:prstDash val="solid"/>
          </a:ln>
        </p:spPr>
      </p:sp>
      <p:sp>
        <p:nvSpPr>
          <p:cNvPr id="10" name="Text 8"/>
          <p:cNvSpPr txBox="1"/>
          <p:nvPr/>
        </p:nvSpPr>
        <p:spPr>
          <a:xfrm>
            <a:off x="777240" y="2688336"/>
            <a:ext cx="2286000" cy="566928"/>
          </a:xfrm>
          <a:prstGeom prst="rect">
            <a:avLst/>
          </a:prstGeom>
          <a:noFill/>
          <a:ln/>
        </p:spPr>
        <p:txBody>
          <a:bodyPr wrap="square" lIns="0" tIns="0" rIns="0" bIns="0" rtlCol="0" anchor="ctr"/>
          <a:lstStyle/>
          <a:p>
            <a:pPr algn="l" indent="0" marL="0">
              <a:spcAft>
                <a:spcPts val="400"/>
              </a:spcAft>
              <a:buNone/>
            </a:pPr>
            <a:r>
              <a:rPr lang="en-US" sz="1500" b="1" dirty="0">
                <a:solidFill>
                  <a:srgbClr val="0E1A2B"/>
                </a:solidFill>
                <a:latin typeface="Calibri" pitchFamily="34" charset="0"/>
                <a:ea typeface="Calibri" pitchFamily="34" charset="-122"/>
                <a:cs typeface="Calibri" pitchFamily="34" charset="-120"/>
              </a:rPr>
              <a:t>search_semantics</a:t>
            </a:r>
            <a:endParaRPr lang="en-US" sz="1500" dirty="0"/>
          </a:p>
        </p:txBody>
      </p:sp>
      <p:sp>
        <p:nvSpPr>
          <p:cNvPr id="11" name="Text 9"/>
          <p:cNvSpPr txBox="1"/>
          <p:nvPr/>
        </p:nvSpPr>
        <p:spPr>
          <a:xfrm>
            <a:off x="3108960" y="2688336"/>
            <a:ext cx="3931920" cy="566928"/>
          </a:xfrm>
          <a:prstGeom prst="rect">
            <a:avLst/>
          </a:prstGeom>
          <a:noFill/>
          <a:ln/>
        </p:spPr>
        <p:txBody>
          <a:bodyPr wrap="square" lIns="0" tIns="0" rIns="0" bIns="0" rtlCol="0" anchor="ctr"/>
          <a:lstStyle/>
          <a:p>
            <a:pPr algn="l" indent="0" marL="0">
              <a:spcAft>
                <a:spcPts val="400"/>
              </a:spcAft>
              <a:buNone/>
            </a:pPr>
            <a:r>
              <a:rPr lang="en-US" sz="1400" dirty="0">
                <a:solidFill>
                  <a:srgbClr val="1F2937"/>
                </a:solidFill>
                <a:latin typeface="Calibri" pitchFamily="34" charset="0"/>
                <a:ea typeface="Calibri" pitchFamily="34" charset="-122"/>
                <a:cs typeface="Calibri" pitchFamily="34" charset="-120"/>
              </a:rPr>
              <a:t>Natural language → matching metrics and fields</a:t>
            </a:r>
            <a:endParaRPr lang="en-US" sz="1400" dirty="0"/>
          </a:p>
        </p:txBody>
      </p:sp>
      <p:sp>
        <p:nvSpPr>
          <p:cNvPr id="12" name="Shape 10"/>
          <p:cNvSpPr/>
          <p:nvPr/>
        </p:nvSpPr>
        <p:spPr>
          <a:xfrm>
            <a:off x="548640" y="3346704"/>
            <a:ext cx="6583680" cy="566928"/>
          </a:xfrm>
          <a:prstGeom prst="roundRect">
            <a:avLst>
              <a:gd name="adj" fmla="val 12903"/>
            </a:avLst>
          </a:prstGeom>
          <a:solidFill>
            <a:srgbClr val="FFFFFF"/>
          </a:solidFill>
          <a:ln w="12700">
            <a:solidFill>
              <a:srgbClr val="FFFFFF"/>
            </a:solidFill>
            <a:prstDash val="solid"/>
          </a:ln>
        </p:spPr>
      </p:sp>
      <p:sp>
        <p:nvSpPr>
          <p:cNvPr id="13" name="Text 11"/>
          <p:cNvSpPr txBox="1"/>
          <p:nvPr/>
        </p:nvSpPr>
        <p:spPr>
          <a:xfrm>
            <a:off x="777240" y="3346704"/>
            <a:ext cx="2286000" cy="566928"/>
          </a:xfrm>
          <a:prstGeom prst="rect">
            <a:avLst/>
          </a:prstGeom>
          <a:noFill/>
          <a:ln/>
        </p:spPr>
        <p:txBody>
          <a:bodyPr wrap="square" lIns="0" tIns="0" rIns="0" bIns="0" rtlCol="0" anchor="ctr"/>
          <a:lstStyle/>
          <a:p>
            <a:pPr algn="l" indent="0" marL="0">
              <a:spcAft>
                <a:spcPts val="400"/>
              </a:spcAft>
              <a:buNone/>
            </a:pPr>
            <a:r>
              <a:rPr lang="en-US" sz="1500" b="1" dirty="0">
                <a:solidFill>
                  <a:srgbClr val="0E1A2B"/>
                </a:solidFill>
                <a:latin typeface="Calibri" pitchFamily="34" charset="0"/>
                <a:ea typeface="Calibri" pitchFamily="34" charset="-122"/>
                <a:cs typeface="Calibri" pitchFamily="34" charset="-120"/>
              </a:rPr>
              <a:t>describe</a:t>
            </a:r>
            <a:endParaRPr lang="en-US" sz="1500" dirty="0"/>
          </a:p>
        </p:txBody>
      </p:sp>
      <p:sp>
        <p:nvSpPr>
          <p:cNvPr id="14" name="Text 12"/>
          <p:cNvSpPr txBox="1"/>
          <p:nvPr/>
        </p:nvSpPr>
        <p:spPr>
          <a:xfrm>
            <a:off x="3108960" y="3346704"/>
            <a:ext cx="3931920" cy="566928"/>
          </a:xfrm>
          <a:prstGeom prst="rect">
            <a:avLst/>
          </a:prstGeom>
          <a:noFill/>
          <a:ln/>
        </p:spPr>
        <p:txBody>
          <a:bodyPr wrap="square" lIns="0" tIns="0" rIns="0" bIns="0" rtlCol="0" anchor="ctr"/>
          <a:lstStyle/>
          <a:p>
            <a:pPr algn="l" indent="0" marL="0">
              <a:spcAft>
                <a:spcPts val="400"/>
              </a:spcAft>
              <a:buNone/>
            </a:pPr>
            <a:r>
              <a:rPr lang="en-US" sz="1400" dirty="0">
                <a:solidFill>
                  <a:srgbClr val="1F2937"/>
                </a:solidFill>
                <a:latin typeface="Calibri" pitchFamily="34" charset="0"/>
                <a:ea typeface="Calibri" pitchFamily="34" charset="-122"/>
                <a:cs typeface="Calibri" pitchFamily="34" charset="-120"/>
              </a:rPr>
              <a:t>One dataset, field, metric or glossary term</a:t>
            </a:r>
            <a:endParaRPr lang="en-US" sz="1400" dirty="0"/>
          </a:p>
        </p:txBody>
      </p:sp>
      <p:sp>
        <p:nvSpPr>
          <p:cNvPr id="15" name="Shape 13"/>
          <p:cNvSpPr/>
          <p:nvPr/>
        </p:nvSpPr>
        <p:spPr>
          <a:xfrm>
            <a:off x="548640" y="4005072"/>
            <a:ext cx="6583680" cy="566928"/>
          </a:xfrm>
          <a:prstGeom prst="roundRect">
            <a:avLst>
              <a:gd name="adj" fmla="val 12903"/>
            </a:avLst>
          </a:prstGeom>
          <a:solidFill>
            <a:srgbClr val="F4F6F9"/>
          </a:solidFill>
          <a:ln w="12700">
            <a:solidFill>
              <a:srgbClr val="F4F6F9"/>
            </a:solidFill>
            <a:prstDash val="solid"/>
          </a:ln>
        </p:spPr>
      </p:sp>
      <p:sp>
        <p:nvSpPr>
          <p:cNvPr id="16" name="Text 14"/>
          <p:cNvSpPr txBox="1"/>
          <p:nvPr/>
        </p:nvSpPr>
        <p:spPr>
          <a:xfrm>
            <a:off x="777240" y="4005072"/>
            <a:ext cx="2286000" cy="566928"/>
          </a:xfrm>
          <a:prstGeom prst="rect">
            <a:avLst/>
          </a:prstGeom>
          <a:noFill/>
          <a:ln/>
        </p:spPr>
        <p:txBody>
          <a:bodyPr wrap="square" lIns="0" tIns="0" rIns="0" bIns="0" rtlCol="0" anchor="ctr"/>
          <a:lstStyle/>
          <a:p>
            <a:pPr algn="l" indent="0" marL="0">
              <a:spcAft>
                <a:spcPts val="400"/>
              </a:spcAft>
              <a:buNone/>
            </a:pPr>
            <a:r>
              <a:rPr lang="en-US" sz="1500" b="1" dirty="0">
                <a:solidFill>
                  <a:srgbClr val="0E1A2B"/>
                </a:solidFill>
                <a:latin typeface="Calibri" pitchFamily="34" charset="0"/>
                <a:ea typeface="Calibri" pitchFamily="34" charset="-122"/>
                <a:cs typeface="Calibri" pitchFamily="34" charset="-120"/>
              </a:rPr>
              <a:t>compile_query</a:t>
            </a:r>
            <a:endParaRPr lang="en-US" sz="1500" dirty="0"/>
          </a:p>
        </p:txBody>
      </p:sp>
      <p:sp>
        <p:nvSpPr>
          <p:cNvPr id="17" name="Text 15"/>
          <p:cNvSpPr txBox="1"/>
          <p:nvPr/>
        </p:nvSpPr>
        <p:spPr>
          <a:xfrm>
            <a:off x="3108960" y="4005072"/>
            <a:ext cx="3931920" cy="566928"/>
          </a:xfrm>
          <a:prstGeom prst="rect">
            <a:avLst/>
          </a:prstGeom>
          <a:noFill/>
          <a:ln/>
        </p:spPr>
        <p:txBody>
          <a:bodyPr wrap="square" lIns="0" tIns="0" rIns="0" bIns="0" rtlCol="0" anchor="ctr"/>
          <a:lstStyle/>
          <a:p>
            <a:pPr algn="l" indent="0" marL="0">
              <a:spcAft>
                <a:spcPts val="400"/>
              </a:spcAft>
              <a:buNone/>
            </a:pPr>
            <a:r>
              <a:rPr lang="en-US" sz="1400" dirty="0">
                <a:solidFill>
                  <a:srgbClr val="1F2937"/>
                </a:solidFill>
                <a:latin typeface="Calibri" pitchFamily="34" charset="0"/>
                <a:ea typeface="Calibri" pitchFamily="34" charset="-122"/>
                <a:cs typeface="Calibri" pitchFamily="34" charset="-120"/>
              </a:rPr>
              <a:t>Semantic request → SQL (query.compile)</a:t>
            </a:r>
            <a:endParaRPr lang="en-US" sz="1400" dirty="0"/>
          </a:p>
        </p:txBody>
      </p:sp>
      <p:sp>
        <p:nvSpPr>
          <p:cNvPr id="18" name="Shape 16"/>
          <p:cNvSpPr/>
          <p:nvPr/>
        </p:nvSpPr>
        <p:spPr>
          <a:xfrm>
            <a:off x="548640" y="4663440"/>
            <a:ext cx="6583680" cy="566928"/>
          </a:xfrm>
          <a:prstGeom prst="roundRect">
            <a:avLst>
              <a:gd name="adj" fmla="val 12903"/>
            </a:avLst>
          </a:prstGeom>
          <a:solidFill>
            <a:srgbClr val="FFFFFF"/>
          </a:solidFill>
          <a:ln w="12700">
            <a:solidFill>
              <a:srgbClr val="FFFFFF"/>
            </a:solidFill>
            <a:prstDash val="solid"/>
          </a:ln>
        </p:spPr>
      </p:sp>
      <p:sp>
        <p:nvSpPr>
          <p:cNvPr id="19" name="Text 17"/>
          <p:cNvSpPr txBox="1"/>
          <p:nvPr/>
        </p:nvSpPr>
        <p:spPr>
          <a:xfrm>
            <a:off x="777240" y="4663440"/>
            <a:ext cx="2286000" cy="566928"/>
          </a:xfrm>
          <a:prstGeom prst="rect">
            <a:avLst/>
          </a:prstGeom>
          <a:noFill/>
          <a:ln/>
        </p:spPr>
        <p:txBody>
          <a:bodyPr wrap="square" lIns="0" tIns="0" rIns="0" bIns="0" rtlCol="0" anchor="ctr"/>
          <a:lstStyle/>
          <a:p>
            <a:pPr algn="l" indent="0" marL="0">
              <a:spcAft>
                <a:spcPts val="400"/>
              </a:spcAft>
              <a:buNone/>
            </a:pPr>
            <a:r>
              <a:rPr lang="en-US" sz="1500" b="1" dirty="0">
                <a:solidFill>
                  <a:srgbClr val="0E1A2B"/>
                </a:solidFill>
                <a:latin typeface="Calibri" pitchFamily="34" charset="0"/>
                <a:ea typeface="Calibri" pitchFamily="34" charset="-122"/>
                <a:cs typeface="Calibri" pitchFamily="34" charset="-120"/>
              </a:rPr>
              <a:t>run_query</a:t>
            </a:r>
            <a:endParaRPr lang="en-US" sz="1500" dirty="0"/>
          </a:p>
        </p:txBody>
      </p:sp>
      <p:sp>
        <p:nvSpPr>
          <p:cNvPr id="20" name="Text 18"/>
          <p:cNvSpPr txBox="1"/>
          <p:nvPr/>
        </p:nvSpPr>
        <p:spPr>
          <a:xfrm>
            <a:off x="3108960" y="4663440"/>
            <a:ext cx="3931920" cy="566928"/>
          </a:xfrm>
          <a:prstGeom prst="rect">
            <a:avLst/>
          </a:prstGeom>
          <a:noFill/>
          <a:ln/>
        </p:spPr>
        <p:txBody>
          <a:bodyPr wrap="square" lIns="0" tIns="0" rIns="0" bIns="0" rtlCol="0" anchor="ctr"/>
          <a:lstStyle/>
          <a:p>
            <a:pPr algn="l" indent="0" marL="0">
              <a:spcAft>
                <a:spcPts val="400"/>
              </a:spcAft>
              <a:buNone/>
            </a:pPr>
            <a:r>
              <a:rPr lang="en-US" sz="1400" dirty="0">
                <a:solidFill>
                  <a:srgbClr val="1F2937"/>
                </a:solidFill>
                <a:latin typeface="Calibri" pitchFamily="34" charset="0"/>
                <a:ea typeface="Calibri" pitchFamily="34" charset="-122"/>
                <a:cs typeface="Calibri" pitchFamily="34" charset="-120"/>
              </a:rPr>
              <a:t>Execute a semantic request; ≤1,000 rows; never raw SQL</a:t>
            </a:r>
            <a:endParaRPr lang="en-US" sz="1400" dirty="0"/>
          </a:p>
        </p:txBody>
      </p:sp>
      <p:sp>
        <p:nvSpPr>
          <p:cNvPr id="21" name="Shape 19"/>
          <p:cNvSpPr/>
          <p:nvPr/>
        </p:nvSpPr>
        <p:spPr>
          <a:xfrm>
            <a:off x="548640" y="5321808"/>
            <a:ext cx="6583680" cy="566928"/>
          </a:xfrm>
          <a:prstGeom prst="roundRect">
            <a:avLst>
              <a:gd name="adj" fmla="val 12903"/>
            </a:avLst>
          </a:prstGeom>
          <a:solidFill>
            <a:srgbClr val="F4F6F9"/>
          </a:solidFill>
          <a:ln w="12700">
            <a:solidFill>
              <a:srgbClr val="F4F6F9"/>
            </a:solidFill>
            <a:prstDash val="solid"/>
          </a:ln>
        </p:spPr>
      </p:sp>
      <p:sp>
        <p:nvSpPr>
          <p:cNvPr id="22" name="Text 20"/>
          <p:cNvSpPr txBox="1"/>
          <p:nvPr/>
        </p:nvSpPr>
        <p:spPr>
          <a:xfrm>
            <a:off x="777240" y="5321808"/>
            <a:ext cx="2286000" cy="566928"/>
          </a:xfrm>
          <a:prstGeom prst="rect">
            <a:avLst/>
          </a:prstGeom>
          <a:noFill/>
          <a:ln/>
        </p:spPr>
        <p:txBody>
          <a:bodyPr wrap="square" lIns="0" tIns="0" rIns="0" bIns="0" rtlCol="0" anchor="ctr"/>
          <a:lstStyle/>
          <a:p>
            <a:pPr algn="l" indent="0" marL="0">
              <a:spcAft>
                <a:spcPts val="400"/>
              </a:spcAft>
              <a:buNone/>
            </a:pPr>
            <a:r>
              <a:rPr lang="en-US" sz="1500" b="1" dirty="0">
                <a:solidFill>
                  <a:srgbClr val="0E1A2B"/>
                </a:solidFill>
                <a:latin typeface="Calibri" pitchFamily="34" charset="0"/>
                <a:ea typeface="Calibri" pitchFamily="34" charset="-122"/>
                <a:cs typeface="Calibri" pitchFamily="34" charset="-120"/>
              </a:rPr>
              <a:t>explain_lineage</a:t>
            </a:r>
            <a:endParaRPr lang="en-US" sz="1500" dirty="0"/>
          </a:p>
        </p:txBody>
      </p:sp>
      <p:sp>
        <p:nvSpPr>
          <p:cNvPr id="23" name="Text 21"/>
          <p:cNvSpPr txBox="1"/>
          <p:nvPr/>
        </p:nvSpPr>
        <p:spPr>
          <a:xfrm>
            <a:off x="3108960" y="5321808"/>
            <a:ext cx="3931920" cy="566928"/>
          </a:xfrm>
          <a:prstGeom prst="rect">
            <a:avLst/>
          </a:prstGeom>
          <a:noFill/>
          <a:ln/>
        </p:spPr>
        <p:txBody>
          <a:bodyPr wrap="square" lIns="0" tIns="0" rIns="0" bIns="0" rtlCol="0" anchor="ctr"/>
          <a:lstStyle/>
          <a:p>
            <a:pPr algn="l" indent="0" marL="0">
              <a:spcAft>
                <a:spcPts val="400"/>
              </a:spcAft>
              <a:buNone/>
            </a:pPr>
            <a:r>
              <a:rPr lang="en-US" sz="1400" dirty="0">
                <a:solidFill>
                  <a:srgbClr val="1F2937"/>
                </a:solidFill>
                <a:latin typeface="Calibri" pitchFamily="34" charset="0"/>
                <a:ea typeface="Calibri" pitchFamily="34" charset="-122"/>
                <a:cs typeface="Calibri" pitchFamily="34" charset="-120"/>
              </a:rPr>
              <a:t>Atlas lineage for a column (datasource.read)</a:t>
            </a:r>
            <a:endParaRPr lang="en-US" sz="1400" dirty="0"/>
          </a:p>
        </p:txBody>
      </p:sp>
      <p:sp>
        <p:nvSpPr>
          <p:cNvPr id="24" name="Shape 22"/>
          <p:cNvSpPr/>
          <p:nvPr/>
        </p:nvSpPr>
        <p:spPr>
          <a:xfrm>
            <a:off x="7498080" y="1371600"/>
            <a:ext cx="4114800" cy="4526280"/>
          </a:xfrm>
          <a:prstGeom prst="roundRect">
            <a:avLst>
              <a:gd name="adj" fmla="val 1778"/>
            </a:avLst>
          </a:prstGeom>
          <a:solidFill>
            <a:srgbClr val="0E1A2B"/>
          </a:solidFill>
          <a:ln w="12700">
            <a:solidFill>
              <a:srgbClr val="0E1A2B"/>
            </a:solidFill>
            <a:prstDash val="solid"/>
          </a:ln>
        </p:spPr>
      </p:sp>
      <p:sp>
        <p:nvSpPr>
          <p:cNvPr id="25" name="Text 23"/>
          <p:cNvSpPr txBox="1"/>
          <p:nvPr/>
        </p:nvSpPr>
        <p:spPr>
          <a:xfrm>
            <a:off x="7772400" y="1554480"/>
            <a:ext cx="3657600" cy="4206240"/>
          </a:xfrm>
          <a:prstGeom prst="rect">
            <a:avLst/>
          </a:prstGeom>
          <a:noFill/>
          <a:ln/>
        </p:spPr>
        <p:txBody>
          <a:bodyPr wrap="square" lIns="0" tIns="0" rIns="0" bIns="0" rtlCol="0" anchor="t"/>
          <a:lstStyle/>
          <a:p>
            <a:pPr indent="0" marL="0">
              <a:spcAft>
                <a:spcPts val="800"/>
              </a:spcAft>
              <a:buNone/>
            </a:pPr>
            <a:r>
              <a:rPr lang="en-US" sz="1800" b="1" dirty="0">
                <a:solidFill>
                  <a:srgbClr val="F2A541"/>
                </a:solidFill>
                <a:latin typeface="Calibri" pitchFamily="34" charset="0"/>
                <a:ea typeface="Calibri" pitchFamily="34" charset="-122"/>
                <a:cs typeface="Calibri" pitchFamily="34" charset="-120"/>
              </a:rPr>
              <a:t>Built for agents</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Streamable HTTP at /mcp (MCP Python SDK)</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Structured errors: {error, message, retryable}</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Same model and compiler as the rest of Helios; no MCP-only SQL path</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Every call authenticated, authorized and audited</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3200" b="1" dirty="0">
                <a:solidFill>
                  <a:srgbClr val="0E1A2B"/>
                </a:solidFill>
                <a:latin typeface="Cambria" pitchFamily="34" charset="0"/>
                <a:ea typeface="Cambria" pitchFamily="34" charset="-122"/>
                <a:cs typeface="Cambria" pitchFamily="34" charset="-120"/>
              </a:rPr>
              <a:t>How a question becomes an answer</a:t>
            </a:r>
            <a:endParaRPr lang="en-US" sz="3200" dirty="0"/>
          </a:p>
        </p:txBody>
      </p:sp>
      <p:sp>
        <p:nvSpPr>
          <p:cNvPr id="3" name="Shape 1"/>
          <p:cNvSpPr/>
          <p:nvPr/>
        </p:nvSpPr>
        <p:spPr>
          <a:xfrm>
            <a:off x="548640" y="1463040"/>
            <a:ext cx="1956816" cy="1737360"/>
          </a:xfrm>
          <a:prstGeom prst="roundRect">
            <a:avLst>
              <a:gd name="adj" fmla="val 5263"/>
            </a:avLst>
          </a:prstGeom>
          <a:solidFill>
            <a:srgbClr val="1C2F4A"/>
          </a:solidFill>
          <a:ln w="12700">
            <a:solidFill>
              <a:srgbClr val="1C2F4A"/>
            </a:solidFill>
            <a:prstDash val="solid"/>
          </a:ln>
        </p:spPr>
      </p:sp>
      <p:sp>
        <p:nvSpPr>
          <p:cNvPr id="4" name="Text 2"/>
          <p:cNvSpPr txBox="1"/>
          <p:nvPr/>
        </p:nvSpPr>
        <p:spPr>
          <a:xfrm>
            <a:off x="621792" y="1463040"/>
            <a:ext cx="1810512" cy="17373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a:p>
            <a:pPr algn="ctr" indent="0" marL="0">
              <a:buNone/>
            </a:pPr>
            <a:r>
              <a:rPr lang="en-US" sz="1500" b="1" dirty="0">
                <a:solidFill>
                  <a:srgbClr val="FFFFFF"/>
                </a:solidFill>
                <a:latin typeface="Calibri" pitchFamily="34" charset="0"/>
                <a:ea typeface="Calibri" pitchFamily="34" charset="-122"/>
                <a:cs typeface="Calibri" pitchFamily="34" charset="-120"/>
              </a:rPr>
              <a:t>Question</a:t>
            </a:r>
            <a:endParaRPr lang="en-US" sz="1100" dirty="0"/>
          </a:p>
          <a:p>
            <a:pPr algn="ctr" indent="0" marL="0">
              <a:buNone/>
            </a:pPr>
            <a:r>
              <a:rPr lang="en-US" sz="1150" dirty="0">
                <a:solidFill>
                  <a:srgbClr val="FFFFFF"/>
                </a:solidFill>
                <a:latin typeface="Calibri" pitchFamily="34" charset="0"/>
                <a:ea typeface="Calibri" pitchFamily="34" charset="-122"/>
                <a:cs typeface="Calibri" pitchFamily="34" charset="-120"/>
              </a:rPr>
              <a:t>"Which customers spent the most in stores last year?"</a:t>
            </a:r>
            <a:endParaRPr lang="en-US" sz="1100" dirty="0"/>
          </a:p>
        </p:txBody>
      </p:sp>
      <p:sp>
        <p:nvSpPr>
          <p:cNvPr id="5" name="Shape 3"/>
          <p:cNvSpPr/>
          <p:nvPr/>
        </p:nvSpPr>
        <p:spPr>
          <a:xfrm>
            <a:off x="2560320" y="2212848"/>
            <a:ext cx="210312" cy="237744"/>
          </a:xfrm>
          <a:prstGeom prst="rightArrow">
            <a:avLst/>
          </a:prstGeom>
          <a:solidFill>
            <a:srgbClr val="F2A541"/>
          </a:solidFill>
          <a:ln w="12700">
            <a:solidFill>
              <a:srgbClr val="F2A541"/>
            </a:solidFill>
            <a:prstDash val="solid"/>
          </a:ln>
        </p:spPr>
      </p:sp>
      <p:sp>
        <p:nvSpPr>
          <p:cNvPr id="6" name="Shape 4"/>
          <p:cNvSpPr/>
          <p:nvPr/>
        </p:nvSpPr>
        <p:spPr>
          <a:xfrm>
            <a:off x="2825496" y="1463040"/>
            <a:ext cx="1956816" cy="1737360"/>
          </a:xfrm>
          <a:prstGeom prst="roundRect">
            <a:avLst>
              <a:gd name="adj" fmla="val 5263"/>
            </a:avLst>
          </a:prstGeom>
          <a:solidFill>
            <a:srgbClr val="1C2F4A"/>
          </a:solidFill>
          <a:ln w="12700">
            <a:solidFill>
              <a:srgbClr val="1C2F4A"/>
            </a:solidFill>
            <a:prstDash val="solid"/>
          </a:ln>
        </p:spPr>
      </p:sp>
      <p:sp>
        <p:nvSpPr>
          <p:cNvPr id="7" name="Text 5"/>
          <p:cNvSpPr txBox="1"/>
          <p:nvPr/>
        </p:nvSpPr>
        <p:spPr>
          <a:xfrm>
            <a:off x="2898648" y="1463040"/>
            <a:ext cx="1810512" cy="17373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a:p>
            <a:pPr algn="ctr" indent="0" marL="0">
              <a:buNone/>
            </a:pPr>
            <a:r>
              <a:rPr lang="en-US" sz="1500" b="1" dirty="0">
                <a:solidFill>
                  <a:srgbClr val="FFFFFF"/>
                </a:solidFill>
                <a:latin typeface="Calibri" pitchFamily="34" charset="0"/>
                <a:ea typeface="Calibri" pitchFamily="34" charset="-122"/>
                <a:cs typeface="Calibri" pitchFamily="34" charset="-120"/>
              </a:rPr>
              <a:t>search_semantics</a:t>
            </a:r>
            <a:endParaRPr lang="en-US" sz="1100" dirty="0"/>
          </a:p>
          <a:p>
            <a:pPr algn="ctr" indent="0" marL="0">
              <a:buNone/>
            </a:pPr>
            <a:r>
              <a:rPr lang="en-US" sz="1150" dirty="0">
                <a:solidFill>
                  <a:srgbClr val="FFFFFF"/>
                </a:solidFill>
                <a:latin typeface="Calibri" pitchFamily="34" charset="0"/>
                <a:ea typeface="Calibri" pitchFamily="34" charset="-122"/>
                <a:cs typeface="Calibri" pitchFamily="34" charset="-120"/>
              </a:rPr>
              <a:t>finds total_net_sales, customer_id</a:t>
            </a:r>
            <a:endParaRPr lang="en-US" sz="1100" dirty="0"/>
          </a:p>
        </p:txBody>
      </p:sp>
      <p:sp>
        <p:nvSpPr>
          <p:cNvPr id="8" name="Shape 6"/>
          <p:cNvSpPr/>
          <p:nvPr/>
        </p:nvSpPr>
        <p:spPr>
          <a:xfrm>
            <a:off x="4837176" y="2212848"/>
            <a:ext cx="210312" cy="237744"/>
          </a:xfrm>
          <a:prstGeom prst="rightArrow">
            <a:avLst/>
          </a:prstGeom>
          <a:solidFill>
            <a:srgbClr val="F2A541"/>
          </a:solidFill>
          <a:ln w="12700">
            <a:solidFill>
              <a:srgbClr val="F2A541"/>
            </a:solidFill>
            <a:prstDash val="solid"/>
          </a:ln>
        </p:spPr>
      </p:sp>
      <p:sp>
        <p:nvSpPr>
          <p:cNvPr id="9" name="Shape 7"/>
          <p:cNvSpPr/>
          <p:nvPr/>
        </p:nvSpPr>
        <p:spPr>
          <a:xfrm>
            <a:off x="5102352" y="1463040"/>
            <a:ext cx="1956816" cy="1737360"/>
          </a:xfrm>
          <a:prstGeom prst="roundRect">
            <a:avLst>
              <a:gd name="adj" fmla="val 5263"/>
            </a:avLst>
          </a:prstGeom>
          <a:solidFill>
            <a:srgbClr val="1C2F4A"/>
          </a:solidFill>
          <a:ln w="12700">
            <a:solidFill>
              <a:srgbClr val="1C2F4A"/>
            </a:solidFill>
            <a:prstDash val="solid"/>
          </a:ln>
        </p:spPr>
      </p:sp>
      <p:sp>
        <p:nvSpPr>
          <p:cNvPr id="10" name="Text 8"/>
          <p:cNvSpPr txBox="1"/>
          <p:nvPr/>
        </p:nvSpPr>
        <p:spPr>
          <a:xfrm>
            <a:off x="5175504" y="1463040"/>
            <a:ext cx="1810512" cy="17373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a:p>
            <a:pPr algn="ctr" indent="0" marL="0">
              <a:buNone/>
            </a:pPr>
            <a:r>
              <a:rPr lang="en-US" sz="1500" b="1" dirty="0">
                <a:solidFill>
                  <a:srgbClr val="FFFFFF"/>
                </a:solidFill>
                <a:latin typeface="Calibri" pitchFamily="34" charset="0"/>
                <a:ea typeface="Calibri" pitchFamily="34" charset="-122"/>
                <a:cs typeface="Calibri" pitchFamily="34" charset="-120"/>
              </a:rPr>
              <a:t>describe</a:t>
            </a:r>
            <a:endParaRPr lang="en-US" sz="1100" dirty="0"/>
          </a:p>
          <a:p>
            <a:pPr algn="ctr" indent="0" marL="0">
              <a:buNone/>
            </a:pPr>
            <a:r>
              <a:rPr lang="en-US" sz="1150" dirty="0">
                <a:solidFill>
                  <a:srgbClr val="FFFFFF"/>
                </a:solidFill>
                <a:latin typeface="Calibri" pitchFamily="34" charset="0"/>
                <a:ea typeface="Calibri" pitchFamily="34" charset="-122"/>
                <a:cs typeface="Calibri" pitchFamily="34" charset="-120"/>
              </a:rPr>
              <a:t>confirms the metric and join</a:t>
            </a:r>
            <a:endParaRPr lang="en-US" sz="1100" dirty="0"/>
          </a:p>
        </p:txBody>
      </p:sp>
      <p:sp>
        <p:nvSpPr>
          <p:cNvPr id="11" name="Shape 9"/>
          <p:cNvSpPr/>
          <p:nvPr/>
        </p:nvSpPr>
        <p:spPr>
          <a:xfrm>
            <a:off x="7114032" y="2212848"/>
            <a:ext cx="210312" cy="237744"/>
          </a:xfrm>
          <a:prstGeom prst="rightArrow">
            <a:avLst/>
          </a:prstGeom>
          <a:solidFill>
            <a:srgbClr val="F2A541"/>
          </a:solidFill>
          <a:ln w="12700">
            <a:solidFill>
              <a:srgbClr val="F2A541"/>
            </a:solidFill>
            <a:prstDash val="solid"/>
          </a:ln>
        </p:spPr>
      </p:sp>
      <p:sp>
        <p:nvSpPr>
          <p:cNvPr id="12" name="Shape 10"/>
          <p:cNvSpPr/>
          <p:nvPr/>
        </p:nvSpPr>
        <p:spPr>
          <a:xfrm>
            <a:off x="7379208" y="1463040"/>
            <a:ext cx="1956816" cy="1737360"/>
          </a:xfrm>
          <a:prstGeom prst="roundRect">
            <a:avLst>
              <a:gd name="adj" fmla="val 5263"/>
            </a:avLst>
          </a:prstGeom>
          <a:solidFill>
            <a:srgbClr val="1C2F4A"/>
          </a:solidFill>
          <a:ln w="12700">
            <a:solidFill>
              <a:srgbClr val="1C2F4A"/>
            </a:solidFill>
            <a:prstDash val="solid"/>
          </a:ln>
        </p:spPr>
      </p:sp>
      <p:sp>
        <p:nvSpPr>
          <p:cNvPr id="13" name="Text 11"/>
          <p:cNvSpPr txBox="1"/>
          <p:nvPr/>
        </p:nvSpPr>
        <p:spPr>
          <a:xfrm>
            <a:off x="7452360" y="1463040"/>
            <a:ext cx="1810512" cy="17373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a:p>
            <a:pPr algn="ctr" indent="0" marL="0">
              <a:buNone/>
            </a:pPr>
            <a:r>
              <a:rPr lang="en-US" sz="1500" b="1" dirty="0">
                <a:solidFill>
                  <a:srgbClr val="FFFFFF"/>
                </a:solidFill>
                <a:latin typeface="Calibri" pitchFamily="34" charset="0"/>
                <a:ea typeface="Calibri" pitchFamily="34" charset="-122"/>
                <a:cs typeface="Calibri" pitchFamily="34" charset="-120"/>
              </a:rPr>
              <a:t>run_query</a:t>
            </a:r>
            <a:endParaRPr lang="en-US" sz="1100" dirty="0"/>
          </a:p>
          <a:p>
            <a:pPr algn="ctr" indent="0" marL="0">
              <a:buNone/>
            </a:pPr>
            <a:r>
              <a:rPr lang="en-US" sz="1150" dirty="0">
                <a:solidFill>
                  <a:srgbClr val="FFFFFF"/>
                </a:solidFill>
                <a:latin typeface="Calibri" pitchFamily="34" charset="0"/>
                <a:ea typeface="Calibri" pitchFamily="34" charset="-122"/>
                <a:cs typeface="Calibri" pitchFamily="34" charset="-120"/>
              </a:rPr>
              <a:t>compiled SQL on Impala as the user</a:t>
            </a:r>
            <a:endParaRPr lang="en-US" sz="1100" dirty="0"/>
          </a:p>
        </p:txBody>
      </p:sp>
      <p:sp>
        <p:nvSpPr>
          <p:cNvPr id="14" name="Shape 12"/>
          <p:cNvSpPr/>
          <p:nvPr/>
        </p:nvSpPr>
        <p:spPr>
          <a:xfrm>
            <a:off x="9390888" y="2212848"/>
            <a:ext cx="210312" cy="237744"/>
          </a:xfrm>
          <a:prstGeom prst="rightArrow">
            <a:avLst/>
          </a:prstGeom>
          <a:solidFill>
            <a:srgbClr val="F2A541"/>
          </a:solidFill>
          <a:ln w="12700">
            <a:solidFill>
              <a:srgbClr val="F2A541"/>
            </a:solidFill>
            <a:prstDash val="solid"/>
          </a:ln>
        </p:spPr>
      </p:sp>
      <p:sp>
        <p:nvSpPr>
          <p:cNvPr id="15" name="Shape 13"/>
          <p:cNvSpPr/>
          <p:nvPr/>
        </p:nvSpPr>
        <p:spPr>
          <a:xfrm>
            <a:off x="9656064" y="1463040"/>
            <a:ext cx="1956816" cy="1737360"/>
          </a:xfrm>
          <a:prstGeom prst="roundRect">
            <a:avLst>
              <a:gd name="adj" fmla="val 5263"/>
            </a:avLst>
          </a:prstGeom>
          <a:solidFill>
            <a:srgbClr val="F2A541"/>
          </a:solidFill>
          <a:ln w="12700">
            <a:solidFill>
              <a:srgbClr val="F2A541"/>
            </a:solidFill>
            <a:prstDash val="solid"/>
          </a:ln>
        </p:spPr>
      </p:sp>
      <p:sp>
        <p:nvSpPr>
          <p:cNvPr id="16" name="Text 14"/>
          <p:cNvSpPr txBox="1"/>
          <p:nvPr/>
        </p:nvSpPr>
        <p:spPr>
          <a:xfrm>
            <a:off x="9729216" y="1463040"/>
            <a:ext cx="1810512" cy="1737360"/>
          </a:xfrm>
          <a:prstGeom prst="rect">
            <a:avLst/>
          </a:prstGeom>
          <a:noFill/>
          <a:ln/>
        </p:spPr>
        <p:txBody>
          <a:bodyPr wrap="square" lIns="0" tIns="0" rIns="0" bIns="0" rtlCol="0" anchor="ctr"/>
          <a:lstStyle/>
          <a:p>
            <a:pPr algn="ctr" indent="0" marL="0">
              <a:buNone/>
            </a:pPr>
            <a:r>
              <a:rPr lang="en-US" sz="1100" b="1" dirty="0">
                <a:solidFill>
                  <a:srgbClr val="0E1A2B"/>
                </a:solidFill>
                <a:latin typeface="Calibri" pitchFamily="34" charset="0"/>
                <a:ea typeface="Calibri" pitchFamily="34" charset="-122"/>
                <a:cs typeface="Calibri" pitchFamily="34" charset="-120"/>
              </a:rPr>
              <a:t>5</a:t>
            </a:r>
            <a:endParaRPr lang="en-US" sz="1100" dirty="0"/>
          </a:p>
          <a:p>
            <a:pPr algn="ctr" indent="0" marL="0">
              <a:buNone/>
            </a:pPr>
            <a:r>
              <a:rPr lang="en-US" sz="1500" b="1" dirty="0">
                <a:solidFill>
                  <a:srgbClr val="0E1A2B"/>
                </a:solidFill>
                <a:latin typeface="Calibri" pitchFamily="34" charset="0"/>
                <a:ea typeface="Calibri" pitchFamily="34" charset="-122"/>
                <a:cs typeface="Calibri" pitchFamily="34" charset="-120"/>
              </a:rPr>
              <a:t>Answer</a:t>
            </a:r>
            <a:endParaRPr lang="en-US" sz="1100" dirty="0"/>
          </a:p>
          <a:p>
            <a:pPr algn="ctr" indent="0" marL="0">
              <a:buNone/>
            </a:pPr>
            <a:r>
              <a:rPr lang="en-US" sz="1150" dirty="0">
                <a:solidFill>
                  <a:srgbClr val="0E1A2B"/>
                </a:solidFill>
                <a:latin typeface="Calibri" pitchFamily="34" charset="0"/>
                <a:ea typeface="Calibri" pitchFamily="34" charset="-122"/>
                <a:cs typeface="Calibri" pitchFamily="34" charset="-120"/>
              </a:rPr>
              <a:t>table + SQL + provenance</a:t>
            </a:r>
            <a:endParaRPr lang="en-US" sz="1100" dirty="0"/>
          </a:p>
        </p:txBody>
      </p:sp>
      <p:sp>
        <p:nvSpPr>
          <p:cNvPr id="17" name="Shape 15"/>
          <p:cNvSpPr/>
          <p:nvPr/>
        </p:nvSpPr>
        <p:spPr>
          <a:xfrm>
            <a:off x="548640" y="3520440"/>
            <a:ext cx="5394960" cy="2423160"/>
          </a:xfrm>
          <a:prstGeom prst="roundRect">
            <a:avLst>
              <a:gd name="adj" fmla="val 3019"/>
            </a:avLst>
          </a:prstGeom>
          <a:solidFill>
            <a:srgbClr val="F4F6F9"/>
          </a:solidFill>
          <a:ln w="12700">
            <a:solidFill>
              <a:srgbClr val="F4F6F9"/>
            </a:solidFill>
            <a:prstDash val="solid"/>
          </a:ln>
        </p:spPr>
      </p:sp>
      <p:sp>
        <p:nvSpPr>
          <p:cNvPr id="18" name="Text 16"/>
          <p:cNvSpPr txBox="1"/>
          <p:nvPr/>
        </p:nvSpPr>
        <p:spPr>
          <a:xfrm>
            <a:off x="822960" y="3657600"/>
            <a:ext cx="4846320" cy="2148840"/>
          </a:xfrm>
          <a:prstGeom prst="rect">
            <a:avLst/>
          </a:prstGeom>
          <a:noFill/>
          <a:ln/>
        </p:spPr>
        <p:txBody>
          <a:bodyPr wrap="square" lIns="0" tIns="0" rIns="0" bIns="0" rtlCol="0" anchor="t"/>
          <a:lstStyle/>
          <a:p>
            <a:pPr indent="0" marL="0">
              <a:buNone/>
            </a:pPr>
            <a:r>
              <a:rPr lang="en-US" sz="1700" b="1" dirty="0">
                <a:solidFill>
                  <a:srgbClr val="0E1A2B"/>
                </a:solidFill>
                <a:latin typeface="Calibri" pitchFamily="34" charset="0"/>
                <a:ea typeface="Calibri" pitchFamily="34" charset="-122"/>
                <a:cs typeface="Calibri" pitchFamily="34" charset="-120"/>
              </a:rPr>
              <a:t>In the API (the loop)</a:t>
            </a:r>
            <a:endParaRPr lang="en-US" sz="1700" dirty="0"/>
          </a:p>
          <a:p>
            <a:pPr indent="0" marL="0">
              <a:buNone/>
            </a:pPr>
            <a:r>
              <a:rPr lang="en-US" sz="1400" dirty="0">
                <a:solidFill>
                  <a:srgbClr val="1F2937"/>
                </a:solidFill>
                <a:latin typeface="Calibri" pitchFamily="34" charset="0"/>
                <a:ea typeface="Calibri" pitchFamily="34" charset="-122"/>
                <a:cs typeface="Calibri" pitchFamily="34" charset="-120"/>
              </a:rPr>
              <a:t>Resolves the user's org and model, opens an MCP session with a short-lived signed assertion, discovers tool schemas, and lets the LLM call tools for at most six rounds.</a:t>
            </a:r>
            <a:endParaRPr lang="en-US" sz="1700" dirty="0"/>
          </a:p>
        </p:txBody>
      </p:sp>
      <p:sp>
        <p:nvSpPr>
          <p:cNvPr id="19" name="Shape 17"/>
          <p:cNvSpPr/>
          <p:nvPr/>
        </p:nvSpPr>
        <p:spPr>
          <a:xfrm>
            <a:off x="6217920" y="3520440"/>
            <a:ext cx="5394960" cy="2423160"/>
          </a:xfrm>
          <a:prstGeom prst="roundRect">
            <a:avLst>
              <a:gd name="adj" fmla="val 3019"/>
            </a:avLst>
          </a:prstGeom>
          <a:solidFill>
            <a:srgbClr val="FDF1DE"/>
          </a:solidFill>
          <a:ln w="12700">
            <a:solidFill>
              <a:srgbClr val="FDF1DE"/>
            </a:solidFill>
            <a:prstDash val="solid"/>
          </a:ln>
        </p:spPr>
      </p:sp>
      <p:sp>
        <p:nvSpPr>
          <p:cNvPr id="20" name="Text 18"/>
          <p:cNvSpPr txBox="1"/>
          <p:nvPr/>
        </p:nvSpPr>
        <p:spPr>
          <a:xfrm>
            <a:off x="6492240" y="3657600"/>
            <a:ext cx="4846320" cy="2148840"/>
          </a:xfrm>
          <a:prstGeom prst="rect">
            <a:avLst/>
          </a:prstGeom>
          <a:noFill/>
          <a:ln/>
        </p:spPr>
        <p:txBody>
          <a:bodyPr wrap="square" lIns="0" tIns="0" rIns="0" bIns="0" rtlCol="0" anchor="t"/>
          <a:lstStyle/>
          <a:p>
            <a:pPr indent="0" marL="0">
              <a:buNone/>
            </a:pPr>
            <a:r>
              <a:rPr lang="en-US" sz="1700" b="1" dirty="0">
                <a:solidFill>
                  <a:srgbClr val="0E1A2B"/>
                </a:solidFill>
                <a:latin typeface="Calibri" pitchFamily="34" charset="0"/>
                <a:ea typeface="Calibri" pitchFamily="34" charset="-122"/>
                <a:cs typeface="Calibri" pitchFamily="34" charset="-120"/>
              </a:rPr>
              <a:t>The result</a:t>
            </a:r>
            <a:endParaRPr lang="en-US" sz="1700" dirty="0"/>
          </a:p>
          <a:p>
            <a:pPr indent="0" marL="0">
              <a:buNone/>
            </a:pPr>
            <a:r>
              <a:rPr lang="en-US" sz="1400" dirty="0">
                <a:solidFill>
                  <a:srgbClr val="1F2937"/>
                </a:solidFill>
                <a:latin typeface="Calibri" pitchFamily="34" charset="0"/>
                <a:ea typeface="Calibri" pitchFamily="34" charset="-122"/>
                <a:cs typeface="Calibri" pitchFamily="34" charset="-120"/>
              </a:rPr>
              <a:t>SUM(ss_net_paid) joined on ss_customer_sk = c_customer_sk, 10 rows. "The assistant never had to guess which of nine money columns means 'spent'."</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2900" b="1" dirty="0">
                <a:solidFill>
                  <a:srgbClr val="0E1A2B"/>
                </a:solidFill>
                <a:latin typeface="Cambria" pitchFamily="34" charset="0"/>
                <a:ea typeface="Cambria" pitchFamily="34" charset="-122"/>
                <a:cs typeface="Cambria" pitchFamily="34" charset="-120"/>
              </a:rPr>
              <a:t>Guardrails: the LLM is not a trust boundary</a:t>
            </a:r>
            <a:endParaRPr lang="en-US" sz="2900" dirty="0"/>
          </a:p>
        </p:txBody>
      </p:sp>
      <p:sp>
        <p:nvSpPr>
          <p:cNvPr id="3" name="Shape 1"/>
          <p:cNvSpPr/>
          <p:nvPr/>
        </p:nvSpPr>
        <p:spPr>
          <a:xfrm>
            <a:off x="548640" y="1371600"/>
            <a:ext cx="3474720" cy="2057400"/>
          </a:xfrm>
          <a:prstGeom prst="roundRect">
            <a:avLst>
              <a:gd name="adj" fmla="val 3556"/>
            </a:avLst>
          </a:prstGeom>
          <a:solidFill>
            <a:srgbClr val="F4F6F9"/>
          </a:solidFill>
          <a:ln w="12700">
            <a:solidFill>
              <a:srgbClr val="F4F6F9"/>
            </a:solidFill>
            <a:prstDash val="solid"/>
          </a:ln>
        </p:spPr>
      </p:sp>
      <p:sp>
        <p:nvSpPr>
          <p:cNvPr id="4" name="Shape 2"/>
          <p:cNvSpPr/>
          <p:nvPr/>
        </p:nvSpPr>
        <p:spPr>
          <a:xfrm>
            <a:off x="777240" y="1600200"/>
            <a:ext cx="502920" cy="502920"/>
          </a:xfrm>
          <a:prstGeom prst="ellipse">
            <a:avLst/>
          </a:prstGeom>
          <a:solidFill>
            <a:srgbClr val="F2A541"/>
          </a:solidFill>
          <a:ln w="12700">
            <a:solidFill>
              <a:srgbClr val="F2A541"/>
            </a:solidFill>
            <a:prstDash val="solid"/>
          </a:ln>
        </p:spPr>
      </p:sp>
      <p:pic>
        <p:nvPicPr>
          <p:cNvPr id="5" name="Image 0" descr="preencoded.png">    </p:cNvPr>
          <p:cNvPicPr>
            <a:picLocks noChangeAspect="1"/>
          </p:cNvPicPr>
          <p:nvPr/>
        </p:nvPicPr>
        <p:blipFill>
          <a:blip r:embed="rId1"/>
          <a:stretch>
            <a:fillRect/>
          </a:stretch>
        </p:blipFill>
        <p:spPr>
          <a:xfrm>
            <a:off x="897941" y="1720901"/>
            <a:ext cx="261518" cy="261518"/>
          </a:xfrm>
          <a:prstGeom prst="rect">
            <a:avLst/>
          </a:prstGeom>
        </p:spPr>
      </p:pic>
      <p:sp>
        <p:nvSpPr>
          <p:cNvPr id="6" name="Text 3"/>
          <p:cNvSpPr txBox="1"/>
          <p:nvPr/>
        </p:nvSpPr>
        <p:spPr>
          <a:xfrm>
            <a:off x="1417320" y="1572768"/>
            <a:ext cx="242316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Search before compile</a:t>
            </a:r>
            <a:endParaRPr lang="en-US" sz="1700" dirty="0"/>
          </a:p>
        </p:txBody>
      </p:sp>
      <p:sp>
        <p:nvSpPr>
          <p:cNvPr id="7" name="Text 4"/>
          <p:cNvSpPr txBox="1"/>
          <p:nvPr/>
        </p:nvSpPr>
        <p:spPr>
          <a:xfrm>
            <a:off x="822960" y="2240280"/>
            <a:ext cx="2971800" cy="105156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The prompt requires search_semantics first, exact metric names and fully qualified columns.</a:t>
            </a:r>
            <a:endParaRPr lang="en-US" sz="1350" dirty="0"/>
          </a:p>
        </p:txBody>
      </p:sp>
      <p:sp>
        <p:nvSpPr>
          <p:cNvPr id="8" name="Shape 5"/>
          <p:cNvSpPr/>
          <p:nvPr/>
        </p:nvSpPr>
        <p:spPr>
          <a:xfrm>
            <a:off x="4297680" y="1371600"/>
            <a:ext cx="3474720" cy="2057400"/>
          </a:xfrm>
          <a:prstGeom prst="roundRect">
            <a:avLst>
              <a:gd name="adj" fmla="val 3556"/>
            </a:avLst>
          </a:prstGeom>
          <a:solidFill>
            <a:srgbClr val="F4F6F9"/>
          </a:solidFill>
          <a:ln w="12700">
            <a:solidFill>
              <a:srgbClr val="F4F6F9"/>
            </a:solidFill>
            <a:prstDash val="solid"/>
          </a:ln>
        </p:spPr>
      </p:sp>
      <p:sp>
        <p:nvSpPr>
          <p:cNvPr id="9" name="Shape 6"/>
          <p:cNvSpPr/>
          <p:nvPr/>
        </p:nvSpPr>
        <p:spPr>
          <a:xfrm>
            <a:off x="4526280" y="1600200"/>
            <a:ext cx="502920" cy="502920"/>
          </a:xfrm>
          <a:prstGeom prst="ellipse">
            <a:avLst/>
          </a:prstGeom>
          <a:solidFill>
            <a:srgbClr val="F2A541"/>
          </a:solidFill>
          <a:ln w="12700">
            <a:solidFill>
              <a:srgbClr val="F2A541"/>
            </a:solidFill>
            <a:prstDash val="solid"/>
          </a:ln>
        </p:spPr>
      </p:sp>
      <p:pic>
        <p:nvPicPr>
          <p:cNvPr id="10" name="Image 1" descr="preencoded.png">    </p:cNvPr>
          <p:cNvPicPr>
            <a:picLocks noChangeAspect="1"/>
          </p:cNvPicPr>
          <p:nvPr/>
        </p:nvPicPr>
        <p:blipFill>
          <a:blip r:embed="rId2"/>
          <a:stretch>
            <a:fillRect/>
          </a:stretch>
        </p:blipFill>
        <p:spPr>
          <a:xfrm>
            <a:off x="4646981" y="1720901"/>
            <a:ext cx="261518" cy="261518"/>
          </a:xfrm>
          <a:prstGeom prst="rect">
            <a:avLst/>
          </a:prstGeom>
        </p:spPr>
      </p:pic>
      <p:sp>
        <p:nvSpPr>
          <p:cNvPr id="11" name="Text 7"/>
          <p:cNvSpPr txBox="1"/>
          <p:nvPr/>
        </p:nvSpPr>
        <p:spPr>
          <a:xfrm>
            <a:off x="5166360" y="1572768"/>
            <a:ext cx="242316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No raw SQL</a:t>
            </a:r>
            <a:endParaRPr lang="en-US" sz="1700" dirty="0"/>
          </a:p>
        </p:txBody>
      </p:sp>
      <p:sp>
        <p:nvSpPr>
          <p:cNvPr id="12" name="Text 8"/>
          <p:cNvSpPr txBox="1"/>
          <p:nvPr/>
        </p:nvSpPr>
        <p:spPr>
          <a:xfrm>
            <a:off x="4572000" y="2240280"/>
            <a:ext cx="2971800" cy="105156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run_query accepts semantic metrics, dimensions and filters only. The API never accepts arbitrary SQL.</a:t>
            </a:r>
            <a:endParaRPr lang="en-US" sz="1350" dirty="0"/>
          </a:p>
        </p:txBody>
      </p:sp>
      <p:sp>
        <p:nvSpPr>
          <p:cNvPr id="13" name="Shape 9"/>
          <p:cNvSpPr/>
          <p:nvPr/>
        </p:nvSpPr>
        <p:spPr>
          <a:xfrm>
            <a:off x="8046720" y="1371600"/>
            <a:ext cx="3474720" cy="2057400"/>
          </a:xfrm>
          <a:prstGeom prst="roundRect">
            <a:avLst>
              <a:gd name="adj" fmla="val 3556"/>
            </a:avLst>
          </a:prstGeom>
          <a:solidFill>
            <a:srgbClr val="F4F6F9"/>
          </a:solidFill>
          <a:ln w="12700">
            <a:solidFill>
              <a:srgbClr val="F4F6F9"/>
            </a:solidFill>
            <a:prstDash val="solid"/>
          </a:ln>
        </p:spPr>
      </p:sp>
      <p:sp>
        <p:nvSpPr>
          <p:cNvPr id="14" name="Shape 10"/>
          <p:cNvSpPr/>
          <p:nvPr/>
        </p:nvSpPr>
        <p:spPr>
          <a:xfrm>
            <a:off x="8275320" y="1600200"/>
            <a:ext cx="502920" cy="502920"/>
          </a:xfrm>
          <a:prstGeom prst="ellipse">
            <a:avLst/>
          </a:prstGeom>
          <a:solidFill>
            <a:srgbClr val="F2A541"/>
          </a:solidFill>
          <a:ln w="12700">
            <a:solidFill>
              <a:srgbClr val="F2A541"/>
            </a:solidFill>
            <a:prstDash val="solid"/>
          </a:ln>
        </p:spPr>
      </p:sp>
      <p:pic>
        <p:nvPicPr>
          <p:cNvPr id="15" name="Image 2" descr="preencoded.png">    </p:cNvPr>
          <p:cNvPicPr>
            <a:picLocks noChangeAspect="1"/>
          </p:cNvPicPr>
          <p:nvPr/>
        </p:nvPicPr>
        <p:blipFill>
          <a:blip r:embed="rId3"/>
          <a:stretch>
            <a:fillRect/>
          </a:stretch>
        </p:blipFill>
        <p:spPr>
          <a:xfrm>
            <a:off x="8396021" y="1720901"/>
            <a:ext cx="261518" cy="261518"/>
          </a:xfrm>
          <a:prstGeom prst="rect">
            <a:avLst/>
          </a:prstGeom>
        </p:spPr>
      </p:pic>
      <p:sp>
        <p:nvSpPr>
          <p:cNvPr id="16" name="Text 11"/>
          <p:cNvSpPr txBox="1"/>
          <p:nvPr/>
        </p:nvSpPr>
        <p:spPr>
          <a:xfrm>
            <a:off x="8915400" y="1572768"/>
            <a:ext cx="242316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Model injected</a:t>
            </a:r>
            <a:endParaRPr lang="en-US" sz="1700" dirty="0"/>
          </a:p>
        </p:txBody>
      </p:sp>
      <p:sp>
        <p:nvSpPr>
          <p:cNvPr id="17" name="Text 12"/>
          <p:cNvSpPr txBox="1"/>
          <p:nvPr/>
        </p:nvSpPr>
        <p:spPr>
          <a:xfrm>
            <a:off x="8321040" y="2240280"/>
            <a:ext cx="2971800" cy="105156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The authorized model is injected into every tool call, overriding anything the LLM supplies.</a:t>
            </a:r>
            <a:endParaRPr lang="en-US" sz="1350" dirty="0"/>
          </a:p>
        </p:txBody>
      </p:sp>
      <p:sp>
        <p:nvSpPr>
          <p:cNvPr id="18" name="Shape 13"/>
          <p:cNvSpPr/>
          <p:nvPr/>
        </p:nvSpPr>
        <p:spPr>
          <a:xfrm>
            <a:off x="548640" y="3657600"/>
            <a:ext cx="3474720" cy="2057400"/>
          </a:xfrm>
          <a:prstGeom prst="roundRect">
            <a:avLst>
              <a:gd name="adj" fmla="val 3556"/>
            </a:avLst>
          </a:prstGeom>
          <a:solidFill>
            <a:srgbClr val="F4F6F9"/>
          </a:solidFill>
          <a:ln w="12700">
            <a:solidFill>
              <a:srgbClr val="F4F6F9"/>
            </a:solidFill>
            <a:prstDash val="solid"/>
          </a:ln>
        </p:spPr>
      </p:sp>
      <p:sp>
        <p:nvSpPr>
          <p:cNvPr id="19" name="Shape 14"/>
          <p:cNvSpPr/>
          <p:nvPr/>
        </p:nvSpPr>
        <p:spPr>
          <a:xfrm>
            <a:off x="777240" y="3886200"/>
            <a:ext cx="502920" cy="502920"/>
          </a:xfrm>
          <a:prstGeom prst="ellipse">
            <a:avLst/>
          </a:prstGeom>
          <a:solidFill>
            <a:srgbClr val="F2A541"/>
          </a:solidFill>
          <a:ln w="12700">
            <a:solidFill>
              <a:srgbClr val="F2A541"/>
            </a:solidFill>
            <a:prstDash val="solid"/>
          </a:ln>
        </p:spPr>
      </p:sp>
      <p:pic>
        <p:nvPicPr>
          <p:cNvPr id="20" name="Image 3" descr="preencoded.png">    </p:cNvPr>
          <p:cNvPicPr>
            <a:picLocks noChangeAspect="1"/>
          </p:cNvPicPr>
          <p:nvPr/>
        </p:nvPicPr>
        <p:blipFill>
          <a:blip r:embed="rId4"/>
          <a:stretch>
            <a:fillRect/>
          </a:stretch>
        </p:blipFill>
        <p:spPr>
          <a:xfrm>
            <a:off x="897941" y="4006901"/>
            <a:ext cx="261518" cy="261518"/>
          </a:xfrm>
          <a:prstGeom prst="rect">
            <a:avLst/>
          </a:prstGeom>
        </p:spPr>
      </p:pic>
      <p:sp>
        <p:nvSpPr>
          <p:cNvPr id="21" name="Text 15"/>
          <p:cNvSpPr txBox="1"/>
          <p:nvPr/>
        </p:nvSpPr>
        <p:spPr>
          <a:xfrm>
            <a:off x="1417320" y="3858768"/>
            <a:ext cx="242316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One correction</a:t>
            </a:r>
            <a:endParaRPr lang="en-US" sz="1700" dirty="0"/>
          </a:p>
        </p:txBody>
      </p:sp>
      <p:sp>
        <p:nvSpPr>
          <p:cNvPr id="22" name="Text 16"/>
          <p:cNvSpPr txBox="1"/>
          <p:nvPr/>
        </p:nvSpPr>
        <p:spPr>
          <a:xfrm>
            <a:off x="822960" y="4526280"/>
            <a:ext cx="2971800" cy="105156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An invalid request gets one correction attempt, then a clear, classified message instead of a guess.</a:t>
            </a:r>
            <a:endParaRPr lang="en-US" sz="1350" dirty="0"/>
          </a:p>
        </p:txBody>
      </p:sp>
      <p:sp>
        <p:nvSpPr>
          <p:cNvPr id="23" name="Shape 17"/>
          <p:cNvSpPr/>
          <p:nvPr/>
        </p:nvSpPr>
        <p:spPr>
          <a:xfrm>
            <a:off x="4297680" y="3657600"/>
            <a:ext cx="3474720" cy="2057400"/>
          </a:xfrm>
          <a:prstGeom prst="roundRect">
            <a:avLst>
              <a:gd name="adj" fmla="val 3556"/>
            </a:avLst>
          </a:prstGeom>
          <a:solidFill>
            <a:srgbClr val="F4F6F9"/>
          </a:solidFill>
          <a:ln w="12700">
            <a:solidFill>
              <a:srgbClr val="F4F6F9"/>
            </a:solidFill>
            <a:prstDash val="solid"/>
          </a:ln>
        </p:spPr>
      </p:sp>
      <p:sp>
        <p:nvSpPr>
          <p:cNvPr id="24" name="Shape 18"/>
          <p:cNvSpPr/>
          <p:nvPr/>
        </p:nvSpPr>
        <p:spPr>
          <a:xfrm>
            <a:off x="4526280" y="3886200"/>
            <a:ext cx="502920" cy="502920"/>
          </a:xfrm>
          <a:prstGeom prst="ellipse">
            <a:avLst/>
          </a:prstGeom>
          <a:solidFill>
            <a:srgbClr val="F2A541"/>
          </a:solidFill>
          <a:ln w="12700">
            <a:solidFill>
              <a:srgbClr val="F2A541"/>
            </a:solidFill>
            <a:prstDash val="solid"/>
          </a:ln>
        </p:spPr>
      </p:sp>
      <p:pic>
        <p:nvPicPr>
          <p:cNvPr id="25" name="Image 4" descr="preencoded.png">    </p:cNvPr>
          <p:cNvPicPr>
            <a:picLocks noChangeAspect="1"/>
          </p:cNvPicPr>
          <p:nvPr/>
        </p:nvPicPr>
        <p:blipFill>
          <a:blip r:embed="rId5"/>
          <a:stretch>
            <a:fillRect/>
          </a:stretch>
        </p:blipFill>
        <p:spPr>
          <a:xfrm>
            <a:off x="4646981" y="4006901"/>
            <a:ext cx="261518" cy="261518"/>
          </a:xfrm>
          <a:prstGeom prst="rect">
            <a:avLst/>
          </a:prstGeom>
        </p:spPr>
      </p:pic>
      <p:sp>
        <p:nvSpPr>
          <p:cNvPr id="26" name="Text 19"/>
          <p:cNvSpPr txBox="1"/>
          <p:nvPr/>
        </p:nvSpPr>
        <p:spPr>
          <a:xfrm>
            <a:off x="5166360" y="3858768"/>
            <a:ext cx="242316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Bounded</a:t>
            </a:r>
            <a:endParaRPr lang="en-US" sz="1700" dirty="0"/>
          </a:p>
        </p:txBody>
      </p:sp>
      <p:sp>
        <p:nvSpPr>
          <p:cNvPr id="27" name="Text 20"/>
          <p:cNvSpPr txBox="1"/>
          <p:nvPr/>
        </p:nvSpPr>
        <p:spPr>
          <a:xfrm>
            <a:off x="4572000" y="4526280"/>
            <a:ext cx="2971800" cy="105156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At most 6 tool rounds, 20 history messages / 40,000 characters, and timeouts on LLM and MCP calls.</a:t>
            </a:r>
            <a:endParaRPr lang="en-US" sz="1350" dirty="0"/>
          </a:p>
        </p:txBody>
      </p:sp>
      <p:sp>
        <p:nvSpPr>
          <p:cNvPr id="28" name="Shape 21"/>
          <p:cNvSpPr/>
          <p:nvPr/>
        </p:nvSpPr>
        <p:spPr>
          <a:xfrm>
            <a:off x="8046720" y="3657600"/>
            <a:ext cx="3474720" cy="2057400"/>
          </a:xfrm>
          <a:prstGeom prst="roundRect">
            <a:avLst>
              <a:gd name="adj" fmla="val 3556"/>
            </a:avLst>
          </a:prstGeom>
          <a:solidFill>
            <a:srgbClr val="F4F6F9"/>
          </a:solidFill>
          <a:ln w="12700">
            <a:solidFill>
              <a:srgbClr val="F4F6F9"/>
            </a:solidFill>
            <a:prstDash val="solid"/>
          </a:ln>
        </p:spPr>
      </p:sp>
      <p:sp>
        <p:nvSpPr>
          <p:cNvPr id="29" name="Shape 22"/>
          <p:cNvSpPr/>
          <p:nvPr/>
        </p:nvSpPr>
        <p:spPr>
          <a:xfrm>
            <a:off x="8275320" y="3886200"/>
            <a:ext cx="502920" cy="502920"/>
          </a:xfrm>
          <a:prstGeom prst="ellipse">
            <a:avLst/>
          </a:prstGeom>
          <a:solidFill>
            <a:srgbClr val="F2A541"/>
          </a:solidFill>
          <a:ln w="12700">
            <a:solidFill>
              <a:srgbClr val="F2A541"/>
            </a:solidFill>
            <a:prstDash val="solid"/>
          </a:ln>
        </p:spPr>
      </p:sp>
      <p:pic>
        <p:nvPicPr>
          <p:cNvPr id="30" name="Image 5" descr="preencoded.png">    </p:cNvPr>
          <p:cNvPicPr>
            <a:picLocks noChangeAspect="1"/>
          </p:cNvPicPr>
          <p:nvPr/>
        </p:nvPicPr>
        <p:blipFill>
          <a:blip r:embed="rId6"/>
          <a:stretch>
            <a:fillRect/>
          </a:stretch>
        </p:blipFill>
        <p:spPr>
          <a:xfrm>
            <a:off x="8396021" y="4006901"/>
            <a:ext cx="261518" cy="261518"/>
          </a:xfrm>
          <a:prstGeom prst="rect">
            <a:avLst/>
          </a:prstGeom>
        </p:spPr>
      </p:pic>
      <p:sp>
        <p:nvSpPr>
          <p:cNvPr id="31" name="Text 23"/>
          <p:cNvSpPr txBox="1"/>
          <p:nvPr/>
        </p:nvSpPr>
        <p:spPr>
          <a:xfrm>
            <a:off x="8915400" y="3858768"/>
            <a:ext cx="242316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No replay</a:t>
            </a:r>
            <a:endParaRPr lang="en-US" sz="1700" dirty="0"/>
          </a:p>
        </p:txBody>
      </p:sp>
      <p:sp>
        <p:nvSpPr>
          <p:cNvPr id="32" name="Text 24"/>
          <p:cNvSpPr txBox="1"/>
          <p:nvPr/>
        </p:nvSpPr>
        <p:spPr>
          <a:xfrm>
            <a:off x="8321040" y="4526280"/>
            <a:ext cx="2971800" cy="105156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Prior result rows and tool outputs aren't replayed into prompts.</a:t>
            </a:r>
            <a:endParaRPr lang="en-US" sz="13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3200" b="1" dirty="0">
                <a:solidFill>
                  <a:srgbClr val="0E1A2B"/>
                </a:solidFill>
                <a:latin typeface="Cambria" pitchFamily="34" charset="0"/>
                <a:ea typeface="Cambria" pitchFamily="34" charset="-122"/>
                <a:cs typeface="Cambria" pitchFamily="34" charset="-120"/>
              </a:rPr>
              <a:t>Every answer shows its work</a:t>
            </a:r>
            <a:endParaRPr lang="en-US" sz="3200" dirty="0"/>
          </a:p>
        </p:txBody>
      </p:sp>
      <p:sp>
        <p:nvSpPr>
          <p:cNvPr id="3" name="Text 1"/>
          <p:cNvSpPr txBox="1"/>
          <p:nvPr/>
        </p:nvSpPr>
        <p:spPr>
          <a:xfrm>
            <a:off x="548640" y="1417320"/>
            <a:ext cx="5303520" cy="45720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Each turn stores its tool trace, SQL, results, request id, LLM provider and model, and MCP protocol version</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OpenTelemetry-style spans on both the API and the MCP server</a:t>
            </a:r>
            <a:endParaRPr lang="en-US" sz="1600" dirty="0"/>
          </a:p>
          <a:p>
            <a:pPr marL="342900" indent="-342900">
              <a:spcAft>
                <a:spcPts val="800"/>
              </a:spcAft>
              <a:buSzPct val="100000"/>
              <a:buChar char="•"/>
            </a:pPr>
            <a:r>
              <a:rPr lang="en-US" sz="1600" b="1" dirty="0">
                <a:solidFill>
                  <a:srgbClr val="1F2937"/>
                </a:solidFill>
                <a:latin typeface="Calibri" pitchFamily="34" charset="0"/>
                <a:ea typeface="Calibri" pitchFamily="34" charset="-122"/>
                <a:cs typeface="Calibri" pitchFamily="34" charset="-120"/>
              </a:rPr>
              <a:t>The Answer path links:</a:t>
            </a:r>
            <a:endParaRPr lang="en-US" sz="1600" dirty="0"/>
          </a:p>
          <a:p>
            <a:pPr lvl="1" marL="6858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question → AI model → MCP tools → exact Ossie definitions → physical tables → query → answer</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Built from immutable spans and the content-addressed model revision, not inferred from the answer's prose</a:t>
            </a:r>
            <a:endParaRPr lang="en-US" sz="1600" dirty="0"/>
          </a:p>
        </p:txBody>
      </p:sp>
      <p:sp>
        <p:nvSpPr>
          <p:cNvPr id="4" name="Shape 2"/>
          <p:cNvSpPr/>
          <p:nvPr/>
        </p:nvSpPr>
        <p:spPr>
          <a:xfrm>
            <a:off x="6217920" y="1417320"/>
            <a:ext cx="5394960" cy="4526280"/>
          </a:xfrm>
          <a:prstGeom prst="roundRect">
            <a:avLst>
              <a:gd name="adj" fmla="val 1212"/>
            </a:avLst>
          </a:prstGeom>
          <a:solidFill>
            <a:srgbClr val="EEF1F5"/>
          </a:solidFill>
          <a:ln w="15875">
            <a:solidFill>
              <a:srgbClr val="9AA5B4"/>
            </a:solidFill>
            <a:prstDash val="dash"/>
          </a:ln>
        </p:spPr>
      </p:sp>
      <p:pic>
        <p:nvPicPr>
          <p:cNvPr id="5" name="Image 0" descr="preencoded.png">    </p:cNvPr>
          <p:cNvPicPr>
            <a:picLocks noChangeAspect="1"/>
          </p:cNvPicPr>
          <p:nvPr/>
        </p:nvPicPr>
        <p:blipFill>
          <a:blip r:embed="rId1"/>
          <a:stretch>
            <a:fillRect/>
          </a:stretch>
        </p:blipFill>
        <p:spPr>
          <a:xfrm>
            <a:off x="8549640" y="2857500"/>
            <a:ext cx="731520" cy="731520"/>
          </a:xfrm>
          <a:prstGeom prst="rect">
            <a:avLst/>
          </a:prstGeom>
        </p:spPr>
      </p:pic>
      <p:sp>
        <p:nvSpPr>
          <p:cNvPr id="6" name="Text 3"/>
          <p:cNvSpPr txBox="1"/>
          <p:nvPr/>
        </p:nvSpPr>
        <p:spPr>
          <a:xfrm>
            <a:off x="6492240" y="3726180"/>
            <a:ext cx="4846320" cy="1097280"/>
          </a:xfrm>
          <a:prstGeom prst="rect">
            <a:avLst/>
          </a:prstGeom>
          <a:noFill/>
          <a:ln/>
        </p:spPr>
        <p:txBody>
          <a:bodyPr wrap="square" lIns="0" tIns="0" rIns="0" bIns="0" rtlCol="0" anchor="t"/>
          <a:lstStyle/>
          <a:p>
            <a:pPr algn="ctr" indent="0" marL="0">
              <a:buNone/>
            </a:pPr>
            <a:r>
              <a:rPr lang="en-US" sz="1200" b="1" dirty="0">
                <a:solidFill>
                  <a:srgbClr val="6B7686"/>
                </a:solidFill>
                <a:latin typeface="Calibri" pitchFamily="34" charset="0"/>
                <a:ea typeface="Calibri" pitchFamily="34" charset="-122"/>
                <a:cs typeface="Calibri" pitchFamily="34" charset="-120"/>
              </a:rPr>
              <a:t>SCREENSHOT PLACEHOLDER</a:t>
            </a:r>
            <a:endParaRPr lang="en-US" sz="1200" dirty="0"/>
          </a:p>
          <a:p>
            <a:pPr algn="ctr" indent="0" marL="0">
              <a:buNone/>
            </a:pPr>
            <a:r>
              <a:rPr lang="en-US" sz="1300" dirty="0">
                <a:solidFill>
                  <a:srgbClr val="4B5563"/>
                </a:solidFill>
                <a:latin typeface="Calibri" pitchFamily="34" charset="0"/>
                <a:ea typeface="Calibri" pitchFamily="34" charset="-122"/>
                <a:cs typeface="Calibri" pitchFamily="34" charset="-120"/>
              </a:rPr>
              <a:t>MCP Management → Traces → Answer path (question → tools → Ossie definitions → tables → answer)</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3200" b="1" dirty="0">
                <a:solidFill>
                  <a:srgbClr val="0E1A2B"/>
                </a:solidFill>
                <a:latin typeface="Cambria" pitchFamily="34" charset="0"/>
                <a:ea typeface="Cambria" pitchFamily="34" charset="-122"/>
                <a:cs typeface="Cambria" pitchFamily="34" charset="-120"/>
              </a:rPr>
              <a:t>Security: three separate decisions</a:t>
            </a:r>
            <a:endParaRPr lang="en-US" sz="3200" dirty="0"/>
          </a:p>
        </p:txBody>
      </p:sp>
      <p:sp>
        <p:nvSpPr>
          <p:cNvPr id="3" name="Shape 1"/>
          <p:cNvSpPr/>
          <p:nvPr/>
        </p:nvSpPr>
        <p:spPr>
          <a:xfrm>
            <a:off x="548640" y="1371600"/>
            <a:ext cx="3474720" cy="3749040"/>
          </a:xfrm>
          <a:prstGeom prst="roundRect">
            <a:avLst>
              <a:gd name="adj" fmla="val 2105"/>
            </a:avLst>
          </a:prstGeom>
          <a:solidFill>
            <a:srgbClr val="F4F6F9"/>
          </a:solidFill>
          <a:ln w="12700">
            <a:solidFill>
              <a:srgbClr val="F4F6F9"/>
            </a:solidFill>
            <a:prstDash val="solid"/>
          </a:ln>
        </p:spPr>
      </p:sp>
      <p:sp>
        <p:nvSpPr>
          <p:cNvPr id="4" name="Shape 2"/>
          <p:cNvSpPr/>
          <p:nvPr/>
        </p:nvSpPr>
        <p:spPr>
          <a:xfrm>
            <a:off x="822960" y="1600200"/>
            <a:ext cx="640080" cy="640080"/>
          </a:xfrm>
          <a:prstGeom prst="ellipse">
            <a:avLst/>
          </a:prstGeom>
          <a:solidFill>
            <a:srgbClr val="F2A541"/>
          </a:solidFill>
          <a:ln w="12700">
            <a:solidFill>
              <a:srgbClr val="F2A541"/>
            </a:solidFill>
            <a:prstDash val="solid"/>
          </a:ln>
        </p:spPr>
      </p:sp>
      <p:pic>
        <p:nvPicPr>
          <p:cNvPr id="5" name="Image 0" descr="preencoded.png">    </p:cNvPr>
          <p:cNvPicPr>
            <a:picLocks noChangeAspect="1"/>
          </p:cNvPicPr>
          <p:nvPr/>
        </p:nvPicPr>
        <p:blipFill>
          <a:blip r:embed="rId1"/>
          <a:stretch>
            <a:fillRect/>
          </a:stretch>
        </p:blipFill>
        <p:spPr>
          <a:xfrm>
            <a:off x="976579" y="1753819"/>
            <a:ext cx="332842" cy="332842"/>
          </a:xfrm>
          <a:prstGeom prst="rect">
            <a:avLst/>
          </a:prstGeom>
        </p:spPr>
      </p:pic>
      <p:sp>
        <p:nvSpPr>
          <p:cNvPr id="6" name="Text 3"/>
          <p:cNvSpPr txBox="1"/>
          <p:nvPr/>
        </p:nvSpPr>
        <p:spPr>
          <a:xfrm>
            <a:off x="822960" y="2377440"/>
            <a:ext cx="3017520" cy="457200"/>
          </a:xfrm>
          <a:prstGeom prst="rect">
            <a:avLst/>
          </a:prstGeom>
          <a:noFill/>
          <a:ln/>
        </p:spPr>
        <p:txBody>
          <a:bodyPr wrap="square" lIns="0" tIns="0" rIns="0" bIns="0" rtlCol="0" anchor="t"/>
          <a:lstStyle/>
          <a:p>
            <a:pPr algn="l" indent="0" marL="0">
              <a:spcAft>
                <a:spcPts val="400"/>
              </a:spcAft>
              <a:buNone/>
            </a:pPr>
            <a:r>
              <a:rPr lang="en-US" sz="1800" b="1" dirty="0">
                <a:solidFill>
                  <a:srgbClr val="0E1A2B"/>
                </a:solidFill>
                <a:latin typeface="Calibri" pitchFamily="34" charset="0"/>
                <a:ea typeface="Calibri" pitchFamily="34" charset="-122"/>
                <a:cs typeface="Calibri" pitchFamily="34" charset="-120"/>
              </a:rPr>
              <a:t>1 · Who are you?</a:t>
            </a:r>
            <a:endParaRPr lang="en-US" sz="1800" dirty="0"/>
          </a:p>
        </p:txBody>
      </p:sp>
      <p:sp>
        <p:nvSpPr>
          <p:cNvPr id="7" name="Text 4"/>
          <p:cNvSpPr txBox="1"/>
          <p:nvPr/>
        </p:nvSpPr>
        <p:spPr>
          <a:xfrm>
            <a:off x="822960" y="2834640"/>
            <a:ext cx="3017520" cy="365760"/>
          </a:xfrm>
          <a:prstGeom prst="rect">
            <a:avLst/>
          </a:prstGeom>
          <a:noFill/>
          <a:ln/>
        </p:spPr>
        <p:txBody>
          <a:bodyPr wrap="square" lIns="0" tIns="0" rIns="0" bIns="0" rtlCol="0" anchor="t"/>
          <a:lstStyle/>
          <a:p>
            <a:pPr algn="l" indent="0" marL="0">
              <a:spcAft>
                <a:spcPts val="400"/>
              </a:spcAft>
              <a:buNone/>
            </a:pPr>
            <a:r>
              <a:rPr lang="en-US" sz="1300" i="1" dirty="0">
                <a:solidFill>
                  <a:srgbClr val="5B6472"/>
                </a:solidFill>
                <a:latin typeface="Calibri" pitchFamily="34" charset="0"/>
                <a:ea typeface="Calibri" pitchFamily="34" charset="-122"/>
                <a:cs typeface="Calibri" pitchFamily="34" charset="-120"/>
              </a:rPr>
              <a:t>Authentication</a:t>
            </a:r>
            <a:endParaRPr lang="en-US" sz="1300" dirty="0"/>
          </a:p>
        </p:txBody>
      </p:sp>
      <p:sp>
        <p:nvSpPr>
          <p:cNvPr id="8" name="Text 5"/>
          <p:cNvSpPr txBox="1"/>
          <p:nvPr/>
        </p:nvSpPr>
        <p:spPr>
          <a:xfrm>
            <a:off x="822960" y="3246120"/>
            <a:ext cx="3017520" cy="1828800"/>
          </a:xfrm>
          <a:prstGeom prst="rect">
            <a:avLst/>
          </a:prstGeom>
          <a:noFill/>
          <a:ln/>
        </p:spPr>
        <p:txBody>
          <a:bodyPr wrap="square" lIns="0" tIns="0" rIns="0" bIns="0" rtlCol="0" anchor="t"/>
          <a:lstStyle/>
          <a:p>
            <a:pPr algn="l" indent="0" marL="0">
              <a:spcAft>
                <a:spcPts val="400"/>
              </a:spcAft>
              <a:buNone/>
            </a:pPr>
            <a:r>
              <a:rPr lang="en-US" sz="1400" dirty="0">
                <a:solidFill>
                  <a:srgbClr val="1F2937"/>
                </a:solidFill>
                <a:latin typeface="Calibri" pitchFamily="34" charset="0"/>
                <a:ea typeface="Calibri" pitchFamily="34" charset="-122"/>
                <a:cs typeface="Calibri" pitchFamily="34" charset="-120"/>
              </a:rPr>
              <a:t>Cloudera injects the signed-in user (REMOTE-USER). Principals can be humans, services or agents. No identity: 401. There is no anonymous principal.</a:t>
            </a:r>
            <a:endParaRPr lang="en-US" sz="1400" dirty="0"/>
          </a:p>
        </p:txBody>
      </p:sp>
      <p:sp>
        <p:nvSpPr>
          <p:cNvPr id="9" name="Shape 6"/>
          <p:cNvSpPr/>
          <p:nvPr/>
        </p:nvSpPr>
        <p:spPr>
          <a:xfrm>
            <a:off x="4297680" y="1371600"/>
            <a:ext cx="3474720" cy="3749040"/>
          </a:xfrm>
          <a:prstGeom prst="roundRect">
            <a:avLst>
              <a:gd name="adj" fmla="val 2105"/>
            </a:avLst>
          </a:prstGeom>
          <a:solidFill>
            <a:srgbClr val="F4F6F9"/>
          </a:solidFill>
          <a:ln w="12700">
            <a:solidFill>
              <a:srgbClr val="F4F6F9"/>
            </a:solidFill>
            <a:prstDash val="solid"/>
          </a:ln>
        </p:spPr>
      </p:sp>
      <p:sp>
        <p:nvSpPr>
          <p:cNvPr id="10" name="Shape 7"/>
          <p:cNvSpPr/>
          <p:nvPr/>
        </p:nvSpPr>
        <p:spPr>
          <a:xfrm>
            <a:off x="4572000" y="1600200"/>
            <a:ext cx="640080" cy="640080"/>
          </a:xfrm>
          <a:prstGeom prst="ellipse">
            <a:avLst/>
          </a:prstGeom>
          <a:solidFill>
            <a:srgbClr val="F2A541"/>
          </a:solidFill>
          <a:ln w="12700">
            <a:solidFill>
              <a:srgbClr val="F2A541"/>
            </a:solidFill>
            <a:prstDash val="solid"/>
          </a:ln>
        </p:spPr>
      </p:sp>
      <p:pic>
        <p:nvPicPr>
          <p:cNvPr id="11" name="Image 1" descr="preencoded.png">    </p:cNvPr>
          <p:cNvPicPr>
            <a:picLocks noChangeAspect="1"/>
          </p:cNvPicPr>
          <p:nvPr/>
        </p:nvPicPr>
        <p:blipFill>
          <a:blip r:embed="rId2"/>
          <a:stretch>
            <a:fillRect/>
          </a:stretch>
        </p:blipFill>
        <p:spPr>
          <a:xfrm>
            <a:off x="4725619" y="1753819"/>
            <a:ext cx="332842" cy="332842"/>
          </a:xfrm>
          <a:prstGeom prst="rect">
            <a:avLst/>
          </a:prstGeom>
        </p:spPr>
      </p:pic>
      <p:sp>
        <p:nvSpPr>
          <p:cNvPr id="12" name="Text 8"/>
          <p:cNvSpPr txBox="1"/>
          <p:nvPr/>
        </p:nvSpPr>
        <p:spPr>
          <a:xfrm>
            <a:off x="4572000" y="2377440"/>
            <a:ext cx="3017520" cy="457200"/>
          </a:xfrm>
          <a:prstGeom prst="rect">
            <a:avLst/>
          </a:prstGeom>
          <a:noFill/>
          <a:ln/>
        </p:spPr>
        <p:txBody>
          <a:bodyPr wrap="square" lIns="0" tIns="0" rIns="0" bIns="0" rtlCol="0" anchor="t"/>
          <a:lstStyle/>
          <a:p>
            <a:pPr algn="l" indent="0" marL="0">
              <a:spcAft>
                <a:spcPts val="400"/>
              </a:spcAft>
              <a:buNone/>
            </a:pPr>
            <a:r>
              <a:rPr lang="en-US" sz="1800" b="1" dirty="0">
                <a:solidFill>
                  <a:srgbClr val="0E1A2B"/>
                </a:solidFill>
                <a:latin typeface="Calibri" pitchFamily="34" charset="0"/>
                <a:ea typeface="Calibri" pitchFamily="34" charset="-122"/>
                <a:cs typeface="Calibri" pitchFamily="34" charset="-120"/>
              </a:rPr>
              <a:t>2 · May you use Helios?</a:t>
            </a:r>
            <a:endParaRPr lang="en-US" sz="1800" dirty="0"/>
          </a:p>
        </p:txBody>
      </p:sp>
      <p:sp>
        <p:nvSpPr>
          <p:cNvPr id="13" name="Text 9"/>
          <p:cNvSpPr txBox="1"/>
          <p:nvPr/>
        </p:nvSpPr>
        <p:spPr>
          <a:xfrm>
            <a:off x="4572000" y="2834640"/>
            <a:ext cx="3017520" cy="365760"/>
          </a:xfrm>
          <a:prstGeom prst="rect">
            <a:avLst/>
          </a:prstGeom>
          <a:noFill/>
          <a:ln/>
        </p:spPr>
        <p:txBody>
          <a:bodyPr wrap="square" lIns="0" tIns="0" rIns="0" bIns="0" rtlCol="0" anchor="t"/>
          <a:lstStyle/>
          <a:p>
            <a:pPr algn="l" indent="0" marL="0">
              <a:spcAft>
                <a:spcPts val="400"/>
              </a:spcAft>
              <a:buNone/>
            </a:pPr>
            <a:r>
              <a:rPr lang="en-US" sz="1300" i="1" dirty="0">
                <a:solidFill>
                  <a:srgbClr val="5B6472"/>
                </a:solidFill>
                <a:latin typeface="Calibri" pitchFamily="34" charset="0"/>
                <a:ea typeface="Calibri" pitchFamily="34" charset="-122"/>
                <a:cs typeface="Calibri" pitchFamily="34" charset="-120"/>
              </a:rPr>
              <a:t>RBAC</a:t>
            </a:r>
            <a:endParaRPr lang="en-US" sz="1300" dirty="0"/>
          </a:p>
        </p:txBody>
      </p:sp>
      <p:sp>
        <p:nvSpPr>
          <p:cNvPr id="14" name="Text 10"/>
          <p:cNvSpPr txBox="1"/>
          <p:nvPr/>
        </p:nvSpPr>
        <p:spPr>
          <a:xfrm>
            <a:off x="4572000" y="3246120"/>
            <a:ext cx="3017520" cy="1828800"/>
          </a:xfrm>
          <a:prstGeom prst="rect">
            <a:avLst/>
          </a:prstGeom>
          <a:noFill/>
          <a:ln/>
        </p:spPr>
        <p:txBody>
          <a:bodyPr wrap="square" lIns="0" tIns="0" rIns="0" bIns="0" rtlCol="0" anchor="t"/>
          <a:lstStyle/>
          <a:p>
            <a:pPr algn="l" indent="0" marL="0">
              <a:spcAft>
                <a:spcPts val="400"/>
              </a:spcAft>
              <a:buNone/>
            </a:pPr>
            <a:r>
              <a:rPr lang="en-US" sz="1400" dirty="0">
                <a:solidFill>
                  <a:srgbClr val="1F2937"/>
                </a:solidFill>
                <a:latin typeface="Calibri" pitchFamily="34" charset="0"/>
                <a:ea typeface="Calibri" pitchFamily="34" charset="-122"/>
                <a:cs typeface="Calibri" pitchFamily="34" charset="-120"/>
              </a:rPr>
              <a:t>5 roles (org_admin, model owner / editor / viewer / consumer) across 18 actions, from model.read to query.execute.</a:t>
            </a:r>
            <a:endParaRPr lang="en-US" sz="1400" dirty="0"/>
          </a:p>
        </p:txBody>
      </p:sp>
      <p:sp>
        <p:nvSpPr>
          <p:cNvPr id="15" name="Shape 11"/>
          <p:cNvSpPr/>
          <p:nvPr/>
        </p:nvSpPr>
        <p:spPr>
          <a:xfrm>
            <a:off x="8046720" y="1371600"/>
            <a:ext cx="3474720" cy="3749040"/>
          </a:xfrm>
          <a:prstGeom prst="roundRect">
            <a:avLst>
              <a:gd name="adj" fmla="val 2105"/>
            </a:avLst>
          </a:prstGeom>
          <a:solidFill>
            <a:srgbClr val="F4F6F9"/>
          </a:solidFill>
          <a:ln w="12700">
            <a:solidFill>
              <a:srgbClr val="F4F6F9"/>
            </a:solidFill>
            <a:prstDash val="solid"/>
          </a:ln>
        </p:spPr>
      </p:sp>
      <p:sp>
        <p:nvSpPr>
          <p:cNvPr id="16" name="Shape 12"/>
          <p:cNvSpPr/>
          <p:nvPr/>
        </p:nvSpPr>
        <p:spPr>
          <a:xfrm>
            <a:off x="8321040" y="1600200"/>
            <a:ext cx="640080" cy="640080"/>
          </a:xfrm>
          <a:prstGeom prst="ellipse">
            <a:avLst/>
          </a:prstGeom>
          <a:solidFill>
            <a:srgbClr val="F2A541"/>
          </a:solidFill>
          <a:ln w="12700">
            <a:solidFill>
              <a:srgbClr val="F2A541"/>
            </a:solidFill>
            <a:prstDash val="solid"/>
          </a:ln>
        </p:spPr>
      </p:sp>
      <p:pic>
        <p:nvPicPr>
          <p:cNvPr id="17" name="Image 2" descr="preencoded.png">    </p:cNvPr>
          <p:cNvPicPr>
            <a:picLocks noChangeAspect="1"/>
          </p:cNvPicPr>
          <p:nvPr/>
        </p:nvPicPr>
        <p:blipFill>
          <a:blip r:embed="rId3"/>
          <a:stretch>
            <a:fillRect/>
          </a:stretch>
        </p:blipFill>
        <p:spPr>
          <a:xfrm>
            <a:off x="8474659" y="1753819"/>
            <a:ext cx="332842" cy="332842"/>
          </a:xfrm>
          <a:prstGeom prst="rect">
            <a:avLst/>
          </a:prstGeom>
        </p:spPr>
      </p:pic>
      <p:sp>
        <p:nvSpPr>
          <p:cNvPr id="18" name="Text 13"/>
          <p:cNvSpPr txBox="1"/>
          <p:nvPr/>
        </p:nvSpPr>
        <p:spPr>
          <a:xfrm>
            <a:off x="8321040" y="2377440"/>
            <a:ext cx="3017520" cy="457200"/>
          </a:xfrm>
          <a:prstGeom prst="rect">
            <a:avLst/>
          </a:prstGeom>
          <a:noFill/>
          <a:ln/>
        </p:spPr>
        <p:txBody>
          <a:bodyPr wrap="square" lIns="0" tIns="0" rIns="0" bIns="0" rtlCol="0" anchor="t"/>
          <a:lstStyle/>
          <a:p>
            <a:pPr algn="l" indent="0" marL="0">
              <a:spcAft>
                <a:spcPts val="400"/>
              </a:spcAft>
              <a:buNone/>
            </a:pPr>
            <a:r>
              <a:rPr lang="en-US" sz="1800" b="1" dirty="0">
                <a:solidFill>
                  <a:srgbClr val="0E1A2B"/>
                </a:solidFill>
                <a:latin typeface="Calibri" pitchFamily="34" charset="0"/>
                <a:ea typeface="Calibri" pitchFamily="34" charset="-122"/>
                <a:cs typeface="Calibri" pitchFamily="34" charset="-120"/>
              </a:rPr>
              <a:t>3 · May you see the data?</a:t>
            </a:r>
            <a:endParaRPr lang="en-US" sz="1800" dirty="0"/>
          </a:p>
        </p:txBody>
      </p:sp>
      <p:sp>
        <p:nvSpPr>
          <p:cNvPr id="19" name="Text 14"/>
          <p:cNvSpPr txBox="1"/>
          <p:nvPr/>
        </p:nvSpPr>
        <p:spPr>
          <a:xfrm>
            <a:off x="8321040" y="2834640"/>
            <a:ext cx="3017520" cy="365760"/>
          </a:xfrm>
          <a:prstGeom prst="rect">
            <a:avLst/>
          </a:prstGeom>
          <a:noFill/>
          <a:ln/>
        </p:spPr>
        <p:txBody>
          <a:bodyPr wrap="square" lIns="0" tIns="0" rIns="0" bIns="0" rtlCol="0" anchor="t"/>
          <a:lstStyle/>
          <a:p>
            <a:pPr algn="l" indent="0" marL="0">
              <a:spcAft>
                <a:spcPts val="400"/>
              </a:spcAft>
              <a:buNone/>
            </a:pPr>
            <a:r>
              <a:rPr lang="en-US" sz="1300" i="1" dirty="0">
                <a:solidFill>
                  <a:srgbClr val="5B6472"/>
                </a:solidFill>
                <a:latin typeface="Calibri" pitchFamily="34" charset="0"/>
                <a:ea typeface="Calibri" pitchFamily="34" charset="-122"/>
                <a:cs typeface="Calibri" pitchFamily="34" charset="-120"/>
              </a:rPr>
              <a:t>Data authorization</a:t>
            </a:r>
            <a:endParaRPr lang="en-US" sz="1300" dirty="0"/>
          </a:p>
        </p:txBody>
      </p:sp>
      <p:sp>
        <p:nvSpPr>
          <p:cNvPr id="20" name="Text 15"/>
          <p:cNvSpPr txBox="1"/>
          <p:nvPr/>
        </p:nvSpPr>
        <p:spPr>
          <a:xfrm>
            <a:off x="8321040" y="3246120"/>
            <a:ext cx="3017520" cy="1828800"/>
          </a:xfrm>
          <a:prstGeom prst="rect">
            <a:avLst/>
          </a:prstGeom>
          <a:noFill/>
          <a:ln/>
        </p:spPr>
        <p:txBody>
          <a:bodyPr wrap="square" lIns="0" tIns="0" rIns="0" bIns="0" rtlCol="0" anchor="t"/>
          <a:lstStyle/>
          <a:p>
            <a:pPr algn="l" indent="0" marL="0">
              <a:spcAft>
                <a:spcPts val="400"/>
              </a:spcAft>
              <a:buNone/>
            </a:pPr>
            <a:r>
              <a:rPr lang="en-US" sz="1400" dirty="0">
                <a:solidFill>
                  <a:srgbClr val="1F2937"/>
                </a:solidFill>
                <a:latin typeface="Calibri" pitchFamily="34" charset="0"/>
                <a:ea typeface="Calibri" pitchFamily="34" charset="-122"/>
                <a:cs typeface="Calibri" pitchFamily="34" charset="-120"/>
              </a:rPr>
              <a:t>Queries run as the user via Impala doAs, verified with EFFECTIVE_USER(); Ranger applies table permissions, row filters and masks.</a:t>
            </a:r>
            <a:endParaRPr lang="en-US" sz="1400" dirty="0"/>
          </a:p>
        </p:txBody>
      </p:sp>
      <p:sp>
        <p:nvSpPr>
          <p:cNvPr id="21" name="Shape 16"/>
          <p:cNvSpPr/>
          <p:nvPr/>
        </p:nvSpPr>
        <p:spPr>
          <a:xfrm>
            <a:off x="548640" y="5349240"/>
            <a:ext cx="11064240" cy="731520"/>
          </a:xfrm>
          <a:prstGeom prst="roundRect">
            <a:avLst>
              <a:gd name="adj" fmla="val 10000"/>
            </a:avLst>
          </a:prstGeom>
          <a:solidFill>
            <a:srgbClr val="0E1A2B"/>
          </a:solidFill>
          <a:ln w="12700">
            <a:solidFill>
              <a:srgbClr val="0E1A2B"/>
            </a:solidFill>
            <a:prstDash val="solid"/>
          </a:ln>
        </p:spPr>
      </p:sp>
      <p:sp>
        <p:nvSpPr>
          <p:cNvPr id="22" name="Text 17"/>
          <p:cNvSpPr txBox="1"/>
          <p:nvPr/>
        </p:nvSpPr>
        <p:spPr>
          <a:xfrm>
            <a:off x="822960" y="5349240"/>
            <a:ext cx="10515600" cy="731520"/>
          </a:xfrm>
          <a:prstGeom prst="rect">
            <a:avLst/>
          </a:prstGeom>
          <a:noFill/>
          <a:ln/>
        </p:spPr>
        <p:txBody>
          <a:bodyPr wrap="square" lIns="0" tIns="0" rIns="0" bIns="0" rtlCol="0" anchor="ctr"/>
          <a:lstStyle/>
          <a:p>
            <a:pPr algn="l" indent="0" marL="0">
              <a:spcAft>
                <a:spcPts val="400"/>
              </a:spcAft>
              <a:buNone/>
            </a:pPr>
            <a:r>
              <a:rPr lang="en-US" sz="1400" i="1" dirty="0">
                <a:solidFill>
                  <a:srgbClr val="FFFFFF"/>
                </a:solidFill>
                <a:latin typeface="Calibri" pitchFamily="34" charset="0"/>
                <a:ea typeface="Calibri" pitchFamily="34" charset="-122"/>
                <a:cs typeface="Calibri" pitchFamily="34" charset="-120"/>
              </a:rPr>
              <a:t>"RBAC grants query.execute only as permission to invoke that Helios operation. It does not grant access to the underlying data." Helios can't turn a platform denial into an allow.</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3200" b="1" dirty="0">
                <a:solidFill>
                  <a:srgbClr val="0E1A2B"/>
                </a:solidFill>
                <a:latin typeface="Cambria" pitchFamily="34" charset="0"/>
                <a:ea typeface="Cambria" pitchFamily="34" charset="-122"/>
                <a:cs typeface="Cambria" pitchFamily="34" charset="-120"/>
              </a:rPr>
              <a:t>Agent identity, audit and secret hygiene</a:t>
            </a:r>
            <a:endParaRPr lang="en-US" sz="3200" dirty="0"/>
          </a:p>
        </p:txBody>
      </p:sp>
      <p:sp>
        <p:nvSpPr>
          <p:cNvPr id="3" name="Shape 1"/>
          <p:cNvSpPr/>
          <p:nvPr/>
        </p:nvSpPr>
        <p:spPr>
          <a:xfrm>
            <a:off x="548640" y="1371600"/>
            <a:ext cx="3474720" cy="4480560"/>
          </a:xfrm>
          <a:prstGeom prst="roundRect">
            <a:avLst>
              <a:gd name="adj" fmla="val 2105"/>
            </a:avLst>
          </a:prstGeom>
          <a:solidFill>
            <a:srgbClr val="F4F6F9"/>
          </a:solidFill>
          <a:ln w="12700">
            <a:solidFill>
              <a:srgbClr val="F4F6F9"/>
            </a:solidFill>
            <a:prstDash val="solid"/>
          </a:ln>
        </p:spPr>
      </p:sp>
      <p:sp>
        <p:nvSpPr>
          <p:cNvPr id="4" name="Shape 2"/>
          <p:cNvSpPr/>
          <p:nvPr/>
        </p:nvSpPr>
        <p:spPr>
          <a:xfrm>
            <a:off x="777240" y="1600200"/>
            <a:ext cx="502920" cy="502920"/>
          </a:xfrm>
          <a:prstGeom prst="ellipse">
            <a:avLst/>
          </a:prstGeom>
          <a:solidFill>
            <a:srgbClr val="F2A541"/>
          </a:solidFill>
          <a:ln w="12700">
            <a:solidFill>
              <a:srgbClr val="F2A541"/>
            </a:solidFill>
            <a:prstDash val="solid"/>
          </a:ln>
        </p:spPr>
      </p:sp>
      <p:pic>
        <p:nvPicPr>
          <p:cNvPr id="5" name="Image 0" descr="preencoded.png">    </p:cNvPr>
          <p:cNvPicPr>
            <a:picLocks noChangeAspect="1"/>
          </p:cNvPicPr>
          <p:nvPr/>
        </p:nvPicPr>
        <p:blipFill>
          <a:blip r:embed="rId1"/>
          <a:stretch>
            <a:fillRect/>
          </a:stretch>
        </p:blipFill>
        <p:spPr>
          <a:xfrm>
            <a:off x="897941" y="1720901"/>
            <a:ext cx="261518" cy="261518"/>
          </a:xfrm>
          <a:prstGeom prst="rect">
            <a:avLst/>
          </a:prstGeom>
        </p:spPr>
      </p:pic>
      <p:sp>
        <p:nvSpPr>
          <p:cNvPr id="6" name="Text 3"/>
          <p:cNvSpPr txBox="1"/>
          <p:nvPr/>
        </p:nvSpPr>
        <p:spPr>
          <a:xfrm>
            <a:off x="1417320" y="1572768"/>
            <a:ext cx="242316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Signed principal assertion</a:t>
            </a:r>
            <a:endParaRPr lang="en-US" sz="1700" dirty="0"/>
          </a:p>
        </p:txBody>
      </p:sp>
      <p:sp>
        <p:nvSpPr>
          <p:cNvPr id="7" name="Text 4"/>
          <p:cNvSpPr txBox="1"/>
          <p:nvPr/>
        </p:nvSpPr>
        <p:spPr>
          <a:xfrm>
            <a:off x="822960" y="2240280"/>
            <a:ext cx="2971800" cy="3474720"/>
          </a:xfrm>
          <a:prstGeom prst="rect">
            <a:avLst/>
          </a:prstGeom>
          <a:noFill/>
          <a:ln/>
        </p:spPr>
        <p:txBody>
          <a:bodyPr wrap="square" lIns="0" tIns="0" rIns="0" bIns="0" rtlCol="0" anchor="t"/>
          <a:lstStyle/>
          <a:p>
            <a:pPr indent="0" marL="0">
              <a:buNone/>
            </a:pPr>
            <a:r>
              <a:rPr lang="en-US" sz="1450" dirty="0">
                <a:solidFill>
                  <a:srgbClr val="1F2937"/>
                </a:solidFill>
                <a:latin typeface="Calibri" pitchFamily="34" charset="0"/>
                <a:ea typeface="Calibri" pitchFamily="34" charset="-122"/>
                <a:cs typeface="Calibri" pitchFamily="34" charset="-120"/>
              </a:rPr>
              <a:t>The API → MCP call carries an HMAC-SHA256 assertion that lives 60 seconds and pins the principal, org, model and semantic revision. A shared bearer alone never grants access.</a:t>
            </a:r>
            <a:endParaRPr lang="en-US" sz="1450" dirty="0"/>
          </a:p>
        </p:txBody>
      </p:sp>
      <p:sp>
        <p:nvSpPr>
          <p:cNvPr id="8" name="Shape 5"/>
          <p:cNvSpPr/>
          <p:nvPr/>
        </p:nvSpPr>
        <p:spPr>
          <a:xfrm>
            <a:off x="4297680" y="1371600"/>
            <a:ext cx="3474720" cy="4480560"/>
          </a:xfrm>
          <a:prstGeom prst="roundRect">
            <a:avLst>
              <a:gd name="adj" fmla="val 2105"/>
            </a:avLst>
          </a:prstGeom>
          <a:solidFill>
            <a:srgbClr val="F4F6F9"/>
          </a:solidFill>
          <a:ln w="12700">
            <a:solidFill>
              <a:srgbClr val="F4F6F9"/>
            </a:solidFill>
            <a:prstDash val="solid"/>
          </a:ln>
        </p:spPr>
      </p:sp>
      <p:sp>
        <p:nvSpPr>
          <p:cNvPr id="9" name="Shape 6"/>
          <p:cNvSpPr/>
          <p:nvPr/>
        </p:nvSpPr>
        <p:spPr>
          <a:xfrm>
            <a:off x="4526280" y="1600200"/>
            <a:ext cx="502920" cy="502920"/>
          </a:xfrm>
          <a:prstGeom prst="ellipse">
            <a:avLst/>
          </a:prstGeom>
          <a:solidFill>
            <a:srgbClr val="F2A541"/>
          </a:solidFill>
          <a:ln w="12700">
            <a:solidFill>
              <a:srgbClr val="F2A541"/>
            </a:solidFill>
            <a:prstDash val="solid"/>
          </a:ln>
        </p:spPr>
      </p:sp>
      <p:pic>
        <p:nvPicPr>
          <p:cNvPr id="10" name="Image 1" descr="preencoded.png">    </p:cNvPr>
          <p:cNvPicPr>
            <a:picLocks noChangeAspect="1"/>
          </p:cNvPicPr>
          <p:nvPr/>
        </p:nvPicPr>
        <p:blipFill>
          <a:blip r:embed="rId2"/>
          <a:stretch>
            <a:fillRect/>
          </a:stretch>
        </p:blipFill>
        <p:spPr>
          <a:xfrm>
            <a:off x="4646981" y="1720901"/>
            <a:ext cx="261518" cy="261518"/>
          </a:xfrm>
          <a:prstGeom prst="rect">
            <a:avLst/>
          </a:prstGeom>
        </p:spPr>
      </p:pic>
      <p:sp>
        <p:nvSpPr>
          <p:cNvPr id="11" name="Text 7"/>
          <p:cNvSpPr txBox="1"/>
          <p:nvPr/>
        </p:nvSpPr>
        <p:spPr>
          <a:xfrm>
            <a:off x="5166360" y="1572768"/>
            <a:ext cx="242316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Append-only audit</a:t>
            </a:r>
            <a:endParaRPr lang="en-US" sz="1700" dirty="0"/>
          </a:p>
        </p:txBody>
      </p:sp>
      <p:sp>
        <p:nvSpPr>
          <p:cNvPr id="12" name="Text 8"/>
          <p:cNvSpPr txBox="1"/>
          <p:nvPr/>
        </p:nvSpPr>
        <p:spPr>
          <a:xfrm>
            <a:off x="4572000" y="2240280"/>
            <a:ext cx="2971800" cy="3474720"/>
          </a:xfrm>
          <a:prstGeom prst="rect">
            <a:avLst/>
          </a:prstGeom>
          <a:noFill/>
          <a:ln/>
        </p:spPr>
        <p:txBody>
          <a:bodyPr wrap="square" lIns="0" tIns="0" rIns="0" bIns="0" rtlCol="0" anchor="t"/>
          <a:lstStyle/>
          <a:p>
            <a:pPr indent="0" marL="0">
              <a:buNone/>
            </a:pPr>
            <a:r>
              <a:rPr lang="en-US" sz="1450" dirty="0">
                <a:solidFill>
                  <a:srgbClr val="1F2937"/>
                </a:solidFill>
                <a:latin typeface="Calibri" pitchFamily="34" charset="0"/>
                <a:ea typeface="Calibri" pitchFamily="34" charset="-122"/>
                <a:cs typeface="Calibri" pitchFamily="34" charset="-120"/>
              </a:rPr>
              <a:t>Audit events are kept 30 days by default. They exclude credentials, prompts, answers, SQL and rows. Users see their own events; admins see the org's.</a:t>
            </a:r>
            <a:endParaRPr lang="en-US" sz="1450" dirty="0"/>
          </a:p>
        </p:txBody>
      </p:sp>
      <p:sp>
        <p:nvSpPr>
          <p:cNvPr id="13" name="Shape 9"/>
          <p:cNvSpPr/>
          <p:nvPr/>
        </p:nvSpPr>
        <p:spPr>
          <a:xfrm>
            <a:off x="8046720" y="1371600"/>
            <a:ext cx="3474720" cy="4480560"/>
          </a:xfrm>
          <a:prstGeom prst="roundRect">
            <a:avLst>
              <a:gd name="adj" fmla="val 2105"/>
            </a:avLst>
          </a:prstGeom>
          <a:solidFill>
            <a:srgbClr val="F4F6F9"/>
          </a:solidFill>
          <a:ln w="12700">
            <a:solidFill>
              <a:srgbClr val="F4F6F9"/>
            </a:solidFill>
            <a:prstDash val="solid"/>
          </a:ln>
        </p:spPr>
      </p:sp>
      <p:sp>
        <p:nvSpPr>
          <p:cNvPr id="14" name="Shape 10"/>
          <p:cNvSpPr/>
          <p:nvPr/>
        </p:nvSpPr>
        <p:spPr>
          <a:xfrm>
            <a:off x="8275320" y="1600200"/>
            <a:ext cx="502920" cy="502920"/>
          </a:xfrm>
          <a:prstGeom prst="ellipse">
            <a:avLst/>
          </a:prstGeom>
          <a:solidFill>
            <a:srgbClr val="F2A541"/>
          </a:solidFill>
          <a:ln w="12700">
            <a:solidFill>
              <a:srgbClr val="F2A541"/>
            </a:solidFill>
            <a:prstDash val="solid"/>
          </a:ln>
        </p:spPr>
      </p:sp>
      <p:pic>
        <p:nvPicPr>
          <p:cNvPr id="15" name="Image 2" descr="preencoded.png">    </p:cNvPr>
          <p:cNvPicPr>
            <a:picLocks noChangeAspect="1"/>
          </p:cNvPicPr>
          <p:nvPr/>
        </p:nvPicPr>
        <p:blipFill>
          <a:blip r:embed="rId3"/>
          <a:stretch>
            <a:fillRect/>
          </a:stretch>
        </p:blipFill>
        <p:spPr>
          <a:xfrm>
            <a:off x="8396021" y="1720901"/>
            <a:ext cx="261518" cy="261518"/>
          </a:xfrm>
          <a:prstGeom prst="rect">
            <a:avLst/>
          </a:prstGeom>
        </p:spPr>
      </p:pic>
      <p:sp>
        <p:nvSpPr>
          <p:cNvPr id="16" name="Text 11"/>
          <p:cNvSpPr txBox="1"/>
          <p:nvPr/>
        </p:nvSpPr>
        <p:spPr>
          <a:xfrm>
            <a:off x="8915400" y="1572768"/>
            <a:ext cx="242316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Secrets stay server-side</a:t>
            </a:r>
            <a:endParaRPr lang="en-US" sz="1700" dirty="0"/>
          </a:p>
        </p:txBody>
      </p:sp>
      <p:sp>
        <p:nvSpPr>
          <p:cNvPr id="17" name="Text 12"/>
          <p:cNvSpPr txBox="1"/>
          <p:nvPr/>
        </p:nvSpPr>
        <p:spPr>
          <a:xfrm>
            <a:off x="8321040" y="2240280"/>
            <a:ext cx="2971800" cy="3474720"/>
          </a:xfrm>
          <a:prstGeom prst="rect">
            <a:avLst/>
          </a:prstGeom>
          <a:noFill/>
          <a:ln/>
        </p:spPr>
        <p:txBody>
          <a:bodyPr wrap="square" lIns="0" tIns="0" rIns="0" bIns="0" rtlCol="0" anchor="t"/>
          <a:lstStyle/>
          <a:p>
            <a:pPr indent="0" marL="0">
              <a:buNone/>
            </a:pPr>
            <a:r>
              <a:rPr lang="en-US" sz="1450" dirty="0">
                <a:solidFill>
                  <a:srgbClr val="1F2937"/>
                </a:solidFill>
                <a:latin typeface="Calibri" pitchFamily="34" charset="0"/>
                <a:ea typeface="Calibri" pitchFamily="34" charset="-122"/>
                <a:cs typeface="Calibri" pitchFamily="34" charset="-120"/>
              </a:rPr>
              <a:t>The browser never receives the MCP bearer, delegation secret, LLM key or Impala credential. CORS is exact-origin, never *.</a:t>
            </a:r>
            <a:endParaRPr lang="en-US" sz="14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3200" b="1" dirty="0">
                <a:solidFill>
                  <a:srgbClr val="0E1A2B"/>
                </a:solidFill>
                <a:latin typeface="Cambria" pitchFamily="34" charset="0"/>
                <a:ea typeface="Cambria" pitchFamily="34" charset="-122"/>
                <a:cs typeface="Cambria" pitchFamily="34" charset="-120"/>
              </a:rPr>
              <a:t>Measuring answer quality</a:t>
            </a:r>
            <a:endParaRPr lang="en-US" sz="3200" dirty="0"/>
          </a:p>
        </p:txBody>
      </p:sp>
      <p:sp>
        <p:nvSpPr>
          <p:cNvPr id="3" name="Text 1"/>
          <p:cNvSpPr txBox="1"/>
          <p:nvPr/>
        </p:nvSpPr>
        <p:spPr>
          <a:xfrm>
            <a:off x="548640" y="1417320"/>
            <a:ext cx="5486400" cy="3017520"/>
          </a:xfrm>
          <a:prstGeom prst="rect">
            <a:avLst/>
          </a:prstGeom>
          <a:noFill/>
          <a:ln/>
        </p:spPr>
        <p:txBody>
          <a:bodyPr wrap="square" lIns="0" tIns="0" rIns="0" bIns="0" rtlCol="0" anchor="t"/>
          <a:lstStyle/>
          <a:p>
            <a:pPr marL="342900" indent="-342900">
              <a:spcAft>
                <a:spcPts val="600"/>
              </a:spcAft>
              <a:buSzPct val="100000"/>
              <a:buChar char="•"/>
            </a:pPr>
            <a:r>
              <a:rPr lang="en-US" sz="1500" b="1" dirty="0">
                <a:solidFill>
                  <a:srgbClr val="1F2937"/>
                </a:solidFill>
                <a:latin typeface="Calibri" pitchFamily="34" charset="0"/>
                <a:ea typeface="Calibri" pitchFamily="34" charset="-122"/>
                <a:cs typeface="Calibri" pitchFamily="34" charset="-120"/>
              </a:rPr>
              <a:t>TPC-DS evaluation suite: 20 questions</a:t>
            </a:r>
            <a:endParaRPr lang="en-US" sz="1500" dirty="0"/>
          </a:p>
          <a:p>
            <a:pPr lvl="1" marL="685800" indent="-3429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Revenue, quantity, profit and margin per channel; returns; joins to store and customer address</a:t>
            </a:r>
            <a:endParaRPr lang="en-US" sz="1500" dirty="0"/>
          </a:p>
          <a:p>
            <a:pPr lvl="1" marL="685800" indent="-3429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Each question has reference SQL and the minimum tools needed</a:t>
            </a:r>
            <a:endParaRPr lang="en-US" sz="1500" dirty="0"/>
          </a:p>
          <a:p>
            <a:pPr marL="342900" indent="-342900">
              <a:spcAft>
                <a:spcPts val="600"/>
              </a:spcAft>
              <a:buSzPct val="100000"/>
              <a:buChar char="•"/>
            </a:pPr>
            <a:r>
              <a:rPr lang="en-US" sz="1500" b="1" dirty="0">
                <a:solidFill>
                  <a:srgbClr val="1F2937"/>
                </a:solidFill>
                <a:latin typeface="Calibri" pitchFamily="34" charset="0"/>
                <a:ea typeface="Calibri" pitchFamily="34" charset="-122"/>
                <a:cs typeface="Calibri" pitchFamily="34" charset="-120"/>
              </a:rPr>
              <a:t>Model comparison (admins)</a:t>
            </a:r>
            <a:endParaRPr lang="en-US" sz="1500" dirty="0"/>
          </a:p>
          <a:p>
            <a:pPr lvl="1" marL="685800" indent="-3429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Project default LLM vs. a session override, same prompt and tools, 1–5 repetitions</a:t>
            </a:r>
            <a:endParaRPr lang="en-US" sz="1500" dirty="0"/>
          </a:p>
          <a:p>
            <a:pPr lvl="1" marL="685800" indent="-3429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Correct when results match the reference SQL run on Impala</a:t>
            </a:r>
            <a:endParaRPr lang="en-US" sz="1500" dirty="0"/>
          </a:p>
        </p:txBody>
      </p:sp>
      <p:sp>
        <p:nvSpPr>
          <p:cNvPr id="4" name="Text 2"/>
          <p:cNvSpPr txBox="1"/>
          <p:nvPr/>
        </p:nvSpPr>
        <p:spPr>
          <a:xfrm>
            <a:off x="548640" y="4572000"/>
            <a:ext cx="2651760" cy="347472"/>
          </a:xfrm>
          <a:prstGeom prst="rect">
            <a:avLst/>
          </a:prstGeom>
          <a:noFill/>
          <a:ln/>
        </p:spPr>
        <p:txBody>
          <a:bodyPr wrap="square" lIns="0" tIns="0" rIns="0" bIns="0" rtlCol="0" anchor="t"/>
          <a:lstStyle/>
          <a:p>
            <a:pPr algn="l" indent="0" marL="0">
              <a:spcAft>
                <a:spcPts val="400"/>
              </a:spcAft>
              <a:buNone/>
            </a:pPr>
            <a:r>
              <a:rPr lang="en-US" sz="1300" dirty="0">
                <a:solidFill>
                  <a:srgbClr val="0E1A2B"/>
                </a:solidFill>
                <a:latin typeface="Calibri" pitchFamily="34" charset="0"/>
                <a:ea typeface="Calibri" pitchFamily="34" charset="-122"/>
                <a:cs typeface="Calibri" pitchFamily="34" charset="-120"/>
              </a:rPr>
              <a:t>• answer accuracy</a:t>
            </a:r>
            <a:endParaRPr lang="en-US" sz="1300" dirty="0"/>
          </a:p>
        </p:txBody>
      </p:sp>
      <p:sp>
        <p:nvSpPr>
          <p:cNvPr id="5" name="Text 3"/>
          <p:cNvSpPr txBox="1"/>
          <p:nvPr/>
        </p:nvSpPr>
        <p:spPr>
          <a:xfrm>
            <a:off x="3291840" y="4572000"/>
            <a:ext cx="2651760" cy="347472"/>
          </a:xfrm>
          <a:prstGeom prst="rect">
            <a:avLst/>
          </a:prstGeom>
          <a:noFill/>
          <a:ln/>
        </p:spPr>
        <p:txBody>
          <a:bodyPr wrap="square" lIns="0" tIns="0" rIns="0" bIns="0" rtlCol="0" anchor="t"/>
          <a:lstStyle/>
          <a:p>
            <a:pPr algn="l" indent="0" marL="0">
              <a:spcAft>
                <a:spcPts val="400"/>
              </a:spcAft>
              <a:buNone/>
            </a:pPr>
            <a:r>
              <a:rPr lang="en-US" sz="1300" dirty="0">
                <a:solidFill>
                  <a:srgbClr val="0E1A2B"/>
                </a:solidFill>
                <a:latin typeface="Calibri" pitchFamily="34" charset="0"/>
                <a:ea typeface="Calibri" pitchFamily="34" charset="-122"/>
                <a:cs typeface="Calibri" pitchFamily="34" charset="-120"/>
              </a:rPr>
              <a:t>• completion rate</a:t>
            </a:r>
            <a:endParaRPr lang="en-US" sz="1300" dirty="0"/>
          </a:p>
        </p:txBody>
      </p:sp>
      <p:sp>
        <p:nvSpPr>
          <p:cNvPr id="6" name="Text 4"/>
          <p:cNvSpPr txBox="1"/>
          <p:nvPr/>
        </p:nvSpPr>
        <p:spPr>
          <a:xfrm>
            <a:off x="548640" y="4937760"/>
            <a:ext cx="2651760" cy="347472"/>
          </a:xfrm>
          <a:prstGeom prst="rect">
            <a:avLst/>
          </a:prstGeom>
          <a:noFill/>
          <a:ln/>
        </p:spPr>
        <p:txBody>
          <a:bodyPr wrap="square" lIns="0" tIns="0" rIns="0" bIns="0" rtlCol="0" anchor="t"/>
          <a:lstStyle/>
          <a:p>
            <a:pPr algn="l" indent="0" marL="0">
              <a:spcAft>
                <a:spcPts val="400"/>
              </a:spcAft>
              <a:buNone/>
            </a:pPr>
            <a:r>
              <a:rPr lang="en-US" sz="1300" dirty="0">
                <a:solidFill>
                  <a:srgbClr val="0E1A2B"/>
                </a:solidFill>
                <a:latin typeface="Calibri" pitchFamily="34" charset="0"/>
                <a:ea typeface="Calibri" pitchFamily="34" charset="-122"/>
                <a:cs typeface="Calibri" pitchFamily="34" charset="-120"/>
              </a:rPr>
              <a:t>• grounding rate</a:t>
            </a:r>
            <a:endParaRPr lang="en-US" sz="1300" dirty="0"/>
          </a:p>
        </p:txBody>
      </p:sp>
      <p:sp>
        <p:nvSpPr>
          <p:cNvPr id="7" name="Text 5"/>
          <p:cNvSpPr txBox="1"/>
          <p:nvPr/>
        </p:nvSpPr>
        <p:spPr>
          <a:xfrm>
            <a:off x="3291840" y="4937760"/>
            <a:ext cx="2651760" cy="347472"/>
          </a:xfrm>
          <a:prstGeom prst="rect">
            <a:avLst/>
          </a:prstGeom>
          <a:noFill/>
          <a:ln/>
        </p:spPr>
        <p:txBody>
          <a:bodyPr wrap="square" lIns="0" tIns="0" rIns="0" bIns="0" rtlCol="0" anchor="t"/>
          <a:lstStyle/>
          <a:p>
            <a:pPr algn="l" indent="0" marL="0">
              <a:spcAft>
                <a:spcPts val="400"/>
              </a:spcAft>
              <a:buNone/>
            </a:pPr>
            <a:r>
              <a:rPr lang="en-US" sz="1300" dirty="0">
                <a:solidFill>
                  <a:srgbClr val="0E1A2B"/>
                </a:solidFill>
                <a:latin typeface="Calibri" pitchFamily="34" charset="0"/>
                <a:ea typeface="Calibri" pitchFamily="34" charset="-122"/>
                <a:cs typeface="Calibri" pitchFamily="34" charset="-120"/>
              </a:rPr>
              <a:t>• excess tool calls</a:t>
            </a:r>
            <a:endParaRPr lang="en-US" sz="1300" dirty="0"/>
          </a:p>
        </p:txBody>
      </p:sp>
      <p:sp>
        <p:nvSpPr>
          <p:cNvPr id="8" name="Text 6"/>
          <p:cNvSpPr txBox="1"/>
          <p:nvPr/>
        </p:nvSpPr>
        <p:spPr>
          <a:xfrm>
            <a:off x="548640" y="5303520"/>
            <a:ext cx="2651760" cy="347472"/>
          </a:xfrm>
          <a:prstGeom prst="rect">
            <a:avLst/>
          </a:prstGeom>
          <a:noFill/>
          <a:ln/>
        </p:spPr>
        <p:txBody>
          <a:bodyPr wrap="square" lIns="0" tIns="0" rIns="0" bIns="0" rtlCol="0" anchor="t"/>
          <a:lstStyle/>
          <a:p>
            <a:pPr algn="l" indent="0" marL="0">
              <a:spcAft>
                <a:spcPts val="400"/>
              </a:spcAft>
              <a:buNone/>
            </a:pPr>
            <a:r>
              <a:rPr lang="en-US" sz="1300" dirty="0">
                <a:solidFill>
                  <a:srgbClr val="0E1A2B"/>
                </a:solidFill>
                <a:latin typeface="Calibri" pitchFamily="34" charset="0"/>
                <a:ea typeface="Calibri" pitchFamily="34" charset="-122"/>
                <a:cs typeface="Calibri" pitchFamily="34" charset="-120"/>
              </a:rPr>
              <a:t>• invalid call rate</a:t>
            </a:r>
            <a:endParaRPr lang="en-US" sz="1300" dirty="0"/>
          </a:p>
        </p:txBody>
      </p:sp>
      <p:sp>
        <p:nvSpPr>
          <p:cNvPr id="9" name="Text 7"/>
          <p:cNvSpPr txBox="1"/>
          <p:nvPr/>
        </p:nvSpPr>
        <p:spPr>
          <a:xfrm>
            <a:off x="3291840" y="5303520"/>
            <a:ext cx="2651760" cy="347472"/>
          </a:xfrm>
          <a:prstGeom prst="rect">
            <a:avLst/>
          </a:prstGeom>
          <a:noFill/>
          <a:ln/>
        </p:spPr>
        <p:txBody>
          <a:bodyPr wrap="square" lIns="0" tIns="0" rIns="0" bIns="0" rtlCol="0" anchor="t"/>
          <a:lstStyle/>
          <a:p>
            <a:pPr algn="l" indent="0" marL="0">
              <a:spcAft>
                <a:spcPts val="400"/>
              </a:spcAft>
              <a:buNone/>
            </a:pPr>
            <a:r>
              <a:rPr lang="en-US" sz="1300" dirty="0">
                <a:solidFill>
                  <a:srgbClr val="0E1A2B"/>
                </a:solidFill>
                <a:latin typeface="Calibri" pitchFamily="34" charset="0"/>
                <a:ea typeface="Calibri" pitchFamily="34" charset="-122"/>
                <a:cs typeface="Calibri" pitchFamily="34" charset="-120"/>
              </a:rPr>
              <a:t>• recovery rate</a:t>
            </a:r>
            <a:endParaRPr lang="en-US" sz="1300" dirty="0"/>
          </a:p>
        </p:txBody>
      </p:sp>
      <p:sp>
        <p:nvSpPr>
          <p:cNvPr id="10" name="Text 8"/>
          <p:cNvSpPr txBox="1"/>
          <p:nvPr/>
        </p:nvSpPr>
        <p:spPr>
          <a:xfrm>
            <a:off x="548640" y="5669280"/>
            <a:ext cx="2651760" cy="347472"/>
          </a:xfrm>
          <a:prstGeom prst="rect">
            <a:avLst/>
          </a:prstGeom>
          <a:noFill/>
          <a:ln/>
        </p:spPr>
        <p:txBody>
          <a:bodyPr wrap="square" lIns="0" tIns="0" rIns="0" bIns="0" rtlCol="0" anchor="t"/>
          <a:lstStyle/>
          <a:p>
            <a:pPr algn="l" indent="0" marL="0">
              <a:spcAft>
                <a:spcPts val="400"/>
              </a:spcAft>
              <a:buNone/>
            </a:pPr>
            <a:r>
              <a:rPr lang="en-US" sz="1300" dirty="0">
                <a:solidFill>
                  <a:srgbClr val="0E1A2B"/>
                </a:solidFill>
                <a:latin typeface="Calibri" pitchFamily="34" charset="0"/>
                <a:ea typeface="Calibri" pitchFamily="34" charset="-122"/>
                <a:cs typeface="Calibri" pitchFamily="34" charset="-120"/>
              </a:rPr>
              <a:t>• tokens per correct answer</a:t>
            </a:r>
            <a:endParaRPr lang="en-US" sz="1300" dirty="0"/>
          </a:p>
        </p:txBody>
      </p:sp>
      <p:sp>
        <p:nvSpPr>
          <p:cNvPr id="11" name="Text 9"/>
          <p:cNvSpPr txBox="1"/>
          <p:nvPr/>
        </p:nvSpPr>
        <p:spPr>
          <a:xfrm>
            <a:off x="3291840" y="5669280"/>
            <a:ext cx="2651760" cy="347472"/>
          </a:xfrm>
          <a:prstGeom prst="rect">
            <a:avLst/>
          </a:prstGeom>
          <a:noFill/>
          <a:ln/>
        </p:spPr>
        <p:txBody>
          <a:bodyPr wrap="square" lIns="0" tIns="0" rIns="0" bIns="0" rtlCol="0" anchor="t"/>
          <a:lstStyle/>
          <a:p>
            <a:pPr algn="l" indent="0" marL="0">
              <a:spcAft>
                <a:spcPts val="400"/>
              </a:spcAft>
              <a:buNone/>
            </a:pPr>
            <a:r>
              <a:rPr lang="en-US" sz="1300" dirty="0">
                <a:solidFill>
                  <a:srgbClr val="0E1A2B"/>
                </a:solidFill>
                <a:latin typeface="Calibri" pitchFamily="34" charset="0"/>
                <a:ea typeface="Calibri" pitchFamily="34" charset="-122"/>
                <a:cs typeface="Calibri" pitchFamily="34" charset="-120"/>
              </a:rPr>
              <a:t>• ms per correct answer</a:t>
            </a:r>
            <a:endParaRPr lang="en-US" sz="1300" dirty="0"/>
          </a:p>
        </p:txBody>
      </p:sp>
      <p:sp>
        <p:nvSpPr>
          <p:cNvPr id="12" name="Shape 10"/>
          <p:cNvSpPr/>
          <p:nvPr/>
        </p:nvSpPr>
        <p:spPr>
          <a:xfrm>
            <a:off x="6309360" y="1417320"/>
            <a:ext cx="5303520" cy="4526280"/>
          </a:xfrm>
          <a:prstGeom prst="roundRect">
            <a:avLst>
              <a:gd name="adj" fmla="val 1212"/>
            </a:avLst>
          </a:prstGeom>
          <a:solidFill>
            <a:srgbClr val="EEF1F5"/>
          </a:solidFill>
          <a:ln w="15875">
            <a:solidFill>
              <a:srgbClr val="9AA5B4"/>
            </a:solidFill>
            <a:prstDash val="dash"/>
          </a:ln>
        </p:spPr>
      </p:sp>
      <p:pic>
        <p:nvPicPr>
          <p:cNvPr id="13" name="Image 0" descr="preencoded.png">    </p:cNvPr>
          <p:cNvPicPr>
            <a:picLocks noChangeAspect="1"/>
          </p:cNvPicPr>
          <p:nvPr/>
        </p:nvPicPr>
        <p:blipFill>
          <a:blip r:embed="rId1"/>
          <a:stretch>
            <a:fillRect/>
          </a:stretch>
        </p:blipFill>
        <p:spPr>
          <a:xfrm>
            <a:off x="8595360" y="2857500"/>
            <a:ext cx="731520" cy="731520"/>
          </a:xfrm>
          <a:prstGeom prst="rect">
            <a:avLst/>
          </a:prstGeom>
        </p:spPr>
      </p:pic>
      <p:sp>
        <p:nvSpPr>
          <p:cNvPr id="14" name="Text 11"/>
          <p:cNvSpPr txBox="1"/>
          <p:nvPr/>
        </p:nvSpPr>
        <p:spPr>
          <a:xfrm>
            <a:off x="6583680" y="3726180"/>
            <a:ext cx="4754880" cy="1097280"/>
          </a:xfrm>
          <a:prstGeom prst="rect">
            <a:avLst/>
          </a:prstGeom>
          <a:noFill/>
          <a:ln/>
        </p:spPr>
        <p:txBody>
          <a:bodyPr wrap="square" lIns="0" tIns="0" rIns="0" bIns="0" rtlCol="0" anchor="t"/>
          <a:lstStyle/>
          <a:p>
            <a:pPr algn="ctr" indent="0" marL="0">
              <a:buNone/>
            </a:pPr>
            <a:r>
              <a:rPr lang="en-US" sz="1200" b="1" dirty="0">
                <a:solidFill>
                  <a:srgbClr val="6B7686"/>
                </a:solidFill>
                <a:latin typeface="Calibri" pitchFamily="34" charset="0"/>
                <a:ea typeface="Calibri" pitchFamily="34" charset="-122"/>
                <a:cs typeface="Calibri" pitchFamily="34" charset="-120"/>
              </a:rPr>
              <a:t>SCREENSHOT PLACEHOLDER</a:t>
            </a:r>
            <a:endParaRPr lang="en-US" sz="1200" dirty="0"/>
          </a:p>
          <a:p>
            <a:pPr algn="ctr" indent="0" marL="0">
              <a:buNone/>
            </a:pPr>
            <a:r>
              <a:rPr lang="en-US" sz="1300" dirty="0">
                <a:solidFill>
                  <a:srgbClr val="4B5563"/>
                </a:solidFill>
                <a:latin typeface="Calibri" pitchFamily="34" charset="0"/>
                <a:ea typeface="Calibri" pitchFamily="34" charset="-122"/>
                <a:cs typeface="Calibri" pitchFamily="34" charset="-120"/>
              </a:rPr>
              <a:t>MCP Management → Evaluations: "Model comparison" with the metrics</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E1A2B"/>
        </a:solidFill>
      </p:bgPr>
    </p:bg>
    <p:spTree>
      <p:nvGrpSpPr>
        <p:cNvPr id="1" name=""/>
        <p:cNvGrpSpPr/>
        <p:nvPr/>
      </p:nvGrpSpPr>
      <p:grpSpPr>
        <a:xfrm>
          <a:off x="0" y="0"/>
          <a:ext cx="0" cy="0"/>
          <a:chOff x="0" y="0"/>
          <a:chExt cx="0" cy="0"/>
        </a:xfrm>
      </p:grpSpPr>
      <p:sp>
        <p:nvSpPr>
          <p:cNvPr id="2" name="Shape 0"/>
          <p:cNvSpPr/>
          <p:nvPr/>
        </p:nvSpPr>
        <p:spPr>
          <a:xfrm>
            <a:off x="8412480" y="1097280"/>
            <a:ext cx="4754880" cy="4754880"/>
          </a:xfrm>
          <a:prstGeom prst="ellipse">
            <a:avLst/>
          </a:prstGeom>
          <a:solidFill>
            <a:srgbClr val="1C2F4A"/>
          </a:solidFill>
          <a:ln w="12700">
            <a:solidFill>
              <a:srgbClr val="1C2F4A"/>
            </a:solidFill>
            <a:prstDash val="solid"/>
          </a:ln>
        </p:spPr>
      </p:sp>
      <p:sp>
        <p:nvSpPr>
          <p:cNvPr id="3" name="Shape 1"/>
          <p:cNvSpPr/>
          <p:nvPr/>
        </p:nvSpPr>
        <p:spPr>
          <a:xfrm>
            <a:off x="9966960" y="2651760"/>
            <a:ext cx="1645920" cy="1645920"/>
          </a:xfrm>
          <a:prstGeom prst="ellipse">
            <a:avLst/>
          </a:prstGeom>
          <a:solidFill>
            <a:srgbClr val="F2A541"/>
          </a:solidFill>
          <a:ln w="12700">
            <a:solidFill>
              <a:srgbClr val="F2A541"/>
            </a:solidFill>
            <a:prstDash val="solid"/>
          </a:ln>
        </p:spPr>
      </p:sp>
      <p:pic>
        <p:nvPicPr>
          <p:cNvPr id="4" name="Image 0" descr="preencoded.png">    </p:cNvPr>
          <p:cNvPicPr>
            <a:picLocks noChangeAspect="1"/>
          </p:cNvPicPr>
          <p:nvPr/>
        </p:nvPicPr>
        <p:blipFill>
          <a:blip r:embed="rId1"/>
          <a:stretch>
            <a:fillRect/>
          </a:stretch>
        </p:blipFill>
        <p:spPr>
          <a:xfrm>
            <a:off x="10361981" y="3046781"/>
            <a:ext cx="855878" cy="855878"/>
          </a:xfrm>
          <a:prstGeom prst="rect">
            <a:avLst/>
          </a:prstGeom>
        </p:spPr>
      </p:pic>
      <p:sp>
        <p:nvSpPr>
          <p:cNvPr id="5" name="Text 2"/>
          <p:cNvSpPr txBox="1"/>
          <p:nvPr/>
        </p:nvSpPr>
        <p:spPr>
          <a:xfrm>
            <a:off x="731520" y="2011680"/>
            <a:ext cx="6858000" cy="365760"/>
          </a:xfrm>
          <a:prstGeom prst="rect">
            <a:avLst/>
          </a:prstGeom>
          <a:noFill/>
          <a:ln/>
        </p:spPr>
        <p:txBody>
          <a:bodyPr wrap="square" lIns="0" tIns="0" rIns="0" bIns="0" rtlCol="0" anchor="ctr"/>
          <a:lstStyle/>
          <a:p>
            <a:pPr indent="0" marL="0">
              <a:buNone/>
            </a:pPr>
            <a:r>
              <a:rPr lang="en-US" sz="1400" b="1" spc="300" kern="0" dirty="0">
                <a:solidFill>
                  <a:srgbClr val="F2A541"/>
                </a:solidFill>
                <a:latin typeface="Calibri" pitchFamily="34" charset="0"/>
                <a:ea typeface="Calibri" pitchFamily="34" charset="-122"/>
                <a:cs typeface="Calibri" pitchFamily="34" charset="-120"/>
              </a:rPr>
              <a:t>PART 5 OF 6</a:t>
            </a:r>
            <a:endParaRPr lang="en-US" sz="1400" dirty="0"/>
          </a:p>
        </p:txBody>
      </p:sp>
      <p:sp>
        <p:nvSpPr>
          <p:cNvPr id="6" name="Text 3"/>
          <p:cNvSpPr txBox="1"/>
          <p:nvPr/>
        </p:nvSpPr>
        <p:spPr>
          <a:xfrm>
            <a:off x="731520" y="2468880"/>
            <a:ext cx="7498080" cy="118872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The Helios UI</a:t>
            </a:r>
            <a:endParaRPr lang="en-US" sz="4400" dirty="0"/>
          </a:p>
        </p:txBody>
      </p:sp>
      <p:sp>
        <p:nvSpPr>
          <p:cNvPr id="7" name="Text 4"/>
          <p:cNvSpPr txBox="1"/>
          <p:nvPr/>
        </p:nvSpPr>
        <p:spPr>
          <a:xfrm>
            <a:off x="731520" y="3749040"/>
            <a:ext cx="6949440" cy="1097280"/>
          </a:xfrm>
          <a:prstGeom prst="rect">
            <a:avLst/>
          </a:prstGeom>
          <a:noFill/>
          <a:ln/>
        </p:spPr>
        <p:txBody>
          <a:bodyPr wrap="square" lIns="0" tIns="0" rIns="0" bIns="0" rtlCol="0" anchor="t"/>
          <a:lstStyle/>
          <a:p>
            <a:pPr indent="0" marL="0">
              <a:buNone/>
            </a:pPr>
            <a:r>
              <a:rPr lang="en-US" sz="1800" dirty="0">
                <a:solidFill>
                  <a:srgbClr val="C9D3E0"/>
                </a:solidFill>
                <a:latin typeface="Calibri" pitchFamily="34" charset="0"/>
                <a:ea typeface="Calibri" pitchFamily="34" charset="-122"/>
                <a:cs typeface="Calibri" pitchFamily="34" charset="-120"/>
              </a:rPr>
              <a:t>Conversation-first: ask questions, build and review the model, and govern tools, providers and glossary in one place.</a:t>
            </a:r>
            <a:endParaRPr lang="en-US" sz="1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3200" b="1" dirty="0">
                <a:solidFill>
                  <a:srgbClr val="0E1A2B"/>
                </a:solidFill>
                <a:latin typeface="Cambria" pitchFamily="34" charset="0"/>
                <a:ea typeface="Cambria" pitchFamily="34" charset="-122"/>
                <a:cs typeface="Cambria" pitchFamily="34" charset="-120"/>
              </a:rPr>
              <a:t>Navigation at a glance</a:t>
            </a:r>
            <a:endParaRPr lang="en-US" sz="3200" dirty="0"/>
          </a:p>
        </p:txBody>
      </p:sp>
      <p:sp>
        <p:nvSpPr>
          <p:cNvPr id="3" name="Shape 1"/>
          <p:cNvSpPr/>
          <p:nvPr/>
        </p:nvSpPr>
        <p:spPr>
          <a:xfrm>
            <a:off x="548640" y="1371600"/>
            <a:ext cx="2606040" cy="4572000"/>
          </a:xfrm>
          <a:prstGeom prst="roundRect">
            <a:avLst>
              <a:gd name="adj" fmla="val 2807"/>
            </a:avLst>
          </a:prstGeom>
          <a:solidFill>
            <a:srgbClr val="0E1A2B"/>
          </a:solidFill>
          <a:ln w="12700">
            <a:solidFill>
              <a:srgbClr val="0E1A2B"/>
            </a:solidFill>
            <a:prstDash val="solid"/>
          </a:ln>
        </p:spPr>
      </p:sp>
      <p:sp>
        <p:nvSpPr>
          <p:cNvPr id="4" name="Shape 2"/>
          <p:cNvSpPr/>
          <p:nvPr/>
        </p:nvSpPr>
        <p:spPr>
          <a:xfrm>
            <a:off x="822960" y="1600200"/>
            <a:ext cx="640080" cy="640080"/>
          </a:xfrm>
          <a:prstGeom prst="ellipse">
            <a:avLst/>
          </a:prstGeom>
          <a:solidFill>
            <a:srgbClr val="F2A541"/>
          </a:solidFill>
          <a:ln w="12700">
            <a:solidFill>
              <a:srgbClr val="F2A541"/>
            </a:solidFill>
            <a:prstDash val="solid"/>
          </a:ln>
        </p:spPr>
      </p:sp>
      <p:pic>
        <p:nvPicPr>
          <p:cNvPr id="5" name="Image 0" descr="preencoded.png">    </p:cNvPr>
          <p:cNvPicPr>
            <a:picLocks noChangeAspect="1"/>
          </p:cNvPicPr>
          <p:nvPr/>
        </p:nvPicPr>
        <p:blipFill>
          <a:blip r:embed="rId1"/>
          <a:stretch>
            <a:fillRect/>
          </a:stretch>
        </p:blipFill>
        <p:spPr>
          <a:xfrm>
            <a:off x="976579" y="1753819"/>
            <a:ext cx="332842" cy="332842"/>
          </a:xfrm>
          <a:prstGeom prst="rect">
            <a:avLst/>
          </a:prstGeom>
        </p:spPr>
      </p:pic>
      <p:sp>
        <p:nvSpPr>
          <p:cNvPr id="6" name="Text 3"/>
          <p:cNvSpPr txBox="1"/>
          <p:nvPr/>
        </p:nvSpPr>
        <p:spPr>
          <a:xfrm>
            <a:off x="822960" y="2377440"/>
            <a:ext cx="2103120" cy="502920"/>
          </a:xfrm>
          <a:prstGeom prst="rect">
            <a:avLst/>
          </a:prstGeom>
          <a:noFill/>
          <a:ln/>
        </p:spPr>
        <p:txBody>
          <a:bodyPr wrap="square" lIns="0" tIns="0" rIns="0" bIns="0" rtlCol="0" anchor="t"/>
          <a:lstStyle/>
          <a:p>
            <a:pPr algn="l" indent="0" marL="0">
              <a:spcAft>
                <a:spcPts val="400"/>
              </a:spcAft>
              <a:buNone/>
            </a:pPr>
            <a:r>
              <a:rPr lang="en-US" sz="2200" b="1" dirty="0">
                <a:solidFill>
                  <a:srgbClr val="F2A541"/>
                </a:solidFill>
                <a:latin typeface="Calibri" pitchFamily="34" charset="0"/>
                <a:ea typeface="Calibri" pitchFamily="34" charset="-122"/>
                <a:cs typeface="Calibri" pitchFamily="34" charset="-120"/>
              </a:rPr>
              <a:t>Ask</a:t>
            </a:r>
            <a:endParaRPr lang="en-US" sz="2200" dirty="0"/>
          </a:p>
        </p:txBody>
      </p:sp>
      <p:sp>
        <p:nvSpPr>
          <p:cNvPr id="7" name="Text 4"/>
          <p:cNvSpPr txBox="1"/>
          <p:nvPr/>
        </p:nvSpPr>
        <p:spPr>
          <a:xfrm>
            <a:off x="822960" y="3017520"/>
            <a:ext cx="2148840" cy="2743200"/>
          </a:xfrm>
          <a:prstGeom prst="rect">
            <a:avLst/>
          </a:prstGeom>
          <a:noFill/>
          <a:ln/>
        </p:spPr>
        <p:txBody>
          <a:bodyPr wrap="square" lIns="0" tIns="0" rIns="0" bIns="0" rtlCol="0" anchor="t"/>
          <a:lstStyle/>
          <a:p>
            <a:pPr marL="342900" indent="-342900">
              <a:spcAft>
                <a:spcPts val="800"/>
              </a:spcAft>
              <a:buSzPct val="100000"/>
              <a:buChar char="•"/>
            </a:pPr>
            <a:r>
              <a:rPr lang="en-US" sz="1450" dirty="0">
                <a:solidFill>
                  <a:srgbClr val="FFFFFF"/>
                </a:solidFill>
                <a:latin typeface="Calibri" pitchFamily="34" charset="0"/>
                <a:ea typeface="Calibri" pitchFamily="34" charset="-122"/>
                <a:cs typeface="Calibri" pitchFamily="34" charset="-120"/>
              </a:rPr>
              <a:t>Talk to Your Data</a:t>
            </a:r>
            <a:endParaRPr lang="en-US" sz="1450" dirty="0"/>
          </a:p>
        </p:txBody>
      </p:sp>
      <p:sp>
        <p:nvSpPr>
          <p:cNvPr id="8" name="Shape 5"/>
          <p:cNvSpPr/>
          <p:nvPr/>
        </p:nvSpPr>
        <p:spPr>
          <a:xfrm>
            <a:off x="3360420" y="1371600"/>
            <a:ext cx="2606040" cy="4572000"/>
          </a:xfrm>
          <a:prstGeom prst="roundRect">
            <a:avLst>
              <a:gd name="adj" fmla="val 2807"/>
            </a:avLst>
          </a:prstGeom>
          <a:solidFill>
            <a:srgbClr val="F4F6F9"/>
          </a:solidFill>
          <a:ln w="12700">
            <a:solidFill>
              <a:srgbClr val="F4F6F9"/>
            </a:solidFill>
            <a:prstDash val="solid"/>
          </a:ln>
        </p:spPr>
      </p:sp>
      <p:sp>
        <p:nvSpPr>
          <p:cNvPr id="9" name="Shape 6"/>
          <p:cNvSpPr/>
          <p:nvPr/>
        </p:nvSpPr>
        <p:spPr>
          <a:xfrm>
            <a:off x="3634740" y="1600200"/>
            <a:ext cx="640080" cy="640080"/>
          </a:xfrm>
          <a:prstGeom prst="ellipse">
            <a:avLst/>
          </a:prstGeom>
          <a:solidFill>
            <a:srgbClr val="F2A541"/>
          </a:solidFill>
          <a:ln w="12700">
            <a:solidFill>
              <a:srgbClr val="F2A541"/>
            </a:solidFill>
            <a:prstDash val="solid"/>
          </a:ln>
        </p:spPr>
      </p:sp>
      <p:pic>
        <p:nvPicPr>
          <p:cNvPr id="10" name="Image 1" descr="preencoded.png">    </p:cNvPr>
          <p:cNvPicPr>
            <a:picLocks noChangeAspect="1"/>
          </p:cNvPicPr>
          <p:nvPr/>
        </p:nvPicPr>
        <p:blipFill>
          <a:blip r:embed="rId2"/>
          <a:stretch>
            <a:fillRect/>
          </a:stretch>
        </p:blipFill>
        <p:spPr>
          <a:xfrm>
            <a:off x="3788359" y="1753819"/>
            <a:ext cx="332842" cy="332842"/>
          </a:xfrm>
          <a:prstGeom prst="rect">
            <a:avLst/>
          </a:prstGeom>
        </p:spPr>
      </p:pic>
      <p:sp>
        <p:nvSpPr>
          <p:cNvPr id="11" name="Text 7"/>
          <p:cNvSpPr txBox="1"/>
          <p:nvPr/>
        </p:nvSpPr>
        <p:spPr>
          <a:xfrm>
            <a:off x="3634740" y="2377440"/>
            <a:ext cx="2103120" cy="502920"/>
          </a:xfrm>
          <a:prstGeom prst="rect">
            <a:avLst/>
          </a:prstGeom>
          <a:noFill/>
          <a:ln/>
        </p:spPr>
        <p:txBody>
          <a:bodyPr wrap="square" lIns="0" tIns="0" rIns="0" bIns="0" rtlCol="0" anchor="t"/>
          <a:lstStyle/>
          <a:p>
            <a:pPr algn="l" indent="0" marL="0">
              <a:spcAft>
                <a:spcPts val="400"/>
              </a:spcAft>
              <a:buNone/>
            </a:pPr>
            <a:r>
              <a:rPr lang="en-US" sz="2200" b="1" dirty="0">
                <a:solidFill>
                  <a:srgbClr val="0E1A2B"/>
                </a:solidFill>
                <a:latin typeface="Calibri" pitchFamily="34" charset="0"/>
                <a:ea typeface="Calibri" pitchFamily="34" charset="-122"/>
                <a:cs typeface="Calibri" pitchFamily="34" charset="-120"/>
              </a:rPr>
              <a:t>Build</a:t>
            </a:r>
            <a:endParaRPr lang="en-US" sz="2200" dirty="0"/>
          </a:p>
        </p:txBody>
      </p:sp>
      <p:sp>
        <p:nvSpPr>
          <p:cNvPr id="12" name="Text 8"/>
          <p:cNvSpPr txBox="1"/>
          <p:nvPr/>
        </p:nvSpPr>
        <p:spPr>
          <a:xfrm>
            <a:off x="3634740" y="3017520"/>
            <a:ext cx="2148840" cy="2743200"/>
          </a:xfrm>
          <a:prstGeom prst="rect">
            <a:avLst/>
          </a:prstGeom>
          <a:noFill/>
          <a:ln/>
        </p:spPr>
        <p:txBody>
          <a:bodyPr wrap="square" lIns="0" tIns="0" rIns="0" bIns="0" rtlCol="0" anchor="t"/>
          <a:lstStyle/>
          <a:p>
            <a:pPr marL="342900" indent="-342900">
              <a:spcAft>
                <a:spcPts val="800"/>
              </a:spcAft>
              <a:buSzPct val="100000"/>
              <a:buChar char="•"/>
            </a:pPr>
            <a:r>
              <a:rPr lang="en-US" sz="1450" dirty="0">
                <a:solidFill>
                  <a:srgbClr val="1F2937"/>
                </a:solidFill>
                <a:latin typeface="Calibri" pitchFamily="34" charset="0"/>
                <a:ea typeface="Calibri" pitchFamily="34" charset="-122"/>
                <a:cs typeface="Calibri" pitchFamily="34" charset="-120"/>
              </a:rPr>
              <a:t>Model Overview</a:t>
            </a:r>
            <a:endParaRPr lang="en-US" sz="1450" dirty="0"/>
          </a:p>
          <a:p>
            <a:pPr marL="342900" indent="-342900">
              <a:spcAft>
                <a:spcPts val="800"/>
              </a:spcAft>
              <a:buSzPct val="100000"/>
              <a:buChar char="•"/>
            </a:pPr>
            <a:r>
              <a:rPr lang="en-US" sz="1450" dirty="0">
                <a:solidFill>
                  <a:srgbClr val="1F2937"/>
                </a:solidFill>
                <a:latin typeface="Calibri" pitchFamily="34" charset="0"/>
                <a:ea typeface="Calibri" pitchFamily="34" charset="-122"/>
                <a:cs typeface="Calibri" pitchFamily="34" charset="-120"/>
              </a:rPr>
              <a:t>Semantic Model (canvas)</a:t>
            </a:r>
            <a:endParaRPr lang="en-US" sz="1450" dirty="0"/>
          </a:p>
          <a:p>
            <a:pPr marL="342900" indent="-342900">
              <a:spcAft>
                <a:spcPts val="800"/>
              </a:spcAft>
              <a:buSzPct val="100000"/>
              <a:buChar char="•"/>
            </a:pPr>
            <a:r>
              <a:rPr lang="en-US" sz="1450" dirty="0">
                <a:solidFill>
                  <a:srgbClr val="1F2937"/>
                </a:solidFill>
                <a:latin typeface="Calibri" pitchFamily="34" charset="0"/>
                <a:ea typeface="Calibri" pitchFamily="34" charset="-122"/>
                <a:cs typeface="Calibri" pitchFamily="34" charset="-120"/>
              </a:rPr>
              <a:t>Models &amp; Discovery</a:t>
            </a:r>
            <a:endParaRPr lang="en-US" sz="1450" dirty="0"/>
          </a:p>
          <a:p>
            <a:pPr marL="342900" indent="-342900">
              <a:spcAft>
                <a:spcPts val="800"/>
              </a:spcAft>
              <a:buSzPct val="100000"/>
              <a:buChar char="•"/>
            </a:pPr>
            <a:r>
              <a:rPr lang="en-US" sz="1450" dirty="0">
                <a:solidFill>
                  <a:srgbClr val="1F2937"/>
                </a:solidFill>
                <a:latin typeface="Calibri" pitchFamily="34" charset="0"/>
                <a:ea typeface="Calibri" pitchFamily="34" charset="-122"/>
                <a:cs typeface="Calibri" pitchFamily="34" charset="-120"/>
              </a:rPr>
              <a:t>Data Sources</a:t>
            </a:r>
            <a:endParaRPr lang="en-US" sz="1450" dirty="0"/>
          </a:p>
        </p:txBody>
      </p:sp>
      <p:sp>
        <p:nvSpPr>
          <p:cNvPr id="13" name="Shape 9"/>
          <p:cNvSpPr/>
          <p:nvPr/>
        </p:nvSpPr>
        <p:spPr>
          <a:xfrm>
            <a:off x="6172200" y="1371600"/>
            <a:ext cx="2606040" cy="4572000"/>
          </a:xfrm>
          <a:prstGeom prst="roundRect">
            <a:avLst>
              <a:gd name="adj" fmla="val 2807"/>
            </a:avLst>
          </a:prstGeom>
          <a:solidFill>
            <a:srgbClr val="F4F6F9"/>
          </a:solidFill>
          <a:ln w="12700">
            <a:solidFill>
              <a:srgbClr val="F4F6F9"/>
            </a:solidFill>
            <a:prstDash val="solid"/>
          </a:ln>
        </p:spPr>
      </p:sp>
      <p:sp>
        <p:nvSpPr>
          <p:cNvPr id="14" name="Shape 10"/>
          <p:cNvSpPr/>
          <p:nvPr/>
        </p:nvSpPr>
        <p:spPr>
          <a:xfrm>
            <a:off x="6446520" y="1600200"/>
            <a:ext cx="640080" cy="640080"/>
          </a:xfrm>
          <a:prstGeom prst="ellipse">
            <a:avLst/>
          </a:prstGeom>
          <a:solidFill>
            <a:srgbClr val="F2A541"/>
          </a:solidFill>
          <a:ln w="12700">
            <a:solidFill>
              <a:srgbClr val="F2A541"/>
            </a:solidFill>
            <a:prstDash val="solid"/>
          </a:ln>
        </p:spPr>
      </p:sp>
      <p:pic>
        <p:nvPicPr>
          <p:cNvPr id="15" name="Image 2" descr="preencoded.png">    </p:cNvPr>
          <p:cNvPicPr>
            <a:picLocks noChangeAspect="1"/>
          </p:cNvPicPr>
          <p:nvPr/>
        </p:nvPicPr>
        <p:blipFill>
          <a:blip r:embed="rId3"/>
          <a:stretch>
            <a:fillRect/>
          </a:stretch>
        </p:blipFill>
        <p:spPr>
          <a:xfrm>
            <a:off x="6600139" y="1753819"/>
            <a:ext cx="332842" cy="332842"/>
          </a:xfrm>
          <a:prstGeom prst="rect">
            <a:avLst/>
          </a:prstGeom>
        </p:spPr>
      </p:pic>
      <p:sp>
        <p:nvSpPr>
          <p:cNvPr id="16" name="Text 11"/>
          <p:cNvSpPr txBox="1"/>
          <p:nvPr/>
        </p:nvSpPr>
        <p:spPr>
          <a:xfrm>
            <a:off x="6446520" y="2377440"/>
            <a:ext cx="2103120" cy="502920"/>
          </a:xfrm>
          <a:prstGeom prst="rect">
            <a:avLst/>
          </a:prstGeom>
          <a:noFill/>
          <a:ln/>
        </p:spPr>
        <p:txBody>
          <a:bodyPr wrap="square" lIns="0" tIns="0" rIns="0" bIns="0" rtlCol="0" anchor="t"/>
          <a:lstStyle/>
          <a:p>
            <a:pPr algn="l" indent="0" marL="0">
              <a:spcAft>
                <a:spcPts val="400"/>
              </a:spcAft>
              <a:buNone/>
            </a:pPr>
            <a:r>
              <a:rPr lang="en-US" sz="2200" b="1" dirty="0">
                <a:solidFill>
                  <a:srgbClr val="0E1A2B"/>
                </a:solidFill>
                <a:latin typeface="Calibri" pitchFamily="34" charset="0"/>
                <a:ea typeface="Calibri" pitchFamily="34" charset="-122"/>
                <a:cs typeface="Calibri" pitchFamily="34" charset="-120"/>
              </a:rPr>
              <a:t>Govern</a:t>
            </a:r>
            <a:endParaRPr lang="en-US" sz="2200" dirty="0"/>
          </a:p>
        </p:txBody>
      </p:sp>
      <p:sp>
        <p:nvSpPr>
          <p:cNvPr id="17" name="Text 12"/>
          <p:cNvSpPr txBox="1"/>
          <p:nvPr/>
        </p:nvSpPr>
        <p:spPr>
          <a:xfrm>
            <a:off x="6446520" y="3017520"/>
            <a:ext cx="2148840" cy="2743200"/>
          </a:xfrm>
          <a:prstGeom prst="rect">
            <a:avLst/>
          </a:prstGeom>
          <a:noFill/>
          <a:ln/>
        </p:spPr>
        <p:txBody>
          <a:bodyPr wrap="square" lIns="0" tIns="0" rIns="0" bIns="0" rtlCol="0" anchor="t"/>
          <a:lstStyle/>
          <a:p>
            <a:pPr marL="342900" indent="-342900">
              <a:spcAft>
                <a:spcPts val="800"/>
              </a:spcAft>
              <a:buSzPct val="100000"/>
              <a:buChar char="•"/>
            </a:pPr>
            <a:r>
              <a:rPr lang="en-US" sz="1450" dirty="0">
                <a:solidFill>
                  <a:srgbClr val="1F2937"/>
                </a:solidFill>
                <a:latin typeface="Calibri" pitchFamily="34" charset="0"/>
                <a:ea typeface="Calibri" pitchFamily="34" charset="-122"/>
                <a:cs typeface="Calibri" pitchFamily="34" charset="-120"/>
              </a:rPr>
              <a:t>AI Model Provider</a:t>
            </a:r>
            <a:endParaRPr lang="en-US" sz="1450" dirty="0"/>
          </a:p>
          <a:p>
            <a:pPr marL="342900" indent="-342900">
              <a:spcAft>
                <a:spcPts val="800"/>
              </a:spcAft>
              <a:buSzPct val="100000"/>
              <a:buChar char="•"/>
            </a:pPr>
            <a:r>
              <a:rPr lang="en-US" sz="1450" dirty="0">
                <a:solidFill>
                  <a:srgbClr val="1F2937"/>
                </a:solidFill>
                <a:latin typeface="Calibri" pitchFamily="34" charset="0"/>
                <a:ea typeface="Calibri" pitchFamily="34" charset="-122"/>
                <a:cs typeface="Calibri" pitchFamily="34" charset="-120"/>
              </a:rPr>
              <a:t>MCP Management</a:t>
            </a:r>
            <a:endParaRPr lang="en-US" sz="1450" dirty="0"/>
          </a:p>
          <a:p>
            <a:pPr marL="342900" indent="-342900">
              <a:spcAft>
                <a:spcPts val="800"/>
              </a:spcAft>
              <a:buSzPct val="100000"/>
              <a:buChar char="•"/>
            </a:pPr>
            <a:r>
              <a:rPr lang="en-US" sz="1450" dirty="0">
                <a:solidFill>
                  <a:srgbClr val="1F2937"/>
                </a:solidFill>
                <a:latin typeface="Calibri" pitchFamily="34" charset="0"/>
                <a:ea typeface="Calibri" pitchFamily="34" charset="-122"/>
                <a:cs typeface="Calibri" pitchFamily="34" charset="-120"/>
              </a:rPr>
              <a:t>Glossary</a:t>
            </a:r>
            <a:endParaRPr lang="en-US" sz="1450" dirty="0"/>
          </a:p>
          <a:p>
            <a:pPr marL="342900" indent="-342900">
              <a:spcAft>
                <a:spcPts val="800"/>
              </a:spcAft>
              <a:buSzPct val="100000"/>
              <a:buChar char="•"/>
            </a:pPr>
            <a:r>
              <a:rPr lang="en-US" sz="1450" dirty="0">
                <a:solidFill>
                  <a:srgbClr val="1F2937"/>
                </a:solidFill>
                <a:latin typeface="Calibri" pitchFamily="34" charset="0"/>
                <a:ea typeface="Calibri" pitchFamily="34" charset="-122"/>
                <a:cs typeface="Calibri" pitchFamily="34" charset="-120"/>
              </a:rPr>
              <a:t>Proposals</a:t>
            </a:r>
            <a:endParaRPr lang="en-US" sz="1450" dirty="0"/>
          </a:p>
          <a:p>
            <a:pPr marL="342900" indent="-342900">
              <a:spcAft>
                <a:spcPts val="800"/>
              </a:spcAft>
              <a:buSzPct val="100000"/>
              <a:buChar char="•"/>
            </a:pPr>
            <a:r>
              <a:rPr lang="en-US" sz="1450" dirty="0">
                <a:solidFill>
                  <a:srgbClr val="1F2937"/>
                </a:solidFill>
                <a:latin typeface="Calibri" pitchFamily="34" charset="0"/>
                <a:ea typeface="Calibri" pitchFamily="34" charset="-122"/>
                <a:cs typeface="Calibri" pitchFamily="34" charset="-120"/>
              </a:rPr>
              <a:t>Activity Logs</a:t>
            </a:r>
            <a:endParaRPr lang="en-US" sz="1450" dirty="0"/>
          </a:p>
        </p:txBody>
      </p:sp>
      <p:sp>
        <p:nvSpPr>
          <p:cNvPr id="18" name="Shape 13"/>
          <p:cNvSpPr/>
          <p:nvPr/>
        </p:nvSpPr>
        <p:spPr>
          <a:xfrm>
            <a:off x="8983980" y="1371600"/>
            <a:ext cx="2606040" cy="4572000"/>
          </a:xfrm>
          <a:prstGeom prst="roundRect">
            <a:avLst>
              <a:gd name="adj" fmla="val 2807"/>
            </a:avLst>
          </a:prstGeom>
          <a:solidFill>
            <a:srgbClr val="F4F6F9"/>
          </a:solidFill>
          <a:ln w="12700">
            <a:solidFill>
              <a:srgbClr val="F4F6F9"/>
            </a:solidFill>
            <a:prstDash val="solid"/>
          </a:ln>
        </p:spPr>
      </p:sp>
      <p:sp>
        <p:nvSpPr>
          <p:cNvPr id="19" name="Shape 14"/>
          <p:cNvSpPr/>
          <p:nvPr/>
        </p:nvSpPr>
        <p:spPr>
          <a:xfrm>
            <a:off x="9258300" y="1600200"/>
            <a:ext cx="640080" cy="640080"/>
          </a:xfrm>
          <a:prstGeom prst="ellipse">
            <a:avLst/>
          </a:prstGeom>
          <a:solidFill>
            <a:srgbClr val="F2A541"/>
          </a:solidFill>
          <a:ln w="12700">
            <a:solidFill>
              <a:srgbClr val="F2A541"/>
            </a:solidFill>
            <a:prstDash val="solid"/>
          </a:ln>
        </p:spPr>
      </p:sp>
      <p:pic>
        <p:nvPicPr>
          <p:cNvPr id="20" name="Image 3" descr="preencoded.png">    </p:cNvPr>
          <p:cNvPicPr>
            <a:picLocks noChangeAspect="1"/>
          </p:cNvPicPr>
          <p:nvPr/>
        </p:nvPicPr>
        <p:blipFill>
          <a:blip r:embed="rId4"/>
          <a:stretch>
            <a:fillRect/>
          </a:stretch>
        </p:blipFill>
        <p:spPr>
          <a:xfrm>
            <a:off x="9411919" y="1753819"/>
            <a:ext cx="332842" cy="332842"/>
          </a:xfrm>
          <a:prstGeom prst="rect">
            <a:avLst/>
          </a:prstGeom>
        </p:spPr>
      </p:pic>
      <p:sp>
        <p:nvSpPr>
          <p:cNvPr id="21" name="Text 15"/>
          <p:cNvSpPr txBox="1"/>
          <p:nvPr/>
        </p:nvSpPr>
        <p:spPr>
          <a:xfrm>
            <a:off x="9258300" y="2377440"/>
            <a:ext cx="2103120" cy="502920"/>
          </a:xfrm>
          <a:prstGeom prst="rect">
            <a:avLst/>
          </a:prstGeom>
          <a:noFill/>
          <a:ln/>
        </p:spPr>
        <p:txBody>
          <a:bodyPr wrap="square" lIns="0" tIns="0" rIns="0" bIns="0" rtlCol="0" anchor="t"/>
          <a:lstStyle/>
          <a:p>
            <a:pPr algn="l" indent="0" marL="0">
              <a:spcAft>
                <a:spcPts val="400"/>
              </a:spcAft>
              <a:buNone/>
            </a:pPr>
            <a:r>
              <a:rPr lang="en-US" sz="2200" b="1" dirty="0">
                <a:solidFill>
                  <a:srgbClr val="0E1A2B"/>
                </a:solidFill>
                <a:latin typeface="Calibri" pitchFamily="34" charset="0"/>
                <a:ea typeface="Calibri" pitchFamily="34" charset="-122"/>
                <a:cs typeface="Calibri" pitchFamily="34" charset="-120"/>
              </a:rPr>
              <a:t>Help</a:t>
            </a:r>
            <a:endParaRPr lang="en-US" sz="2200" dirty="0"/>
          </a:p>
        </p:txBody>
      </p:sp>
      <p:sp>
        <p:nvSpPr>
          <p:cNvPr id="22" name="Text 16"/>
          <p:cNvSpPr txBox="1"/>
          <p:nvPr/>
        </p:nvSpPr>
        <p:spPr>
          <a:xfrm>
            <a:off x="9258300" y="3017520"/>
            <a:ext cx="2148840" cy="2743200"/>
          </a:xfrm>
          <a:prstGeom prst="rect">
            <a:avLst/>
          </a:prstGeom>
          <a:noFill/>
          <a:ln/>
        </p:spPr>
        <p:txBody>
          <a:bodyPr wrap="square" lIns="0" tIns="0" rIns="0" bIns="0" rtlCol="0" anchor="t"/>
          <a:lstStyle/>
          <a:p>
            <a:pPr marL="342900" indent="-342900">
              <a:spcAft>
                <a:spcPts val="800"/>
              </a:spcAft>
              <a:buSzPct val="100000"/>
              <a:buChar char="•"/>
            </a:pPr>
            <a:r>
              <a:rPr lang="en-US" sz="1450" dirty="0">
                <a:solidFill>
                  <a:srgbClr val="1F2937"/>
                </a:solidFill>
                <a:latin typeface="Calibri" pitchFamily="34" charset="0"/>
                <a:ea typeface="Calibri" pitchFamily="34" charset="-122"/>
                <a:cs typeface="Calibri" pitchFamily="34" charset="-120"/>
              </a:rPr>
              <a:t>Documentation (19 pages, 4 projects)</a:t>
            </a:r>
            <a:endParaRPr lang="en-US" sz="14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3200" b="1" dirty="0">
                <a:solidFill>
                  <a:srgbClr val="0E1A2B"/>
                </a:solidFill>
                <a:latin typeface="Cambria" pitchFamily="34" charset="0"/>
                <a:ea typeface="Cambria" pitchFamily="34" charset="-122"/>
                <a:cs typeface="Cambria" pitchFamily="34" charset="-120"/>
              </a:rPr>
              <a:t>Talk to Your Data</a:t>
            </a:r>
            <a:endParaRPr lang="en-US" sz="3200" dirty="0"/>
          </a:p>
        </p:txBody>
      </p:sp>
      <p:sp>
        <p:nvSpPr>
          <p:cNvPr id="3" name="Text 1"/>
          <p:cNvSpPr txBox="1"/>
          <p:nvPr/>
        </p:nvSpPr>
        <p:spPr>
          <a:xfrm>
            <a:off x="548640" y="1188720"/>
            <a:ext cx="3931920" cy="822960"/>
          </a:xfrm>
          <a:prstGeom prst="rect">
            <a:avLst/>
          </a:prstGeom>
          <a:noFill/>
          <a:ln/>
        </p:spPr>
        <p:txBody>
          <a:bodyPr wrap="square" lIns="0" tIns="0" rIns="0" bIns="0" rtlCol="0" anchor="t"/>
          <a:lstStyle/>
          <a:p>
            <a:pPr algn="l" indent="0" marL="0">
              <a:spcAft>
                <a:spcPts val="400"/>
              </a:spcAft>
              <a:buNone/>
            </a:pPr>
            <a:r>
              <a:rPr lang="en-US" sz="1600" i="1" dirty="0">
                <a:solidFill>
                  <a:srgbClr val="5B6472"/>
                </a:solidFill>
                <a:latin typeface="Calibri" pitchFamily="34" charset="0"/>
                <a:ea typeface="Calibri" pitchFamily="34" charset="-122"/>
                <a:cs typeface="Calibri" pitchFamily="34" charset="-120"/>
              </a:rPr>
              <a:t>Ask in plain language; answers arrive as tables with the SQL, tools and provenance one click away.</a:t>
            </a:r>
            <a:endParaRPr lang="en-US" sz="1600" dirty="0"/>
          </a:p>
        </p:txBody>
      </p:sp>
      <p:sp>
        <p:nvSpPr>
          <p:cNvPr id="4" name="Text 2"/>
          <p:cNvSpPr txBox="1"/>
          <p:nvPr/>
        </p:nvSpPr>
        <p:spPr>
          <a:xfrm>
            <a:off x="548640" y="2148840"/>
            <a:ext cx="3931920" cy="38404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Conversation list with archive</a:t>
            </a:r>
            <a:endParaRPr lang="en-US" sz="1500" dirty="0"/>
          </a:p>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Progress: "Searching governed datastores…", "Reviewing the semantic model…", "Planning a secure query…"</a:t>
            </a:r>
            <a:endParaRPr lang="en-US" sz="1500" dirty="0"/>
          </a:p>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"How Helios produced this answer" link</a:t>
            </a:r>
            <a:endParaRPr lang="en-US" sz="1500" dirty="0"/>
          </a:p>
        </p:txBody>
      </p:sp>
      <p:sp>
        <p:nvSpPr>
          <p:cNvPr id="5" name="Shape 3"/>
          <p:cNvSpPr/>
          <p:nvPr/>
        </p:nvSpPr>
        <p:spPr>
          <a:xfrm>
            <a:off x="4754880" y="1188720"/>
            <a:ext cx="6858000" cy="4800600"/>
          </a:xfrm>
          <a:prstGeom prst="roundRect">
            <a:avLst>
              <a:gd name="adj" fmla="val 1143"/>
            </a:avLst>
          </a:prstGeom>
          <a:solidFill>
            <a:srgbClr val="EEF1F5"/>
          </a:solidFill>
          <a:ln w="15875">
            <a:solidFill>
              <a:srgbClr val="9AA5B4"/>
            </a:solidFill>
            <a:prstDash val="dash"/>
          </a:ln>
        </p:spPr>
      </p:sp>
      <p:pic>
        <p:nvPicPr>
          <p:cNvPr id="6" name="Image 0" descr="preencoded.png">    </p:cNvPr>
          <p:cNvPicPr>
            <a:picLocks noChangeAspect="1"/>
          </p:cNvPicPr>
          <p:nvPr/>
        </p:nvPicPr>
        <p:blipFill>
          <a:blip r:embed="rId1"/>
          <a:stretch>
            <a:fillRect/>
          </a:stretch>
        </p:blipFill>
        <p:spPr>
          <a:xfrm>
            <a:off x="7818120" y="2766060"/>
            <a:ext cx="731520" cy="731520"/>
          </a:xfrm>
          <a:prstGeom prst="rect">
            <a:avLst/>
          </a:prstGeom>
        </p:spPr>
      </p:pic>
      <p:sp>
        <p:nvSpPr>
          <p:cNvPr id="7" name="Text 4"/>
          <p:cNvSpPr txBox="1"/>
          <p:nvPr/>
        </p:nvSpPr>
        <p:spPr>
          <a:xfrm>
            <a:off x="5029200" y="3634740"/>
            <a:ext cx="6309360" cy="1097280"/>
          </a:xfrm>
          <a:prstGeom prst="rect">
            <a:avLst/>
          </a:prstGeom>
          <a:noFill/>
          <a:ln/>
        </p:spPr>
        <p:txBody>
          <a:bodyPr wrap="square" lIns="0" tIns="0" rIns="0" bIns="0" rtlCol="0" anchor="t"/>
          <a:lstStyle/>
          <a:p>
            <a:pPr algn="ctr" indent="0" marL="0">
              <a:buNone/>
            </a:pPr>
            <a:r>
              <a:rPr lang="en-US" sz="1200" b="1" dirty="0">
                <a:solidFill>
                  <a:srgbClr val="6B7686"/>
                </a:solidFill>
                <a:latin typeface="Calibri" pitchFamily="34" charset="0"/>
                <a:ea typeface="Calibri" pitchFamily="34" charset="-122"/>
                <a:cs typeface="Calibri" pitchFamily="34" charset="-120"/>
              </a:rPr>
              <a:t>SCREENSHOT PLACEHOLDER</a:t>
            </a:r>
            <a:endParaRPr lang="en-US" sz="1200" dirty="0"/>
          </a:p>
          <a:p>
            <a:pPr algn="ctr" indent="0" marL="0">
              <a:buNone/>
            </a:pPr>
            <a:r>
              <a:rPr lang="en-US" sz="1300" dirty="0">
                <a:solidFill>
                  <a:srgbClr val="4B5563"/>
                </a:solidFill>
                <a:latin typeface="Calibri" pitchFamily="34" charset="0"/>
                <a:ea typeface="Calibri" pitchFamily="34" charset="-122"/>
                <a:cs typeface="Calibri" pitchFamily="34" charset="-120"/>
              </a:rPr>
              <a:t>Talk to Your Data: an answered question with the result table and expanded SQL / tool / provenance details</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3200" b="1" dirty="0">
                <a:solidFill>
                  <a:srgbClr val="0E1A2B"/>
                </a:solidFill>
                <a:latin typeface="Cambria" pitchFamily="34" charset="0"/>
                <a:ea typeface="Cambria" pitchFamily="34" charset="-122"/>
                <a:cs typeface="Cambria" pitchFamily="34" charset="-120"/>
              </a:rPr>
              <a:t>Model Overview</a:t>
            </a:r>
            <a:endParaRPr lang="en-US" sz="3200" dirty="0"/>
          </a:p>
        </p:txBody>
      </p:sp>
      <p:sp>
        <p:nvSpPr>
          <p:cNvPr id="3" name="Text 1"/>
          <p:cNvSpPr txBox="1"/>
          <p:nvPr/>
        </p:nvSpPr>
        <p:spPr>
          <a:xfrm>
            <a:off x="548640" y="1188720"/>
            <a:ext cx="3931920" cy="822960"/>
          </a:xfrm>
          <a:prstGeom prst="rect">
            <a:avLst/>
          </a:prstGeom>
          <a:noFill/>
          <a:ln/>
        </p:spPr>
        <p:txBody>
          <a:bodyPr wrap="square" lIns="0" tIns="0" rIns="0" bIns="0" rtlCol="0" anchor="t"/>
          <a:lstStyle/>
          <a:p>
            <a:pPr algn="l" indent="0" marL="0">
              <a:spcAft>
                <a:spcPts val="400"/>
              </a:spcAft>
              <a:buNone/>
            </a:pPr>
            <a:r>
              <a:rPr lang="en-US" sz="1600" i="1" dirty="0">
                <a:solidFill>
                  <a:srgbClr val="5B6472"/>
                </a:solidFill>
                <a:latin typeface="Calibri" pitchFamily="34" charset="0"/>
                <a:ea typeface="Calibri" pitchFamily="34" charset="-122"/>
                <a:cs typeface="Calibri" pitchFamily="34" charset="-120"/>
              </a:rPr>
              <a:t>The model's home page: health, size and next actions.</a:t>
            </a:r>
            <a:endParaRPr lang="en-US" sz="1600" dirty="0"/>
          </a:p>
        </p:txBody>
      </p:sp>
      <p:sp>
        <p:nvSpPr>
          <p:cNvPr id="4" name="Text 2"/>
          <p:cNvSpPr txBox="1"/>
          <p:nvPr/>
        </p:nvSpPr>
        <p:spPr>
          <a:xfrm>
            <a:off x="548640" y="2148840"/>
            <a:ext cx="3931920" cy="38404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Open Canvas, Review Proposals, Publish</a:t>
            </a:r>
            <a:endParaRPr lang="en-US" sz="1500" dirty="0"/>
          </a:p>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Helios health panel</a:t>
            </a:r>
            <a:endParaRPr lang="en-US" sz="1500" dirty="0"/>
          </a:p>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Summary cards: Datasets, Relationships, Concepts, Metrics</a:t>
            </a:r>
            <a:endParaRPr lang="en-US" sz="1500" dirty="0"/>
          </a:p>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Model details and data sources</a:t>
            </a:r>
            <a:endParaRPr lang="en-US" sz="1500" dirty="0"/>
          </a:p>
        </p:txBody>
      </p:sp>
      <p:sp>
        <p:nvSpPr>
          <p:cNvPr id="5" name="Shape 3"/>
          <p:cNvSpPr/>
          <p:nvPr/>
        </p:nvSpPr>
        <p:spPr>
          <a:xfrm>
            <a:off x="4754880" y="1188720"/>
            <a:ext cx="6858000" cy="4800600"/>
          </a:xfrm>
          <a:prstGeom prst="roundRect">
            <a:avLst>
              <a:gd name="adj" fmla="val 1143"/>
            </a:avLst>
          </a:prstGeom>
          <a:solidFill>
            <a:srgbClr val="EEF1F5"/>
          </a:solidFill>
          <a:ln w="15875">
            <a:solidFill>
              <a:srgbClr val="9AA5B4"/>
            </a:solidFill>
            <a:prstDash val="dash"/>
          </a:ln>
        </p:spPr>
      </p:sp>
      <p:pic>
        <p:nvPicPr>
          <p:cNvPr id="6" name="Image 0" descr="preencoded.png">    </p:cNvPr>
          <p:cNvPicPr>
            <a:picLocks noChangeAspect="1"/>
          </p:cNvPicPr>
          <p:nvPr/>
        </p:nvPicPr>
        <p:blipFill>
          <a:blip r:embed="rId1"/>
          <a:stretch>
            <a:fillRect/>
          </a:stretch>
        </p:blipFill>
        <p:spPr>
          <a:xfrm>
            <a:off x="7818120" y="2766060"/>
            <a:ext cx="731520" cy="731520"/>
          </a:xfrm>
          <a:prstGeom prst="rect">
            <a:avLst/>
          </a:prstGeom>
        </p:spPr>
      </p:pic>
      <p:sp>
        <p:nvSpPr>
          <p:cNvPr id="7" name="Text 4"/>
          <p:cNvSpPr txBox="1"/>
          <p:nvPr/>
        </p:nvSpPr>
        <p:spPr>
          <a:xfrm>
            <a:off x="5029200" y="3634740"/>
            <a:ext cx="6309360" cy="1097280"/>
          </a:xfrm>
          <a:prstGeom prst="rect">
            <a:avLst/>
          </a:prstGeom>
          <a:noFill/>
          <a:ln/>
        </p:spPr>
        <p:txBody>
          <a:bodyPr wrap="square" lIns="0" tIns="0" rIns="0" bIns="0" rtlCol="0" anchor="t"/>
          <a:lstStyle/>
          <a:p>
            <a:pPr algn="ctr" indent="0" marL="0">
              <a:buNone/>
            </a:pPr>
            <a:r>
              <a:rPr lang="en-US" sz="1200" b="1" dirty="0">
                <a:solidFill>
                  <a:srgbClr val="6B7686"/>
                </a:solidFill>
                <a:latin typeface="Calibri" pitchFamily="34" charset="0"/>
                <a:ea typeface="Calibri" pitchFamily="34" charset="-122"/>
                <a:cs typeface="Calibri" pitchFamily="34" charset="-120"/>
              </a:rPr>
              <a:t>SCREENSHOT PLACEHOLDER</a:t>
            </a:r>
            <a:endParaRPr lang="en-US" sz="1200" dirty="0"/>
          </a:p>
          <a:p>
            <a:pPr algn="ctr" indent="0" marL="0">
              <a:buNone/>
            </a:pPr>
            <a:r>
              <a:rPr lang="en-US" sz="1300" dirty="0">
                <a:solidFill>
                  <a:srgbClr val="4B5563"/>
                </a:solidFill>
                <a:latin typeface="Calibri" pitchFamily="34" charset="0"/>
                <a:ea typeface="Calibri" pitchFamily="34" charset="-122"/>
                <a:cs typeface="Calibri" pitchFamily="34" charset="-120"/>
              </a:rPr>
              <a:t>Model Overview: actions, Helios health and the Datasets / Relationships / Concepts / Metrics cards</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3200" b="1" dirty="0">
                <a:solidFill>
                  <a:srgbClr val="0E1A2B"/>
                </a:solidFill>
                <a:latin typeface="Cambria" pitchFamily="34" charset="0"/>
                <a:ea typeface="Cambria" pitchFamily="34" charset="-122"/>
                <a:cs typeface="Cambria" pitchFamily="34" charset="-120"/>
              </a:rPr>
              <a:t>Semantic Model canvas</a:t>
            </a:r>
            <a:endParaRPr lang="en-US" sz="3200" dirty="0"/>
          </a:p>
        </p:txBody>
      </p:sp>
      <p:sp>
        <p:nvSpPr>
          <p:cNvPr id="3" name="Text 1"/>
          <p:cNvSpPr txBox="1"/>
          <p:nvPr/>
        </p:nvSpPr>
        <p:spPr>
          <a:xfrm>
            <a:off x="548640" y="1188720"/>
            <a:ext cx="3931920" cy="822960"/>
          </a:xfrm>
          <a:prstGeom prst="rect">
            <a:avLst/>
          </a:prstGeom>
          <a:noFill/>
          <a:ln/>
        </p:spPr>
        <p:txBody>
          <a:bodyPr wrap="square" lIns="0" tIns="0" rIns="0" bIns="0" rtlCol="0" anchor="t"/>
          <a:lstStyle/>
          <a:p>
            <a:pPr algn="l" indent="0" marL="0">
              <a:spcAft>
                <a:spcPts val="400"/>
              </a:spcAft>
              <a:buNone/>
            </a:pPr>
            <a:r>
              <a:rPr lang="en-US" sz="1600" i="1" dirty="0">
                <a:solidFill>
                  <a:srgbClr val="5B6472"/>
                </a:solidFill>
                <a:latin typeface="Calibri" pitchFamily="34" charset="0"/>
                <a:ea typeface="Calibri" pitchFamily="34" charset="-122"/>
                <a:cs typeface="Calibri" pitchFamily="34" charset="-120"/>
              </a:rPr>
              <a:t>Explore the model as a graph through three lenses.</a:t>
            </a:r>
            <a:endParaRPr lang="en-US" sz="1600" dirty="0"/>
          </a:p>
        </p:txBody>
      </p:sp>
      <p:sp>
        <p:nvSpPr>
          <p:cNvPr id="4" name="Text 2"/>
          <p:cNvSpPr txBox="1"/>
          <p:nvPr/>
        </p:nvSpPr>
        <p:spPr>
          <a:xfrm>
            <a:off x="548640" y="2148840"/>
            <a:ext cx="3931920" cy="38404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Physical, Semantic and Ontology lenses</a:t>
            </a:r>
            <a:endParaRPr lang="en-US" sz="1500" dirty="0"/>
          </a:p>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Inspector for any dataset, field or metric</a:t>
            </a:r>
            <a:endParaRPr lang="en-US" sz="1500" dirty="0"/>
          </a:p>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Review mode: Approve, Reject, Edit</a:t>
            </a:r>
            <a:endParaRPr lang="en-US" sz="1500" dirty="0"/>
          </a:p>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Authorization is applied before the graph is sent</a:t>
            </a:r>
            <a:endParaRPr lang="en-US" sz="1500" dirty="0"/>
          </a:p>
        </p:txBody>
      </p:sp>
      <p:sp>
        <p:nvSpPr>
          <p:cNvPr id="5" name="Shape 3"/>
          <p:cNvSpPr/>
          <p:nvPr/>
        </p:nvSpPr>
        <p:spPr>
          <a:xfrm>
            <a:off x="4754880" y="1188720"/>
            <a:ext cx="6858000" cy="4800600"/>
          </a:xfrm>
          <a:prstGeom prst="roundRect">
            <a:avLst>
              <a:gd name="adj" fmla="val 1143"/>
            </a:avLst>
          </a:prstGeom>
          <a:solidFill>
            <a:srgbClr val="EEF1F5"/>
          </a:solidFill>
          <a:ln w="15875">
            <a:solidFill>
              <a:srgbClr val="9AA5B4"/>
            </a:solidFill>
            <a:prstDash val="dash"/>
          </a:ln>
        </p:spPr>
      </p:sp>
      <p:pic>
        <p:nvPicPr>
          <p:cNvPr id="6" name="Image 0" descr="preencoded.png">    </p:cNvPr>
          <p:cNvPicPr>
            <a:picLocks noChangeAspect="1"/>
          </p:cNvPicPr>
          <p:nvPr/>
        </p:nvPicPr>
        <p:blipFill>
          <a:blip r:embed="rId1"/>
          <a:stretch>
            <a:fillRect/>
          </a:stretch>
        </p:blipFill>
        <p:spPr>
          <a:xfrm>
            <a:off x="7818120" y="2766060"/>
            <a:ext cx="731520" cy="731520"/>
          </a:xfrm>
          <a:prstGeom prst="rect">
            <a:avLst/>
          </a:prstGeom>
        </p:spPr>
      </p:pic>
      <p:sp>
        <p:nvSpPr>
          <p:cNvPr id="7" name="Text 4"/>
          <p:cNvSpPr txBox="1"/>
          <p:nvPr/>
        </p:nvSpPr>
        <p:spPr>
          <a:xfrm>
            <a:off x="5029200" y="3634740"/>
            <a:ext cx="6309360" cy="1097280"/>
          </a:xfrm>
          <a:prstGeom prst="rect">
            <a:avLst/>
          </a:prstGeom>
          <a:noFill/>
          <a:ln/>
        </p:spPr>
        <p:txBody>
          <a:bodyPr wrap="square" lIns="0" tIns="0" rIns="0" bIns="0" rtlCol="0" anchor="t"/>
          <a:lstStyle/>
          <a:p>
            <a:pPr algn="ctr" indent="0" marL="0">
              <a:buNone/>
            </a:pPr>
            <a:r>
              <a:rPr lang="en-US" sz="1200" b="1" dirty="0">
                <a:solidFill>
                  <a:srgbClr val="6B7686"/>
                </a:solidFill>
                <a:latin typeface="Calibri" pitchFamily="34" charset="0"/>
                <a:ea typeface="Calibri" pitchFamily="34" charset="-122"/>
                <a:cs typeface="Calibri" pitchFamily="34" charset="-120"/>
              </a:rPr>
              <a:t>SCREENSHOT PLACEHOLDER</a:t>
            </a:r>
            <a:endParaRPr lang="en-US" sz="1200" dirty="0"/>
          </a:p>
          <a:p>
            <a:pPr algn="ctr" indent="0" marL="0">
              <a:buNone/>
            </a:pPr>
            <a:r>
              <a:rPr lang="en-US" sz="1300" dirty="0">
                <a:solidFill>
                  <a:srgbClr val="4B5563"/>
                </a:solidFill>
                <a:latin typeface="Calibri" pitchFamily="34" charset="0"/>
                <a:ea typeface="Calibri" pitchFamily="34" charset="-122"/>
                <a:cs typeface="Calibri" pitchFamily="34" charset="-120"/>
              </a:rPr>
              <a:t>Semantic Model canvas in the Semantic lens with the Inspector open on a metric</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3200" b="1" dirty="0">
                <a:solidFill>
                  <a:srgbClr val="0E1A2B"/>
                </a:solidFill>
                <a:latin typeface="Cambria" pitchFamily="34" charset="0"/>
                <a:ea typeface="Cambria" pitchFamily="34" charset="-122"/>
                <a:cs typeface="Cambria" pitchFamily="34" charset="-120"/>
              </a:rPr>
              <a:t>Models &amp; Discovery</a:t>
            </a:r>
            <a:endParaRPr lang="en-US" sz="3200" dirty="0"/>
          </a:p>
        </p:txBody>
      </p:sp>
      <p:sp>
        <p:nvSpPr>
          <p:cNvPr id="3" name="Text 1"/>
          <p:cNvSpPr txBox="1"/>
          <p:nvPr/>
        </p:nvSpPr>
        <p:spPr>
          <a:xfrm>
            <a:off x="548640" y="1188720"/>
            <a:ext cx="3931920" cy="822960"/>
          </a:xfrm>
          <a:prstGeom prst="rect">
            <a:avLst/>
          </a:prstGeom>
          <a:noFill/>
          <a:ln/>
        </p:spPr>
        <p:txBody>
          <a:bodyPr wrap="square" lIns="0" tIns="0" rIns="0" bIns="0" rtlCol="0" anchor="t"/>
          <a:lstStyle/>
          <a:p>
            <a:pPr algn="l" indent="0" marL="0">
              <a:spcAft>
                <a:spcPts val="400"/>
              </a:spcAft>
              <a:buNone/>
            </a:pPr>
            <a:r>
              <a:rPr lang="en-US" sz="1600" i="1" dirty="0">
                <a:solidFill>
                  <a:srgbClr val="5B6472"/>
                </a:solidFill>
                <a:latin typeface="Calibri" pitchFamily="34" charset="0"/>
                <a:ea typeface="Calibri" pitchFamily="34" charset="-122"/>
                <a:cs typeface="Calibri" pitchFamily="34" charset="-120"/>
              </a:rPr>
              <a:t>Read what a discovery run found, and why.</a:t>
            </a:r>
            <a:endParaRPr lang="en-US" sz="1600" dirty="0"/>
          </a:p>
        </p:txBody>
      </p:sp>
      <p:sp>
        <p:nvSpPr>
          <p:cNvPr id="4" name="Text 2"/>
          <p:cNvSpPr txBox="1"/>
          <p:nvPr/>
        </p:nvSpPr>
        <p:spPr>
          <a:xfrm>
            <a:off x="548640" y="2148840"/>
            <a:ext cx="3931920" cy="38404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Phases, execution context, warnings and errors</a:t>
            </a:r>
            <a:endParaRPr lang="en-US" sz="1500" dirty="0"/>
          </a:p>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Profiled tables with key candidates</a:t>
            </a:r>
            <a:endParaRPr lang="en-US" sz="1500" dirty="0"/>
          </a:p>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Accepted, suggested and rejected relationships</a:t>
            </a:r>
            <a:endParaRPr lang="en-US" sz="1500" dirty="0"/>
          </a:p>
        </p:txBody>
      </p:sp>
      <p:sp>
        <p:nvSpPr>
          <p:cNvPr id="5" name="Shape 3"/>
          <p:cNvSpPr/>
          <p:nvPr/>
        </p:nvSpPr>
        <p:spPr>
          <a:xfrm>
            <a:off x="4754880" y="1188720"/>
            <a:ext cx="6858000" cy="4800600"/>
          </a:xfrm>
          <a:prstGeom prst="roundRect">
            <a:avLst>
              <a:gd name="adj" fmla="val 1143"/>
            </a:avLst>
          </a:prstGeom>
          <a:solidFill>
            <a:srgbClr val="EEF1F5"/>
          </a:solidFill>
          <a:ln w="15875">
            <a:solidFill>
              <a:srgbClr val="9AA5B4"/>
            </a:solidFill>
            <a:prstDash val="dash"/>
          </a:ln>
        </p:spPr>
      </p:sp>
      <p:pic>
        <p:nvPicPr>
          <p:cNvPr id="6" name="Image 0" descr="preencoded.png">    </p:cNvPr>
          <p:cNvPicPr>
            <a:picLocks noChangeAspect="1"/>
          </p:cNvPicPr>
          <p:nvPr/>
        </p:nvPicPr>
        <p:blipFill>
          <a:blip r:embed="rId1"/>
          <a:stretch>
            <a:fillRect/>
          </a:stretch>
        </p:blipFill>
        <p:spPr>
          <a:xfrm>
            <a:off x="7818120" y="2766060"/>
            <a:ext cx="731520" cy="731520"/>
          </a:xfrm>
          <a:prstGeom prst="rect">
            <a:avLst/>
          </a:prstGeom>
        </p:spPr>
      </p:pic>
      <p:sp>
        <p:nvSpPr>
          <p:cNvPr id="7" name="Text 4"/>
          <p:cNvSpPr txBox="1"/>
          <p:nvPr/>
        </p:nvSpPr>
        <p:spPr>
          <a:xfrm>
            <a:off x="5029200" y="3634740"/>
            <a:ext cx="6309360" cy="1097280"/>
          </a:xfrm>
          <a:prstGeom prst="rect">
            <a:avLst/>
          </a:prstGeom>
          <a:noFill/>
          <a:ln/>
        </p:spPr>
        <p:txBody>
          <a:bodyPr wrap="square" lIns="0" tIns="0" rIns="0" bIns="0" rtlCol="0" anchor="t"/>
          <a:lstStyle/>
          <a:p>
            <a:pPr algn="ctr" indent="0" marL="0">
              <a:buNone/>
            </a:pPr>
            <a:r>
              <a:rPr lang="en-US" sz="1200" b="1" dirty="0">
                <a:solidFill>
                  <a:srgbClr val="6B7686"/>
                </a:solidFill>
                <a:latin typeface="Calibri" pitchFamily="34" charset="0"/>
                <a:ea typeface="Calibri" pitchFamily="34" charset="-122"/>
                <a:cs typeface="Calibri" pitchFamily="34" charset="-120"/>
              </a:rPr>
              <a:t>SCREENSHOT PLACEHOLDER</a:t>
            </a:r>
            <a:endParaRPr lang="en-US" sz="1200" dirty="0"/>
          </a:p>
          <a:p>
            <a:pPr algn="ctr" indent="0" marL="0">
              <a:buNone/>
            </a:pPr>
            <a:r>
              <a:rPr lang="en-US" sz="1300" dirty="0">
                <a:solidFill>
                  <a:srgbClr val="4B5563"/>
                </a:solidFill>
                <a:latin typeface="Calibri" pitchFamily="34" charset="0"/>
                <a:ea typeface="Calibri" pitchFamily="34" charset="-122"/>
                <a:cs typeface="Calibri" pitchFamily="34" charset="-120"/>
              </a:rPr>
              <a:t>Discovery &amp; Activity → run detail with accepted / suggested / rejected relationships</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3200" b="1" dirty="0">
                <a:solidFill>
                  <a:srgbClr val="0E1A2B"/>
                </a:solidFill>
                <a:latin typeface="Cambria" pitchFamily="34" charset="0"/>
                <a:ea typeface="Cambria" pitchFamily="34" charset="-122"/>
                <a:cs typeface="Cambria" pitchFamily="34" charset="-120"/>
              </a:rPr>
              <a:t>Glossary &amp; Proposals</a:t>
            </a:r>
            <a:endParaRPr lang="en-US" sz="3200" dirty="0"/>
          </a:p>
        </p:txBody>
      </p:sp>
      <p:sp>
        <p:nvSpPr>
          <p:cNvPr id="3" name="Text 1"/>
          <p:cNvSpPr txBox="1"/>
          <p:nvPr/>
        </p:nvSpPr>
        <p:spPr>
          <a:xfrm>
            <a:off x="548640" y="1188720"/>
            <a:ext cx="3931920" cy="822960"/>
          </a:xfrm>
          <a:prstGeom prst="rect">
            <a:avLst/>
          </a:prstGeom>
          <a:noFill/>
          <a:ln/>
        </p:spPr>
        <p:txBody>
          <a:bodyPr wrap="square" lIns="0" tIns="0" rIns="0" bIns="0" rtlCol="0" anchor="t"/>
          <a:lstStyle/>
          <a:p>
            <a:pPr algn="l" indent="0" marL="0">
              <a:spcAft>
                <a:spcPts val="400"/>
              </a:spcAft>
              <a:buNone/>
            </a:pPr>
            <a:r>
              <a:rPr lang="en-US" sz="1600" i="1" dirty="0">
                <a:solidFill>
                  <a:srgbClr val="5B6472"/>
                </a:solidFill>
                <a:latin typeface="Calibri" pitchFamily="34" charset="0"/>
                <a:ea typeface="Calibri" pitchFamily="34" charset="-122"/>
                <a:cs typeface="Calibri" pitchFamily="34" charset="-120"/>
              </a:rPr>
              <a:t>Govern business language in Atlas.</a:t>
            </a:r>
            <a:endParaRPr lang="en-US" sz="1600" dirty="0"/>
          </a:p>
        </p:txBody>
      </p:sp>
      <p:sp>
        <p:nvSpPr>
          <p:cNvPr id="4" name="Text 2"/>
          <p:cNvSpPr txBox="1"/>
          <p:nvPr/>
        </p:nvSpPr>
        <p:spPr>
          <a:xfrm>
            <a:off x="548640" y="2148840"/>
            <a:ext cx="3931920" cy="38404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Term CRUD and CSV import</a:t>
            </a:r>
            <a:endParaRPr lang="en-US" sz="1500" dirty="0"/>
          </a:p>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Term detail with "Mapped model attributes"</a:t>
            </a:r>
            <a:endParaRPr lang="en-US" sz="1500" dirty="0"/>
          </a:p>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Proposals: glossary terms Helios suggests</a:t>
            </a:r>
            <a:endParaRPr lang="en-US" sz="1500" dirty="0"/>
          </a:p>
        </p:txBody>
      </p:sp>
      <p:sp>
        <p:nvSpPr>
          <p:cNvPr id="5" name="Shape 3"/>
          <p:cNvSpPr/>
          <p:nvPr/>
        </p:nvSpPr>
        <p:spPr>
          <a:xfrm>
            <a:off x="4754880" y="1188720"/>
            <a:ext cx="6858000" cy="4800600"/>
          </a:xfrm>
          <a:prstGeom prst="roundRect">
            <a:avLst>
              <a:gd name="adj" fmla="val 1143"/>
            </a:avLst>
          </a:prstGeom>
          <a:solidFill>
            <a:srgbClr val="EEF1F5"/>
          </a:solidFill>
          <a:ln w="15875">
            <a:solidFill>
              <a:srgbClr val="9AA5B4"/>
            </a:solidFill>
            <a:prstDash val="dash"/>
          </a:ln>
        </p:spPr>
      </p:sp>
      <p:pic>
        <p:nvPicPr>
          <p:cNvPr id="6" name="Image 0" descr="preencoded.png">    </p:cNvPr>
          <p:cNvPicPr>
            <a:picLocks noChangeAspect="1"/>
          </p:cNvPicPr>
          <p:nvPr/>
        </p:nvPicPr>
        <p:blipFill>
          <a:blip r:embed="rId1"/>
          <a:stretch>
            <a:fillRect/>
          </a:stretch>
        </p:blipFill>
        <p:spPr>
          <a:xfrm>
            <a:off x="7818120" y="2766060"/>
            <a:ext cx="731520" cy="731520"/>
          </a:xfrm>
          <a:prstGeom prst="rect">
            <a:avLst/>
          </a:prstGeom>
        </p:spPr>
      </p:pic>
      <p:sp>
        <p:nvSpPr>
          <p:cNvPr id="7" name="Text 4"/>
          <p:cNvSpPr txBox="1"/>
          <p:nvPr/>
        </p:nvSpPr>
        <p:spPr>
          <a:xfrm>
            <a:off x="5029200" y="3634740"/>
            <a:ext cx="6309360" cy="1097280"/>
          </a:xfrm>
          <a:prstGeom prst="rect">
            <a:avLst/>
          </a:prstGeom>
          <a:noFill/>
          <a:ln/>
        </p:spPr>
        <p:txBody>
          <a:bodyPr wrap="square" lIns="0" tIns="0" rIns="0" bIns="0" rtlCol="0" anchor="t"/>
          <a:lstStyle/>
          <a:p>
            <a:pPr algn="ctr" indent="0" marL="0">
              <a:buNone/>
            </a:pPr>
            <a:r>
              <a:rPr lang="en-US" sz="1200" b="1" dirty="0">
                <a:solidFill>
                  <a:srgbClr val="6B7686"/>
                </a:solidFill>
                <a:latin typeface="Calibri" pitchFamily="34" charset="0"/>
                <a:ea typeface="Calibri" pitchFamily="34" charset="-122"/>
                <a:cs typeface="Calibri" pitchFamily="34" charset="-120"/>
              </a:rPr>
              <a:t>SCREENSHOT PLACEHOLDER</a:t>
            </a:r>
            <a:endParaRPr lang="en-US" sz="1200" dirty="0"/>
          </a:p>
          <a:p>
            <a:pPr algn="ctr" indent="0" marL="0">
              <a:buNone/>
            </a:pPr>
            <a:r>
              <a:rPr lang="en-US" sz="1300" dirty="0">
                <a:solidFill>
                  <a:srgbClr val="4B5563"/>
                </a:solidFill>
                <a:latin typeface="Calibri" pitchFamily="34" charset="0"/>
                <a:ea typeface="Calibri" pitchFamily="34" charset="-122"/>
                <a:cs typeface="Calibri" pitchFamily="34" charset="-120"/>
              </a:rPr>
              <a:t>Glossary term detail with Mapped model attributes (and the Proposals queue)</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3200" b="1" dirty="0">
                <a:solidFill>
                  <a:srgbClr val="0E1A2B"/>
                </a:solidFill>
                <a:latin typeface="Cambria" pitchFamily="34" charset="0"/>
                <a:ea typeface="Cambria" pitchFamily="34" charset="-122"/>
                <a:cs typeface="Cambria" pitchFamily="34" charset="-120"/>
              </a:rPr>
              <a:t>MCP Management</a:t>
            </a:r>
            <a:endParaRPr lang="en-US" sz="3200" dirty="0"/>
          </a:p>
        </p:txBody>
      </p:sp>
      <p:sp>
        <p:nvSpPr>
          <p:cNvPr id="3" name="Text 1"/>
          <p:cNvSpPr txBox="1"/>
          <p:nvPr/>
        </p:nvSpPr>
        <p:spPr>
          <a:xfrm>
            <a:off x="548640" y="1188720"/>
            <a:ext cx="3931920" cy="822960"/>
          </a:xfrm>
          <a:prstGeom prst="rect">
            <a:avLst/>
          </a:prstGeom>
          <a:noFill/>
          <a:ln/>
        </p:spPr>
        <p:txBody>
          <a:bodyPr wrap="square" lIns="0" tIns="0" rIns="0" bIns="0" rtlCol="0" anchor="t"/>
          <a:lstStyle/>
          <a:p>
            <a:pPr algn="l" indent="0" marL="0">
              <a:spcAft>
                <a:spcPts val="400"/>
              </a:spcAft>
              <a:buNone/>
            </a:pPr>
            <a:r>
              <a:rPr lang="en-US" sz="1600" i="1" dirty="0">
                <a:solidFill>
                  <a:srgbClr val="5B6472"/>
                </a:solidFill>
                <a:latin typeface="Calibri" pitchFamily="34" charset="0"/>
                <a:ea typeface="Calibri" pitchFamily="34" charset="-122"/>
                <a:cs typeface="Calibri" pitchFamily="34" charset="-120"/>
              </a:rPr>
              <a:t>Operate the agent tool layer.</a:t>
            </a:r>
            <a:endParaRPr lang="en-US" sz="1600" dirty="0"/>
          </a:p>
        </p:txBody>
      </p:sp>
      <p:sp>
        <p:nvSpPr>
          <p:cNvPr id="4" name="Text 2"/>
          <p:cNvSpPr txBox="1"/>
          <p:nvPr/>
        </p:nvSpPr>
        <p:spPr>
          <a:xfrm>
            <a:off x="548640" y="2148840"/>
            <a:ext cx="3931920" cy="38404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Connection: status, tool limit (1–20, default 6), available tools</a:t>
            </a:r>
            <a:endParaRPr lang="en-US" sz="1500" dirty="0"/>
          </a:p>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Traces: execution canvas, Answer path and Execution details</a:t>
            </a:r>
            <a:endParaRPr lang="en-US" sz="1500" dirty="0"/>
          </a:p>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Evaluations: model comparison (admins)</a:t>
            </a:r>
            <a:endParaRPr lang="en-US" sz="1500" dirty="0"/>
          </a:p>
        </p:txBody>
      </p:sp>
      <p:sp>
        <p:nvSpPr>
          <p:cNvPr id="5" name="Shape 3"/>
          <p:cNvSpPr/>
          <p:nvPr/>
        </p:nvSpPr>
        <p:spPr>
          <a:xfrm>
            <a:off x="4754880" y="1188720"/>
            <a:ext cx="6858000" cy="4800600"/>
          </a:xfrm>
          <a:prstGeom prst="roundRect">
            <a:avLst>
              <a:gd name="adj" fmla="val 1143"/>
            </a:avLst>
          </a:prstGeom>
          <a:solidFill>
            <a:srgbClr val="EEF1F5"/>
          </a:solidFill>
          <a:ln w="15875">
            <a:solidFill>
              <a:srgbClr val="9AA5B4"/>
            </a:solidFill>
            <a:prstDash val="dash"/>
          </a:ln>
        </p:spPr>
      </p:sp>
      <p:pic>
        <p:nvPicPr>
          <p:cNvPr id="6" name="Image 0" descr="preencoded.png">    </p:cNvPr>
          <p:cNvPicPr>
            <a:picLocks noChangeAspect="1"/>
          </p:cNvPicPr>
          <p:nvPr/>
        </p:nvPicPr>
        <p:blipFill>
          <a:blip r:embed="rId1"/>
          <a:stretch>
            <a:fillRect/>
          </a:stretch>
        </p:blipFill>
        <p:spPr>
          <a:xfrm>
            <a:off x="7818120" y="2766060"/>
            <a:ext cx="731520" cy="731520"/>
          </a:xfrm>
          <a:prstGeom prst="rect">
            <a:avLst/>
          </a:prstGeom>
        </p:spPr>
      </p:pic>
      <p:sp>
        <p:nvSpPr>
          <p:cNvPr id="7" name="Text 4"/>
          <p:cNvSpPr txBox="1"/>
          <p:nvPr/>
        </p:nvSpPr>
        <p:spPr>
          <a:xfrm>
            <a:off x="5029200" y="3634740"/>
            <a:ext cx="6309360" cy="1097280"/>
          </a:xfrm>
          <a:prstGeom prst="rect">
            <a:avLst/>
          </a:prstGeom>
          <a:noFill/>
          <a:ln/>
        </p:spPr>
        <p:txBody>
          <a:bodyPr wrap="square" lIns="0" tIns="0" rIns="0" bIns="0" rtlCol="0" anchor="t"/>
          <a:lstStyle/>
          <a:p>
            <a:pPr algn="ctr" indent="0" marL="0">
              <a:buNone/>
            </a:pPr>
            <a:r>
              <a:rPr lang="en-US" sz="1200" b="1" dirty="0">
                <a:solidFill>
                  <a:srgbClr val="6B7686"/>
                </a:solidFill>
                <a:latin typeface="Calibri" pitchFamily="34" charset="0"/>
                <a:ea typeface="Calibri" pitchFamily="34" charset="-122"/>
                <a:cs typeface="Calibri" pitchFamily="34" charset="-120"/>
              </a:rPr>
              <a:t>SCREENSHOT PLACEHOLDER</a:t>
            </a:r>
            <a:endParaRPr lang="en-US" sz="1200" dirty="0"/>
          </a:p>
          <a:p>
            <a:pPr algn="ctr" indent="0" marL="0">
              <a:buNone/>
            </a:pPr>
            <a:r>
              <a:rPr lang="en-US" sz="1300" dirty="0">
                <a:solidFill>
                  <a:srgbClr val="4B5563"/>
                </a:solidFill>
                <a:latin typeface="Calibri" pitchFamily="34" charset="0"/>
                <a:ea typeface="Calibri" pitchFamily="34" charset="-122"/>
                <a:cs typeface="Calibri" pitchFamily="34" charset="-120"/>
              </a:rPr>
              <a:t>MCP Management → Connection tab with server status and available tools</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3200" b="1" dirty="0">
                <a:solidFill>
                  <a:srgbClr val="0E1A2B"/>
                </a:solidFill>
                <a:latin typeface="Cambria" pitchFamily="34" charset="0"/>
                <a:ea typeface="Cambria" pitchFamily="34" charset="-122"/>
                <a:cs typeface="Cambria" pitchFamily="34" charset="-120"/>
              </a:rPr>
              <a:t>AI Model Provider &amp; Activity Logs</a:t>
            </a:r>
            <a:endParaRPr lang="en-US" sz="3200" dirty="0"/>
          </a:p>
        </p:txBody>
      </p:sp>
      <p:sp>
        <p:nvSpPr>
          <p:cNvPr id="3" name="Text 1"/>
          <p:cNvSpPr txBox="1"/>
          <p:nvPr/>
        </p:nvSpPr>
        <p:spPr>
          <a:xfrm>
            <a:off x="548640" y="1188720"/>
            <a:ext cx="3931920" cy="822960"/>
          </a:xfrm>
          <a:prstGeom prst="rect">
            <a:avLst/>
          </a:prstGeom>
          <a:noFill/>
          <a:ln/>
        </p:spPr>
        <p:txBody>
          <a:bodyPr wrap="square" lIns="0" tIns="0" rIns="0" bIns="0" rtlCol="0" anchor="t"/>
          <a:lstStyle/>
          <a:p>
            <a:pPr algn="l" indent="0" marL="0">
              <a:spcAft>
                <a:spcPts val="400"/>
              </a:spcAft>
              <a:buNone/>
            </a:pPr>
            <a:r>
              <a:rPr lang="en-US" sz="1600" i="1" dirty="0">
                <a:solidFill>
                  <a:srgbClr val="5B6472"/>
                </a:solidFill>
                <a:latin typeface="Calibri" pitchFamily="34" charset="0"/>
                <a:ea typeface="Calibri" pitchFamily="34" charset="-122"/>
                <a:cs typeface="Calibri" pitchFamily="34" charset="-120"/>
              </a:rPr>
              <a:t>Choose the model and see what happened.</a:t>
            </a:r>
            <a:endParaRPr lang="en-US" sz="1600" dirty="0"/>
          </a:p>
        </p:txBody>
      </p:sp>
      <p:sp>
        <p:nvSpPr>
          <p:cNvPr id="4" name="Text 2"/>
          <p:cNvSpPr txBox="1"/>
          <p:nvPr/>
        </p:nvSpPr>
        <p:spPr>
          <a:xfrm>
            <a:off x="548640" y="2148840"/>
            <a:ext cx="3931920" cy="38404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Session override: Anthropic, Mistral, Amazon Bedrock or the Cloudera LiteLLM gateway</a:t>
            </a:r>
            <a:endParaRPr lang="en-US" sz="1500" dirty="0"/>
          </a:p>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Keys held in memory only, 12-hour expiry</a:t>
            </a:r>
            <a:endParaRPr lang="en-US" sz="1500" dirty="0"/>
          </a:p>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Activity Logs: your own session audit; admins can see the org</a:t>
            </a:r>
            <a:endParaRPr lang="en-US" sz="1500" dirty="0"/>
          </a:p>
        </p:txBody>
      </p:sp>
      <p:sp>
        <p:nvSpPr>
          <p:cNvPr id="5" name="Shape 3"/>
          <p:cNvSpPr/>
          <p:nvPr/>
        </p:nvSpPr>
        <p:spPr>
          <a:xfrm>
            <a:off x="4754880" y="1188720"/>
            <a:ext cx="6858000" cy="4800600"/>
          </a:xfrm>
          <a:prstGeom prst="roundRect">
            <a:avLst>
              <a:gd name="adj" fmla="val 1143"/>
            </a:avLst>
          </a:prstGeom>
          <a:solidFill>
            <a:srgbClr val="EEF1F5"/>
          </a:solidFill>
          <a:ln w="15875">
            <a:solidFill>
              <a:srgbClr val="9AA5B4"/>
            </a:solidFill>
            <a:prstDash val="dash"/>
          </a:ln>
        </p:spPr>
      </p:sp>
      <p:pic>
        <p:nvPicPr>
          <p:cNvPr id="6" name="Image 0" descr="preencoded.png">    </p:cNvPr>
          <p:cNvPicPr>
            <a:picLocks noChangeAspect="1"/>
          </p:cNvPicPr>
          <p:nvPr/>
        </p:nvPicPr>
        <p:blipFill>
          <a:blip r:embed="rId1"/>
          <a:stretch>
            <a:fillRect/>
          </a:stretch>
        </p:blipFill>
        <p:spPr>
          <a:xfrm>
            <a:off x="7818120" y="2766060"/>
            <a:ext cx="731520" cy="731520"/>
          </a:xfrm>
          <a:prstGeom prst="rect">
            <a:avLst/>
          </a:prstGeom>
        </p:spPr>
      </p:pic>
      <p:sp>
        <p:nvSpPr>
          <p:cNvPr id="7" name="Text 4"/>
          <p:cNvSpPr txBox="1"/>
          <p:nvPr/>
        </p:nvSpPr>
        <p:spPr>
          <a:xfrm>
            <a:off x="5029200" y="3634740"/>
            <a:ext cx="6309360" cy="1097280"/>
          </a:xfrm>
          <a:prstGeom prst="rect">
            <a:avLst/>
          </a:prstGeom>
          <a:noFill/>
          <a:ln/>
        </p:spPr>
        <p:txBody>
          <a:bodyPr wrap="square" lIns="0" tIns="0" rIns="0" bIns="0" rtlCol="0" anchor="t"/>
          <a:lstStyle/>
          <a:p>
            <a:pPr algn="ctr" indent="0" marL="0">
              <a:buNone/>
            </a:pPr>
            <a:r>
              <a:rPr lang="en-US" sz="1200" b="1" dirty="0">
                <a:solidFill>
                  <a:srgbClr val="6B7686"/>
                </a:solidFill>
                <a:latin typeface="Calibri" pitchFamily="34" charset="0"/>
                <a:ea typeface="Calibri" pitchFamily="34" charset="-122"/>
                <a:cs typeface="Calibri" pitchFamily="34" charset="-120"/>
              </a:rPr>
              <a:t>SCREENSHOT PLACEHOLDER</a:t>
            </a:r>
            <a:endParaRPr lang="en-US" sz="1200" dirty="0"/>
          </a:p>
          <a:p>
            <a:pPr algn="ctr" indent="0" marL="0">
              <a:buNone/>
            </a:pPr>
            <a:r>
              <a:rPr lang="en-US" sz="1300" dirty="0">
                <a:solidFill>
                  <a:srgbClr val="4B5563"/>
                </a:solidFill>
                <a:latin typeface="Calibri" pitchFamily="34" charset="0"/>
                <a:ea typeface="Calibri" pitchFamily="34" charset="-122"/>
                <a:cs typeface="Calibri" pitchFamily="34" charset="-120"/>
              </a:rPr>
              <a:t>AI Model Provider session override, and Activity Logs</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3200" b="1" dirty="0">
                <a:solidFill>
                  <a:srgbClr val="0E1A2B"/>
                </a:solidFill>
                <a:latin typeface="Cambria" pitchFamily="34" charset="0"/>
                <a:ea typeface="Cambria" pitchFamily="34" charset="-122"/>
                <a:cs typeface="Cambria" pitchFamily="34" charset="-120"/>
              </a:rPr>
              <a:t>Documentation</a:t>
            </a:r>
            <a:endParaRPr lang="en-US" sz="3200" dirty="0"/>
          </a:p>
        </p:txBody>
      </p:sp>
      <p:sp>
        <p:nvSpPr>
          <p:cNvPr id="3" name="Text 1"/>
          <p:cNvSpPr txBox="1"/>
          <p:nvPr/>
        </p:nvSpPr>
        <p:spPr>
          <a:xfrm>
            <a:off x="548640" y="1188720"/>
            <a:ext cx="3931920" cy="822960"/>
          </a:xfrm>
          <a:prstGeom prst="rect">
            <a:avLst/>
          </a:prstGeom>
          <a:noFill/>
          <a:ln/>
        </p:spPr>
        <p:txBody>
          <a:bodyPr wrap="square" lIns="0" tIns="0" rIns="0" bIns="0" rtlCol="0" anchor="t"/>
          <a:lstStyle/>
          <a:p>
            <a:pPr algn="l" indent="0" marL="0">
              <a:spcAft>
                <a:spcPts val="400"/>
              </a:spcAft>
              <a:buNone/>
            </a:pPr>
            <a:r>
              <a:rPr lang="en-US" sz="1600" i="1" dirty="0">
                <a:solidFill>
                  <a:srgbClr val="5B6472"/>
                </a:solidFill>
                <a:latin typeface="Calibri" pitchFamily="34" charset="0"/>
                <a:ea typeface="Calibri" pitchFamily="34" charset="-122"/>
                <a:cs typeface="Calibri" pitchFamily="34" charset="-120"/>
              </a:rPr>
              <a:t>The docs live inside the product.</a:t>
            </a:r>
            <a:endParaRPr lang="en-US" sz="1600" dirty="0"/>
          </a:p>
        </p:txBody>
      </p:sp>
      <p:sp>
        <p:nvSpPr>
          <p:cNvPr id="4" name="Text 2"/>
          <p:cNvSpPr txBox="1"/>
          <p:nvPr/>
        </p:nvSpPr>
        <p:spPr>
          <a:xfrm>
            <a:off x="548640" y="2148840"/>
            <a:ext cx="3931920" cy="38404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Four projects: Helios Query, Helios-DS-Generation, Helios-DS-Evaluation, Platform</a:t>
            </a:r>
            <a:endParaRPr lang="en-US" sz="1500" dirty="0"/>
          </a:p>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19 pages: guides, architecture, MCP, security, deployment, API reference</a:t>
            </a:r>
            <a:endParaRPr lang="en-US" sz="1500" dirty="0"/>
          </a:p>
          <a:p>
            <a:pPr marL="342900" indent="-342900">
              <a:spcAft>
                <a:spcPts val="800"/>
              </a:spcAft>
              <a:buSzPct val="100000"/>
              <a:buChar char="•"/>
            </a:pPr>
            <a:r>
              <a:rPr lang="en-US" sz="1500" dirty="0">
                <a:solidFill>
                  <a:srgbClr val="1F2937"/>
                </a:solidFill>
                <a:latin typeface="Calibri" pitchFamily="34" charset="0"/>
                <a:ea typeface="Calibri" pitchFamily="34" charset="-122"/>
                <a:cs typeface="Calibri" pitchFamily="34" charset="-120"/>
              </a:rPr>
              <a:t>Searchable hub</a:t>
            </a:r>
            <a:endParaRPr lang="en-US" sz="1500" dirty="0"/>
          </a:p>
        </p:txBody>
      </p:sp>
      <p:sp>
        <p:nvSpPr>
          <p:cNvPr id="5" name="Shape 3"/>
          <p:cNvSpPr/>
          <p:nvPr/>
        </p:nvSpPr>
        <p:spPr>
          <a:xfrm>
            <a:off x="4754880" y="1188720"/>
            <a:ext cx="6858000" cy="4800600"/>
          </a:xfrm>
          <a:prstGeom prst="roundRect">
            <a:avLst>
              <a:gd name="adj" fmla="val 1143"/>
            </a:avLst>
          </a:prstGeom>
          <a:solidFill>
            <a:srgbClr val="EEF1F5"/>
          </a:solidFill>
          <a:ln w="15875">
            <a:solidFill>
              <a:srgbClr val="9AA5B4"/>
            </a:solidFill>
            <a:prstDash val="dash"/>
          </a:ln>
        </p:spPr>
      </p:sp>
      <p:pic>
        <p:nvPicPr>
          <p:cNvPr id="6" name="Image 0" descr="preencoded.png">    </p:cNvPr>
          <p:cNvPicPr>
            <a:picLocks noChangeAspect="1"/>
          </p:cNvPicPr>
          <p:nvPr/>
        </p:nvPicPr>
        <p:blipFill>
          <a:blip r:embed="rId1"/>
          <a:stretch>
            <a:fillRect/>
          </a:stretch>
        </p:blipFill>
        <p:spPr>
          <a:xfrm>
            <a:off x="7818120" y="2766060"/>
            <a:ext cx="731520" cy="731520"/>
          </a:xfrm>
          <a:prstGeom prst="rect">
            <a:avLst/>
          </a:prstGeom>
        </p:spPr>
      </p:pic>
      <p:sp>
        <p:nvSpPr>
          <p:cNvPr id="7" name="Text 4"/>
          <p:cNvSpPr txBox="1"/>
          <p:nvPr/>
        </p:nvSpPr>
        <p:spPr>
          <a:xfrm>
            <a:off x="5029200" y="3634740"/>
            <a:ext cx="6309360" cy="1097280"/>
          </a:xfrm>
          <a:prstGeom prst="rect">
            <a:avLst/>
          </a:prstGeom>
          <a:noFill/>
          <a:ln/>
        </p:spPr>
        <p:txBody>
          <a:bodyPr wrap="square" lIns="0" tIns="0" rIns="0" bIns="0" rtlCol="0" anchor="t"/>
          <a:lstStyle/>
          <a:p>
            <a:pPr algn="ctr" indent="0" marL="0">
              <a:buNone/>
            </a:pPr>
            <a:r>
              <a:rPr lang="en-US" sz="1200" b="1" dirty="0">
                <a:solidFill>
                  <a:srgbClr val="6B7686"/>
                </a:solidFill>
                <a:latin typeface="Calibri" pitchFamily="34" charset="0"/>
                <a:ea typeface="Calibri" pitchFamily="34" charset="-122"/>
                <a:cs typeface="Calibri" pitchFamily="34" charset="-120"/>
              </a:rPr>
              <a:t>SCREENSHOT PLACEHOLDER</a:t>
            </a:r>
            <a:endParaRPr lang="en-US" sz="1200" dirty="0"/>
          </a:p>
          <a:p>
            <a:pPr algn="ctr" indent="0" marL="0">
              <a:buNone/>
            </a:pPr>
            <a:r>
              <a:rPr lang="en-US" sz="1300" dirty="0">
                <a:solidFill>
                  <a:srgbClr val="4B5563"/>
                </a:solidFill>
                <a:latin typeface="Calibri" pitchFamily="34" charset="0"/>
                <a:ea typeface="Calibri" pitchFamily="34" charset="-122"/>
                <a:cs typeface="Calibri" pitchFamily="34" charset="-120"/>
              </a:rPr>
              <a:t>Documentation hub with the four project cards</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E1A2B"/>
        </a:solidFill>
      </p:bgPr>
    </p:bg>
    <p:spTree>
      <p:nvGrpSpPr>
        <p:cNvPr id="1" name=""/>
        <p:cNvGrpSpPr/>
        <p:nvPr/>
      </p:nvGrpSpPr>
      <p:grpSpPr>
        <a:xfrm>
          <a:off x="0" y="0"/>
          <a:ext cx="0" cy="0"/>
          <a:chOff x="0" y="0"/>
          <a:chExt cx="0" cy="0"/>
        </a:xfrm>
      </p:grpSpPr>
      <p:sp>
        <p:nvSpPr>
          <p:cNvPr id="2" name="Shape 0"/>
          <p:cNvSpPr/>
          <p:nvPr/>
        </p:nvSpPr>
        <p:spPr>
          <a:xfrm>
            <a:off x="8412480" y="1097280"/>
            <a:ext cx="4754880" cy="4754880"/>
          </a:xfrm>
          <a:prstGeom prst="ellipse">
            <a:avLst/>
          </a:prstGeom>
          <a:solidFill>
            <a:srgbClr val="1C2F4A"/>
          </a:solidFill>
          <a:ln w="12700">
            <a:solidFill>
              <a:srgbClr val="1C2F4A"/>
            </a:solidFill>
            <a:prstDash val="solid"/>
          </a:ln>
        </p:spPr>
      </p:sp>
      <p:sp>
        <p:nvSpPr>
          <p:cNvPr id="3" name="Shape 1"/>
          <p:cNvSpPr/>
          <p:nvPr/>
        </p:nvSpPr>
        <p:spPr>
          <a:xfrm>
            <a:off x="9966960" y="2651760"/>
            <a:ext cx="1645920" cy="1645920"/>
          </a:xfrm>
          <a:prstGeom prst="ellipse">
            <a:avLst/>
          </a:prstGeom>
          <a:solidFill>
            <a:srgbClr val="F2A541"/>
          </a:solidFill>
          <a:ln w="12700">
            <a:solidFill>
              <a:srgbClr val="F2A541"/>
            </a:solidFill>
            <a:prstDash val="solid"/>
          </a:ln>
        </p:spPr>
      </p:sp>
      <p:pic>
        <p:nvPicPr>
          <p:cNvPr id="4" name="Image 0" descr="preencoded.png">    </p:cNvPr>
          <p:cNvPicPr>
            <a:picLocks noChangeAspect="1"/>
          </p:cNvPicPr>
          <p:nvPr/>
        </p:nvPicPr>
        <p:blipFill>
          <a:blip r:embed="rId1"/>
          <a:stretch>
            <a:fillRect/>
          </a:stretch>
        </p:blipFill>
        <p:spPr>
          <a:xfrm>
            <a:off x="10361981" y="3046781"/>
            <a:ext cx="855878" cy="855878"/>
          </a:xfrm>
          <a:prstGeom prst="rect">
            <a:avLst/>
          </a:prstGeom>
        </p:spPr>
      </p:pic>
      <p:sp>
        <p:nvSpPr>
          <p:cNvPr id="5" name="Text 2"/>
          <p:cNvSpPr txBox="1"/>
          <p:nvPr/>
        </p:nvSpPr>
        <p:spPr>
          <a:xfrm>
            <a:off x="731520" y="2011680"/>
            <a:ext cx="6858000" cy="365760"/>
          </a:xfrm>
          <a:prstGeom prst="rect">
            <a:avLst/>
          </a:prstGeom>
          <a:noFill/>
          <a:ln/>
        </p:spPr>
        <p:txBody>
          <a:bodyPr wrap="square" lIns="0" tIns="0" rIns="0" bIns="0" rtlCol="0" anchor="ctr"/>
          <a:lstStyle/>
          <a:p>
            <a:pPr indent="0" marL="0">
              <a:buNone/>
            </a:pPr>
            <a:r>
              <a:rPr lang="en-US" sz="1400" b="1" spc="300" kern="0" dirty="0">
                <a:solidFill>
                  <a:srgbClr val="F2A541"/>
                </a:solidFill>
                <a:latin typeface="Calibri" pitchFamily="34" charset="0"/>
                <a:ea typeface="Calibri" pitchFamily="34" charset="-122"/>
                <a:cs typeface="Calibri" pitchFamily="34" charset="-120"/>
              </a:rPr>
              <a:t>PART 6 OF 6</a:t>
            </a:r>
            <a:endParaRPr lang="en-US" sz="1400" dirty="0"/>
          </a:p>
        </p:txBody>
      </p:sp>
      <p:sp>
        <p:nvSpPr>
          <p:cNvPr id="6" name="Text 3"/>
          <p:cNvSpPr txBox="1"/>
          <p:nvPr/>
        </p:nvSpPr>
        <p:spPr>
          <a:xfrm>
            <a:off x="731520" y="2468880"/>
            <a:ext cx="7498080" cy="118872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Helios-DS and the crawler</a:t>
            </a:r>
            <a:endParaRPr lang="en-US" sz="3800" dirty="0"/>
          </a:p>
        </p:txBody>
      </p:sp>
      <p:sp>
        <p:nvSpPr>
          <p:cNvPr id="7" name="Text 4"/>
          <p:cNvSpPr txBox="1"/>
          <p:nvPr/>
        </p:nvSpPr>
        <p:spPr>
          <a:xfrm>
            <a:off x="731520" y="3749040"/>
            <a:ext cx="6949440" cy="1097280"/>
          </a:xfrm>
          <a:prstGeom prst="rect">
            <a:avLst/>
          </a:prstGeom>
          <a:noFill/>
          <a:ln/>
        </p:spPr>
        <p:txBody>
          <a:bodyPr wrap="square" lIns="0" tIns="0" rIns="0" bIns="0" rtlCol="0" anchor="t"/>
          <a:lstStyle/>
          <a:p>
            <a:pPr indent="0" marL="0">
              <a:buNone/>
            </a:pPr>
            <a:r>
              <a:rPr lang="en-US" sz="1800" dirty="0">
                <a:solidFill>
                  <a:srgbClr val="C9D3E0"/>
                </a:solidFill>
                <a:latin typeface="Calibri" pitchFamily="34" charset="0"/>
                <a:ea typeface="Calibri" pitchFamily="34" charset="-122"/>
                <a:cs typeface="Calibri" pitchFamily="34" charset="-120"/>
              </a:rPr>
              <a:t>A synthetic enterprise with a hidden answer key, so we can measure whether Helios really understands unstructured evidence.</a:t>
            </a:r>
            <a:endParaRPr lang="en-US" sz="1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2900" b="1" dirty="0">
                <a:solidFill>
                  <a:srgbClr val="0E1A2B"/>
                </a:solidFill>
                <a:latin typeface="Cambria" pitchFamily="34" charset="0"/>
                <a:ea typeface="Cambria" pitchFamily="34" charset="-122"/>
                <a:cs typeface="Cambria" pitchFamily="34" charset="-120"/>
              </a:rPr>
              <a:t>Why Helios-DS: from structured answers to evidence</a:t>
            </a:r>
            <a:endParaRPr lang="en-US" sz="2900" dirty="0"/>
          </a:p>
        </p:txBody>
      </p:sp>
      <p:sp>
        <p:nvSpPr>
          <p:cNvPr id="3" name="Text 1"/>
          <p:cNvSpPr txBox="1"/>
          <p:nvPr/>
        </p:nvSpPr>
        <p:spPr>
          <a:xfrm>
            <a:off x="548640" y="1097280"/>
            <a:ext cx="11094415" cy="457200"/>
          </a:xfrm>
          <a:prstGeom prst="rect">
            <a:avLst/>
          </a:prstGeom>
          <a:noFill/>
          <a:ln/>
        </p:spPr>
        <p:txBody>
          <a:bodyPr wrap="square" lIns="0" tIns="0" rIns="0" bIns="0" rtlCol="0" anchor="ctr"/>
          <a:lstStyle/>
          <a:p>
            <a:pPr indent="0" marL="0">
              <a:buNone/>
            </a:pPr>
            <a:r>
              <a:rPr lang="en-US" sz="1600" i="1" dirty="0">
                <a:solidFill>
                  <a:srgbClr val="5B6472"/>
                </a:solidFill>
                <a:latin typeface="Calibri" pitchFamily="34" charset="0"/>
                <a:ea typeface="Calibri" pitchFamily="34" charset="-122"/>
                <a:cs typeface="Calibri" pitchFamily="34" charset="-120"/>
              </a:rPr>
              <a:t>Structured data says what happened. Documents, emails, chats, images and calls say why.</a:t>
            </a:r>
            <a:endParaRPr lang="en-US" sz="1600" dirty="0"/>
          </a:p>
        </p:txBody>
      </p:sp>
      <p:sp>
        <p:nvSpPr>
          <p:cNvPr id="4" name="Shape 2"/>
          <p:cNvSpPr/>
          <p:nvPr/>
        </p:nvSpPr>
        <p:spPr>
          <a:xfrm>
            <a:off x="548640" y="1737360"/>
            <a:ext cx="5394960" cy="1920240"/>
          </a:xfrm>
          <a:prstGeom prst="roundRect">
            <a:avLst>
              <a:gd name="adj" fmla="val 3810"/>
            </a:avLst>
          </a:prstGeom>
          <a:solidFill>
            <a:srgbClr val="F4F6F9"/>
          </a:solidFill>
          <a:ln w="12700">
            <a:solidFill>
              <a:srgbClr val="F4F6F9"/>
            </a:solidFill>
            <a:prstDash val="solid"/>
          </a:ln>
        </p:spPr>
      </p:sp>
      <p:sp>
        <p:nvSpPr>
          <p:cNvPr id="5" name="Shape 3"/>
          <p:cNvSpPr/>
          <p:nvPr/>
        </p:nvSpPr>
        <p:spPr>
          <a:xfrm>
            <a:off x="777240" y="1965960"/>
            <a:ext cx="502920" cy="502920"/>
          </a:xfrm>
          <a:prstGeom prst="ellipse">
            <a:avLst/>
          </a:prstGeom>
          <a:solidFill>
            <a:srgbClr val="F2A541"/>
          </a:solidFill>
          <a:ln w="12700">
            <a:solidFill>
              <a:srgbClr val="F2A541"/>
            </a:solidFill>
            <a:prstDash val="solid"/>
          </a:ln>
        </p:spPr>
      </p:sp>
      <p:pic>
        <p:nvPicPr>
          <p:cNvPr id="6" name="Image 0" descr="preencoded.png">    </p:cNvPr>
          <p:cNvPicPr>
            <a:picLocks noChangeAspect="1"/>
          </p:cNvPicPr>
          <p:nvPr/>
        </p:nvPicPr>
        <p:blipFill>
          <a:blip r:embed="rId1"/>
          <a:stretch>
            <a:fillRect/>
          </a:stretch>
        </p:blipFill>
        <p:spPr>
          <a:xfrm>
            <a:off x="897941" y="2086661"/>
            <a:ext cx="261518" cy="261518"/>
          </a:xfrm>
          <a:prstGeom prst="rect">
            <a:avLst/>
          </a:prstGeom>
        </p:spPr>
      </p:pic>
      <p:sp>
        <p:nvSpPr>
          <p:cNvPr id="7" name="Text 4"/>
          <p:cNvSpPr txBox="1"/>
          <p:nvPr/>
        </p:nvSpPr>
        <p:spPr>
          <a:xfrm>
            <a:off x="1417320" y="1938528"/>
            <a:ext cx="434340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Structured ↔ unstructured</a:t>
            </a:r>
            <a:endParaRPr lang="en-US" sz="1700" dirty="0"/>
          </a:p>
        </p:txBody>
      </p:sp>
      <p:sp>
        <p:nvSpPr>
          <p:cNvPr id="8" name="Text 5"/>
          <p:cNvSpPr txBox="1"/>
          <p:nvPr/>
        </p:nvSpPr>
        <p:spPr>
          <a:xfrm>
            <a:off x="822960" y="2606040"/>
            <a:ext cx="4892040" cy="914400"/>
          </a:xfrm>
          <a:prstGeom prst="rect">
            <a:avLst/>
          </a:prstGeom>
          <a:noFill/>
          <a:ln/>
        </p:spPr>
        <p:txBody>
          <a:bodyPr wrap="square" lIns="0" tIns="0" rIns="0" bIns="0" rtlCol="0" anchor="t"/>
          <a:lstStyle/>
          <a:p>
            <a:pPr indent="0" marL="0">
              <a:buNone/>
            </a:pPr>
            <a:r>
              <a:rPr lang="en-US" sz="1450" dirty="0">
                <a:solidFill>
                  <a:srgbClr val="1F2937"/>
                </a:solidFill>
                <a:latin typeface="Calibri" pitchFamily="34" charset="0"/>
                <a:ea typeface="Calibri" pitchFamily="34" charset="-122"/>
                <a:cs typeface="Calibri" pitchFamily="34" charset="-120"/>
              </a:rPr>
              <a:t>Returns rise in TPC-DS while emails, inspection photos and calls reveal a packaging defect.</a:t>
            </a:r>
            <a:endParaRPr lang="en-US" sz="1450" dirty="0"/>
          </a:p>
        </p:txBody>
      </p:sp>
      <p:sp>
        <p:nvSpPr>
          <p:cNvPr id="9" name="Shape 6"/>
          <p:cNvSpPr/>
          <p:nvPr/>
        </p:nvSpPr>
        <p:spPr>
          <a:xfrm>
            <a:off x="6217920" y="1737360"/>
            <a:ext cx="5394960" cy="1920240"/>
          </a:xfrm>
          <a:prstGeom prst="roundRect">
            <a:avLst>
              <a:gd name="adj" fmla="val 3810"/>
            </a:avLst>
          </a:prstGeom>
          <a:solidFill>
            <a:srgbClr val="F4F6F9"/>
          </a:solidFill>
          <a:ln w="12700">
            <a:solidFill>
              <a:srgbClr val="F4F6F9"/>
            </a:solidFill>
            <a:prstDash val="solid"/>
          </a:ln>
        </p:spPr>
      </p:sp>
      <p:sp>
        <p:nvSpPr>
          <p:cNvPr id="10" name="Shape 7"/>
          <p:cNvSpPr/>
          <p:nvPr/>
        </p:nvSpPr>
        <p:spPr>
          <a:xfrm>
            <a:off x="6446520" y="1965960"/>
            <a:ext cx="502920" cy="502920"/>
          </a:xfrm>
          <a:prstGeom prst="ellipse">
            <a:avLst/>
          </a:prstGeom>
          <a:solidFill>
            <a:srgbClr val="F2A541"/>
          </a:solidFill>
          <a:ln w="12700">
            <a:solidFill>
              <a:srgbClr val="F2A541"/>
            </a:solidFill>
            <a:prstDash val="solid"/>
          </a:ln>
        </p:spPr>
      </p:sp>
      <p:pic>
        <p:nvPicPr>
          <p:cNvPr id="11" name="Image 1" descr="preencoded.png">    </p:cNvPr>
          <p:cNvPicPr>
            <a:picLocks noChangeAspect="1"/>
          </p:cNvPicPr>
          <p:nvPr/>
        </p:nvPicPr>
        <p:blipFill>
          <a:blip r:embed="rId2"/>
          <a:stretch>
            <a:fillRect/>
          </a:stretch>
        </p:blipFill>
        <p:spPr>
          <a:xfrm>
            <a:off x="6567221" y="2086661"/>
            <a:ext cx="261518" cy="261518"/>
          </a:xfrm>
          <a:prstGeom prst="rect">
            <a:avLst/>
          </a:prstGeom>
        </p:spPr>
      </p:pic>
      <p:sp>
        <p:nvSpPr>
          <p:cNvPr id="12" name="Text 8"/>
          <p:cNvSpPr txBox="1"/>
          <p:nvPr/>
        </p:nvSpPr>
        <p:spPr>
          <a:xfrm>
            <a:off x="7086600" y="1938528"/>
            <a:ext cx="434340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Entity continuity</a:t>
            </a:r>
            <a:endParaRPr lang="en-US" sz="1700" dirty="0"/>
          </a:p>
        </p:txBody>
      </p:sp>
      <p:sp>
        <p:nvSpPr>
          <p:cNvPr id="13" name="Text 9"/>
          <p:cNvSpPr txBox="1"/>
          <p:nvPr/>
        </p:nvSpPr>
        <p:spPr>
          <a:xfrm>
            <a:off x="6492240" y="2606040"/>
            <a:ext cx="4892040" cy="914400"/>
          </a:xfrm>
          <a:prstGeom prst="rect">
            <a:avLst/>
          </a:prstGeom>
          <a:noFill/>
          <a:ln/>
        </p:spPr>
        <p:txBody>
          <a:bodyPr wrap="square" lIns="0" tIns="0" rIns="0" bIns="0" rtlCol="0" anchor="t"/>
          <a:lstStyle/>
          <a:p>
            <a:pPr indent="0" marL="0">
              <a:buNone/>
            </a:pPr>
            <a:r>
              <a:rPr lang="en-US" sz="1450" dirty="0">
                <a:solidFill>
                  <a:srgbClr val="1F2937"/>
                </a:solidFill>
                <a:latin typeface="Calibri" pitchFamily="34" charset="0"/>
                <a:ea typeface="Calibri" pitchFamily="34" charset="-122"/>
                <a:cs typeface="Calibri" pitchFamily="34" charset="-120"/>
              </a:rPr>
              <a:t>The same customer, item or store, whether it appears in SQL, an email alias, a shipping label or a phone call.</a:t>
            </a:r>
            <a:endParaRPr lang="en-US" sz="1450" dirty="0"/>
          </a:p>
        </p:txBody>
      </p:sp>
      <p:sp>
        <p:nvSpPr>
          <p:cNvPr id="14" name="Shape 10"/>
          <p:cNvSpPr/>
          <p:nvPr/>
        </p:nvSpPr>
        <p:spPr>
          <a:xfrm>
            <a:off x="548640" y="3886200"/>
            <a:ext cx="5394960" cy="1920240"/>
          </a:xfrm>
          <a:prstGeom prst="roundRect">
            <a:avLst>
              <a:gd name="adj" fmla="val 3810"/>
            </a:avLst>
          </a:prstGeom>
          <a:solidFill>
            <a:srgbClr val="F4F6F9"/>
          </a:solidFill>
          <a:ln w="12700">
            <a:solidFill>
              <a:srgbClr val="F4F6F9"/>
            </a:solidFill>
            <a:prstDash val="solid"/>
          </a:ln>
        </p:spPr>
      </p:sp>
      <p:sp>
        <p:nvSpPr>
          <p:cNvPr id="15" name="Shape 11"/>
          <p:cNvSpPr/>
          <p:nvPr/>
        </p:nvSpPr>
        <p:spPr>
          <a:xfrm>
            <a:off x="777240" y="4114800"/>
            <a:ext cx="502920" cy="502920"/>
          </a:xfrm>
          <a:prstGeom prst="ellipse">
            <a:avLst/>
          </a:prstGeom>
          <a:solidFill>
            <a:srgbClr val="F2A541"/>
          </a:solidFill>
          <a:ln w="12700">
            <a:solidFill>
              <a:srgbClr val="F2A541"/>
            </a:solidFill>
            <a:prstDash val="solid"/>
          </a:ln>
        </p:spPr>
      </p:sp>
      <p:pic>
        <p:nvPicPr>
          <p:cNvPr id="16" name="Image 2" descr="preencoded.png">    </p:cNvPr>
          <p:cNvPicPr>
            <a:picLocks noChangeAspect="1"/>
          </p:cNvPicPr>
          <p:nvPr/>
        </p:nvPicPr>
        <p:blipFill>
          <a:blip r:embed="rId3"/>
          <a:stretch>
            <a:fillRect/>
          </a:stretch>
        </p:blipFill>
        <p:spPr>
          <a:xfrm>
            <a:off x="897941" y="4235501"/>
            <a:ext cx="261518" cy="261518"/>
          </a:xfrm>
          <a:prstGeom prst="rect">
            <a:avLst/>
          </a:prstGeom>
        </p:spPr>
      </p:pic>
      <p:sp>
        <p:nvSpPr>
          <p:cNvPr id="17" name="Text 12"/>
          <p:cNvSpPr txBox="1"/>
          <p:nvPr/>
        </p:nvSpPr>
        <p:spPr>
          <a:xfrm>
            <a:off x="1417320" y="4087368"/>
            <a:ext cx="434340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Relationship discovery</a:t>
            </a:r>
            <a:endParaRPr lang="en-US" sz="1700" dirty="0"/>
          </a:p>
        </p:txBody>
      </p:sp>
      <p:sp>
        <p:nvSpPr>
          <p:cNvPr id="18" name="Text 13"/>
          <p:cNvSpPr txBox="1"/>
          <p:nvPr/>
        </p:nvSpPr>
        <p:spPr>
          <a:xfrm>
            <a:off x="822960" y="4754880"/>
            <a:ext cx="4892040" cy="914400"/>
          </a:xfrm>
          <a:prstGeom prst="rect">
            <a:avLst/>
          </a:prstGeom>
          <a:noFill/>
          <a:ln/>
        </p:spPr>
        <p:txBody>
          <a:bodyPr wrap="square" lIns="0" tIns="0" rIns="0" bIns="0" rtlCol="0" anchor="t"/>
          <a:lstStyle/>
          <a:p>
            <a:pPr indent="0" marL="0">
              <a:buNone/>
            </a:pPr>
            <a:r>
              <a:rPr lang="en-US" sz="1450" dirty="0">
                <a:solidFill>
                  <a:srgbClr val="1F2937"/>
                </a:solidFill>
                <a:latin typeface="Calibri" pitchFamily="34" charset="0"/>
                <a:ea typeface="Calibri" pitchFamily="34" charset="-122"/>
                <a:cs typeface="Calibri" pitchFamily="34" charset="-120"/>
              </a:rPr>
              <a:t>A photo shows an item; an email discusses a return; the return refers to a sale.</a:t>
            </a:r>
            <a:endParaRPr lang="en-US" sz="1450" dirty="0"/>
          </a:p>
        </p:txBody>
      </p:sp>
      <p:sp>
        <p:nvSpPr>
          <p:cNvPr id="19" name="Shape 14"/>
          <p:cNvSpPr/>
          <p:nvPr/>
        </p:nvSpPr>
        <p:spPr>
          <a:xfrm>
            <a:off x="6217920" y="3886200"/>
            <a:ext cx="5394960" cy="1920240"/>
          </a:xfrm>
          <a:prstGeom prst="roundRect">
            <a:avLst>
              <a:gd name="adj" fmla="val 3810"/>
            </a:avLst>
          </a:prstGeom>
          <a:solidFill>
            <a:srgbClr val="F4F6F9"/>
          </a:solidFill>
          <a:ln w="12700">
            <a:solidFill>
              <a:srgbClr val="F4F6F9"/>
            </a:solidFill>
            <a:prstDash val="solid"/>
          </a:ln>
        </p:spPr>
      </p:sp>
      <p:sp>
        <p:nvSpPr>
          <p:cNvPr id="20" name="Shape 15"/>
          <p:cNvSpPr/>
          <p:nvPr/>
        </p:nvSpPr>
        <p:spPr>
          <a:xfrm>
            <a:off x="6446520" y="4114800"/>
            <a:ext cx="502920" cy="502920"/>
          </a:xfrm>
          <a:prstGeom prst="ellipse">
            <a:avLst/>
          </a:prstGeom>
          <a:solidFill>
            <a:srgbClr val="F2A541"/>
          </a:solidFill>
          <a:ln w="12700">
            <a:solidFill>
              <a:srgbClr val="F2A541"/>
            </a:solidFill>
            <a:prstDash val="solid"/>
          </a:ln>
        </p:spPr>
      </p:sp>
      <p:pic>
        <p:nvPicPr>
          <p:cNvPr id="21" name="Image 3" descr="preencoded.png">    </p:cNvPr>
          <p:cNvPicPr>
            <a:picLocks noChangeAspect="1"/>
          </p:cNvPicPr>
          <p:nvPr/>
        </p:nvPicPr>
        <p:blipFill>
          <a:blip r:embed="rId4"/>
          <a:stretch>
            <a:fillRect/>
          </a:stretch>
        </p:blipFill>
        <p:spPr>
          <a:xfrm>
            <a:off x="6567221" y="4235501"/>
            <a:ext cx="261518" cy="261518"/>
          </a:xfrm>
          <a:prstGeom prst="rect">
            <a:avLst/>
          </a:prstGeom>
        </p:spPr>
      </p:pic>
      <p:sp>
        <p:nvSpPr>
          <p:cNvPr id="22" name="Text 16"/>
          <p:cNvSpPr txBox="1"/>
          <p:nvPr/>
        </p:nvSpPr>
        <p:spPr>
          <a:xfrm>
            <a:off x="7086600" y="4087368"/>
            <a:ext cx="434340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Evidence-grounded evaluation</a:t>
            </a:r>
            <a:endParaRPr lang="en-US" sz="1700" dirty="0"/>
          </a:p>
        </p:txBody>
      </p:sp>
      <p:sp>
        <p:nvSpPr>
          <p:cNvPr id="23" name="Text 17"/>
          <p:cNvSpPr txBox="1"/>
          <p:nvPr/>
        </p:nvSpPr>
        <p:spPr>
          <a:xfrm>
            <a:off x="6492240" y="4754880"/>
            <a:ext cx="4892040" cy="914400"/>
          </a:xfrm>
          <a:prstGeom prst="rect">
            <a:avLst/>
          </a:prstGeom>
          <a:noFill/>
          <a:ln/>
        </p:spPr>
        <p:txBody>
          <a:bodyPr wrap="square" lIns="0" tIns="0" rIns="0" bIns="0" rtlCol="0" anchor="t"/>
          <a:lstStyle/>
          <a:p>
            <a:pPr indent="0" marL="0">
              <a:buNone/>
            </a:pPr>
            <a:r>
              <a:rPr lang="en-US" sz="1450" dirty="0">
                <a:solidFill>
                  <a:srgbClr val="1F2937"/>
                </a:solidFill>
                <a:latin typeface="Calibri" pitchFamily="34" charset="0"/>
                <a:ea typeface="Calibri" pitchFamily="34" charset="-122"/>
                <a:cs typeface="Calibri" pitchFamily="34" charset="-120"/>
              </a:rPr>
              <a:t>The generator knows exactly which facts it inserted, where, and who may see them.</a:t>
            </a:r>
            <a:endParaRPr lang="en-US" sz="14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3200" b="1" dirty="0">
                <a:solidFill>
                  <a:srgbClr val="0E1A2B"/>
                </a:solidFill>
                <a:latin typeface="Cambria" pitchFamily="34" charset="0"/>
                <a:ea typeface="Cambria" pitchFamily="34" charset="-122"/>
                <a:cs typeface="Cambria" pitchFamily="34" charset="-120"/>
              </a:rPr>
              <a:t>Two views of one synthetic enterprise</a:t>
            </a:r>
            <a:endParaRPr lang="en-US" sz="3200" dirty="0"/>
          </a:p>
        </p:txBody>
      </p:sp>
      <p:sp>
        <p:nvSpPr>
          <p:cNvPr id="3" name="Text 1"/>
          <p:cNvSpPr txBox="1"/>
          <p:nvPr/>
        </p:nvSpPr>
        <p:spPr>
          <a:xfrm>
            <a:off x="548640" y="1097280"/>
            <a:ext cx="11094415" cy="457200"/>
          </a:xfrm>
          <a:prstGeom prst="rect">
            <a:avLst/>
          </a:prstGeom>
          <a:noFill/>
          <a:ln/>
        </p:spPr>
        <p:txBody>
          <a:bodyPr wrap="square" lIns="0" tIns="0" rIns="0" bIns="0" rtlCol="0" anchor="ctr"/>
          <a:lstStyle/>
          <a:p>
            <a:pPr indent="0" marL="0">
              <a:buNone/>
            </a:pPr>
            <a:r>
              <a:rPr lang="en-US" sz="1600" i="1" dirty="0">
                <a:solidFill>
                  <a:srgbClr val="5B6472"/>
                </a:solidFill>
                <a:latin typeface="Calibri" pitchFamily="34" charset="0"/>
                <a:ea typeface="Calibri" pitchFamily="34" charset="-122"/>
                <a:cs typeface="Calibri" pitchFamily="34" charset="-120"/>
              </a:rPr>
              <a:t>The gap between what the generator intended and what Helios observed is measurable.</a:t>
            </a:r>
            <a:endParaRPr lang="en-US" sz="1600" dirty="0"/>
          </a:p>
        </p:txBody>
      </p:sp>
      <p:sp>
        <p:nvSpPr>
          <p:cNvPr id="4" name="Shape 2"/>
          <p:cNvSpPr/>
          <p:nvPr/>
        </p:nvSpPr>
        <p:spPr>
          <a:xfrm>
            <a:off x="548640" y="1828800"/>
            <a:ext cx="2606040" cy="3017520"/>
          </a:xfrm>
          <a:prstGeom prst="roundRect">
            <a:avLst>
              <a:gd name="adj" fmla="val 2807"/>
            </a:avLst>
          </a:prstGeom>
          <a:solidFill>
            <a:srgbClr val="F4F6F9"/>
          </a:solidFill>
          <a:ln w="12700">
            <a:solidFill>
              <a:srgbClr val="F4F6F9"/>
            </a:solidFill>
            <a:prstDash val="solid"/>
          </a:ln>
        </p:spPr>
      </p:sp>
      <p:sp>
        <p:nvSpPr>
          <p:cNvPr id="5" name="Text 3"/>
          <p:cNvSpPr txBox="1"/>
          <p:nvPr/>
        </p:nvSpPr>
        <p:spPr>
          <a:xfrm>
            <a:off x="777240" y="2011680"/>
            <a:ext cx="2194560" cy="457200"/>
          </a:xfrm>
          <a:prstGeom prst="rect">
            <a:avLst/>
          </a:prstGeom>
          <a:noFill/>
          <a:ln/>
        </p:spPr>
        <p:txBody>
          <a:bodyPr wrap="square" lIns="0" tIns="0" rIns="0" bIns="0" rtlCol="0" anchor="t"/>
          <a:lstStyle/>
          <a:p>
            <a:pPr algn="l" indent="0" marL="0">
              <a:spcAft>
                <a:spcPts val="400"/>
              </a:spcAft>
              <a:buNone/>
            </a:pPr>
            <a:r>
              <a:rPr lang="en-US" sz="1500" b="1" dirty="0">
                <a:solidFill>
                  <a:srgbClr val="0E1A2B"/>
                </a:solidFill>
                <a:latin typeface="Calibri" pitchFamily="34" charset="0"/>
                <a:ea typeface="Calibri" pitchFamily="34" charset="-122"/>
                <a:cs typeface="Calibri" pitchFamily="34" charset="-120"/>
              </a:rPr>
              <a:t>tpcds.*</a:t>
            </a:r>
            <a:endParaRPr lang="en-US" sz="1500" dirty="0"/>
          </a:p>
        </p:txBody>
      </p:sp>
      <p:sp>
        <p:nvSpPr>
          <p:cNvPr id="6" name="Text 4"/>
          <p:cNvSpPr txBox="1"/>
          <p:nvPr/>
        </p:nvSpPr>
        <p:spPr>
          <a:xfrm>
            <a:off x="777240" y="2514600"/>
            <a:ext cx="2194560" cy="640080"/>
          </a:xfrm>
          <a:prstGeom prst="rect">
            <a:avLst/>
          </a:prstGeom>
          <a:noFill/>
          <a:ln/>
        </p:spPr>
        <p:txBody>
          <a:bodyPr wrap="square" lIns="0" tIns="0" rIns="0" bIns="0" rtlCol="0" anchor="t"/>
          <a:lstStyle/>
          <a:p>
            <a:pPr algn="l" indent="0" marL="0">
              <a:spcAft>
                <a:spcPts val="400"/>
              </a:spcAft>
              <a:buNone/>
            </a:pPr>
            <a:r>
              <a:rPr lang="en-US" sz="1600" b="1" dirty="0">
                <a:solidFill>
                  <a:srgbClr val="1F2937"/>
                </a:solidFill>
                <a:latin typeface="Calibri" pitchFamily="34" charset="0"/>
                <a:ea typeface="Calibri" pitchFamily="34" charset="-122"/>
                <a:cs typeface="Calibri" pitchFamily="34" charset="-120"/>
              </a:rPr>
              <a:t>The structured business world</a:t>
            </a:r>
            <a:endParaRPr lang="en-US" sz="1600" dirty="0"/>
          </a:p>
        </p:txBody>
      </p:sp>
      <p:sp>
        <p:nvSpPr>
          <p:cNvPr id="7" name="Text 5"/>
          <p:cNvSpPr txBox="1"/>
          <p:nvPr/>
        </p:nvSpPr>
        <p:spPr>
          <a:xfrm>
            <a:off x="777240" y="3200400"/>
            <a:ext cx="2194560" cy="1554480"/>
          </a:xfrm>
          <a:prstGeom prst="rect">
            <a:avLst/>
          </a:prstGeom>
          <a:noFill/>
          <a:ln/>
        </p:spPr>
        <p:txBody>
          <a:bodyPr wrap="square" lIns="0" tIns="0" rIns="0" bIns="0" rtlCol="0" anchor="t"/>
          <a:lstStyle/>
          <a:p>
            <a:pPr algn="l" indent="0" marL="0">
              <a:spcAft>
                <a:spcPts val="400"/>
              </a:spcAft>
              <a:buNone/>
            </a:pPr>
            <a:r>
              <a:rPr lang="en-US" sz="1350" dirty="0">
                <a:solidFill>
                  <a:srgbClr val="1F2937"/>
                </a:solidFill>
                <a:latin typeface="Calibri" pitchFamily="34" charset="0"/>
                <a:ea typeface="Calibri" pitchFamily="34" charset="-122"/>
                <a:cs typeface="Calibri" pitchFamily="34" charset="-120"/>
              </a:rPr>
              <a:t>TPC-DS SF1 in Iceberg (unchanged)</a:t>
            </a:r>
            <a:endParaRPr lang="en-US" sz="1350" dirty="0"/>
          </a:p>
        </p:txBody>
      </p:sp>
      <p:sp>
        <p:nvSpPr>
          <p:cNvPr id="8" name="Shape 6"/>
          <p:cNvSpPr/>
          <p:nvPr/>
        </p:nvSpPr>
        <p:spPr>
          <a:xfrm>
            <a:off x="3360420" y="1828800"/>
            <a:ext cx="2606040" cy="3017520"/>
          </a:xfrm>
          <a:prstGeom prst="roundRect">
            <a:avLst>
              <a:gd name="adj" fmla="val 2807"/>
            </a:avLst>
          </a:prstGeom>
          <a:solidFill>
            <a:srgbClr val="F4F6F9"/>
          </a:solidFill>
          <a:ln w="12700">
            <a:solidFill>
              <a:srgbClr val="F4F6F9"/>
            </a:solidFill>
            <a:prstDash val="solid"/>
          </a:ln>
        </p:spPr>
      </p:sp>
      <p:sp>
        <p:nvSpPr>
          <p:cNvPr id="9" name="Text 7"/>
          <p:cNvSpPr txBox="1"/>
          <p:nvPr/>
        </p:nvSpPr>
        <p:spPr>
          <a:xfrm>
            <a:off x="3589020" y="2011680"/>
            <a:ext cx="2194560" cy="457200"/>
          </a:xfrm>
          <a:prstGeom prst="rect">
            <a:avLst/>
          </a:prstGeom>
          <a:noFill/>
          <a:ln/>
        </p:spPr>
        <p:txBody>
          <a:bodyPr wrap="square" lIns="0" tIns="0" rIns="0" bIns="0" rtlCol="0" anchor="t"/>
          <a:lstStyle/>
          <a:p>
            <a:pPr algn="l" indent="0" marL="0">
              <a:spcAft>
                <a:spcPts val="400"/>
              </a:spcAft>
              <a:buNone/>
            </a:pPr>
            <a:r>
              <a:rPr lang="en-US" sz="1500" b="1" dirty="0">
                <a:solidFill>
                  <a:srgbClr val="0E1A2B"/>
                </a:solidFill>
                <a:latin typeface="Calibri" pitchFamily="34" charset="0"/>
                <a:ea typeface="Calibri" pitchFamily="34" charset="-122"/>
                <a:cs typeface="Calibri" pitchFamily="34" charset="-120"/>
              </a:rPr>
              <a:t>helios_ds.*</a:t>
            </a:r>
            <a:endParaRPr lang="en-US" sz="1500" dirty="0"/>
          </a:p>
        </p:txBody>
      </p:sp>
      <p:sp>
        <p:nvSpPr>
          <p:cNvPr id="10" name="Text 8"/>
          <p:cNvSpPr txBox="1"/>
          <p:nvPr/>
        </p:nvSpPr>
        <p:spPr>
          <a:xfrm>
            <a:off x="3589020" y="2514600"/>
            <a:ext cx="2194560" cy="640080"/>
          </a:xfrm>
          <a:prstGeom prst="rect">
            <a:avLst/>
          </a:prstGeom>
          <a:noFill/>
          <a:ln/>
        </p:spPr>
        <p:txBody>
          <a:bodyPr wrap="square" lIns="0" tIns="0" rIns="0" bIns="0" rtlCol="0" anchor="t"/>
          <a:lstStyle/>
          <a:p>
            <a:pPr algn="l" indent="0" marL="0">
              <a:spcAft>
                <a:spcPts val="400"/>
              </a:spcAft>
              <a:buNone/>
            </a:pPr>
            <a:r>
              <a:rPr lang="en-US" sz="1600" b="1" dirty="0">
                <a:solidFill>
                  <a:srgbClr val="1F2937"/>
                </a:solidFill>
                <a:latin typeface="Calibri" pitchFamily="34" charset="0"/>
                <a:ea typeface="Calibri" pitchFamily="34" charset="-122"/>
                <a:cs typeface="Calibri" pitchFamily="34" charset="-120"/>
              </a:rPr>
              <a:t>Generation records</a:t>
            </a:r>
            <a:endParaRPr lang="en-US" sz="1600" dirty="0"/>
          </a:p>
        </p:txBody>
      </p:sp>
      <p:sp>
        <p:nvSpPr>
          <p:cNvPr id="11" name="Text 9"/>
          <p:cNvSpPr txBox="1"/>
          <p:nvPr/>
        </p:nvSpPr>
        <p:spPr>
          <a:xfrm>
            <a:off x="3589020" y="3200400"/>
            <a:ext cx="2194560" cy="1554480"/>
          </a:xfrm>
          <a:prstGeom prst="rect">
            <a:avLst/>
          </a:prstGeom>
          <a:noFill/>
          <a:ln/>
        </p:spPr>
        <p:txBody>
          <a:bodyPr wrap="square" lIns="0" tIns="0" rIns="0" bIns="0" rtlCol="0" anchor="t"/>
          <a:lstStyle/>
          <a:p>
            <a:pPr algn="l" indent="0" marL="0">
              <a:spcAft>
                <a:spcPts val="400"/>
              </a:spcAft>
              <a:buNone/>
            </a:pPr>
            <a:r>
              <a:rPr lang="en-US" sz="1350" dirty="0">
                <a:solidFill>
                  <a:srgbClr val="1F2937"/>
                </a:solidFill>
                <a:latin typeface="Calibri" pitchFamily="34" charset="0"/>
                <a:ea typeface="Calibri" pitchFamily="34" charset="-122"/>
                <a:cs typeface="Calibri" pitchFamily="34" charset="-120"/>
              </a:rPr>
              <a:t>Plans, artifacts, provenance, jobs, review marks</a:t>
            </a:r>
            <a:endParaRPr lang="en-US" sz="1350" dirty="0"/>
          </a:p>
        </p:txBody>
      </p:sp>
      <p:sp>
        <p:nvSpPr>
          <p:cNvPr id="12" name="Shape 10"/>
          <p:cNvSpPr/>
          <p:nvPr/>
        </p:nvSpPr>
        <p:spPr>
          <a:xfrm>
            <a:off x="6172200" y="1828800"/>
            <a:ext cx="2606040" cy="3017520"/>
          </a:xfrm>
          <a:prstGeom prst="roundRect">
            <a:avLst>
              <a:gd name="adj" fmla="val 2807"/>
            </a:avLst>
          </a:prstGeom>
          <a:solidFill>
            <a:srgbClr val="0E1A2B"/>
          </a:solidFill>
          <a:ln w="12700">
            <a:solidFill>
              <a:srgbClr val="0E1A2B"/>
            </a:solidFill>
            <a:prstDash val="solid"/>
          </a:ln>
        </p:spPr>
      </p:sp>
      <p:sp>
        <p:nvSpPr>
          <p:cNvPr id="13" name="Text 11"/>
          <p:cNvSpPr txBox="1"/>
          <p:nvPr/>
        </p:nvSpPr>
        <p:spPr>
          <a:xfrm>
            <a:off x="6400800" y="2011680"/>
            <a:ext cx="2194560" cy="457200"/>
          </a:xfrm>
          <a:prstGeom prst="rect">
            <a:avLst/>
          </a:prstGeom>
          <a:noFill/>
          <a:ln/>
        </p:spPr>
        <p:txBody>
          <a:bodyPr wrap="square" lIns="0" tIns="0" rIns="0" bIns="0" rtlCol="0" anchor="t"/>
          <a:lstStyle/>
          <a:p>
            <a:pPr algn="l" indent="0" marL="0">
              <a:spcAft>
                <a:spcPts val="400"/>
              </a:spcAft>
              <a:buNone/>
            </a:pPr>
            <a:r>
              <a:rPr lang="en-US" sz="1500" b="1" dirty="0">
                <a:solidFill>
                  <a:srgbClr val="F2A541"/>
                </a:solidFill>
                <a:latin typeface="Calibri" pitchFamily="34" charset="0"/>
                <a:ea typeface="Calibri" pitchFamily="34" charset="-122"/>
                <a:cs typeface="Calibri" pitchFamily="34" charset="-120"/>
              </a:rPr>
              <a:t>helios_ground_truth.*</a:t>
            </a:r>
            <a:endParaRPr lang="en-US" sz="1500" dirty="0"/>
          </a:p>
        </p:txBody>
      </p:sp>
      <p:sp>
        <p:nvSpPr>
          <p:cNvPr id="14" name="Text 12"/>
          <p:cNvSpPr txBox="1"/>
          <p:nvPr/>
        </p:nvSpPr>
        <p:spPr>
          <a:xfrm>
            <a:off x="6400800" y="2514600"/>
            <a:ext cx="2194560" cy="640080"/>
          </a:xfrm>
          <a:prstGeom prst="rect">
            <a:avLst/>
          </a:prstGeom>
          <a:noFill/>
          <a:ln/>
        </p:spPr>
        <p:txBody>
          <a:bodyPr wrap="square" lIns="0" tIns="0" rIns="0" bIns="0" rtlCol="0" anchor="t"/>
          <a:lstStyle/>
          <a:p>
            <a:pPr algn="l" indent="0" marL="0">
              <a:spcAft>
                <a:spcPts val="400"/>
              </a:spcAft>
              <a:buNone/>
            </a:pPr>
            <a:r>
              <a:rPr lang="en-US" sz="1600" b="1" dirty="0">
                <a:solidFill>
                  <a:srgbClr val="FFFFFF"/>
                </a:solidFill>
                <a:latin typeface="Calibri" pitchFamily="34" charset="0"/>
                <a:ea typeface="Calibri" pitchFamily="34" charset="-122"/>
                <a:cs typeface="Calibri" pitchFamily="34" charset="-120"/>
              </a:rPr>
              <a:t>The hidden answer key</a:t>
            </a:r>
            <a:endParaRPr lang="en-US" sz="1600" dirty="0"/>
          </a:p>
        </p:txBody>
      </p:sp>
      <p:sp>
        <p:nvSpPr>
          <p:cNvPr id="15" name="Text 13"/>
          <p:cNvSpPr txBox="1"/>
          <p:nvPr/>
        </p:nvSpPr>
        <p:spPr>
          <a:xfrm>
            <a:off x="6400800" y="3200400"/>
            <a:ext cx="2194560" cy="1554480"/>
          </a:xfrm>
          <a:prstGeom prst="rect">
            <a:avLst/>
          </a:prstGeom>
          <a:noFill/>
          <a:ln/>
        </p:spPr>
        <p:txBody>
          <a:bodyPr wrap="square" lIns="0" tIns="0" rIns="0" bIns="0" rtlCol="0" anchor="t"/>
          <a:lstStyle/>
          <a:p>
            <a:pPr algn="l" indent="0" marL="0">
              <a:spcAft>
                <a:spcPts val="400"/>
              </a:spcAft>
              <a:buNone/>
            </a:pPr>
            <a:r>
              <a:rPr lang="en-US" sz="1350" dirty="0">
                <a:solidFill>
                  <a:srgbClr val="FFFFFF"/>
                </a:solidFill>
                <a:latin typeface="Calibri" pitchFamily="34" charset="0"/>
                <a:ea typeface="Calibri" pitchFamily="34" charset="-122"/>
                <a:cs typeface="Calibri" pitchFamily="34" charset="-120"/>
              </a:rPr>
              <a:t>Entities, mentions, relationships, claims, evidence: never visible to the crawler</a:t>
            </a:r>
            <a:endParaRPr lang="en-US" sz="1350" dirty="0"/>
          </a:p>
        </p:txBody>
      </p:sp>
      <p:sp>
        <p:nvSpPr>
          <p:cNvPr id="16" name="Shape 14"/>
          <p:cNvSpPr/>
          <p:nvPr/>
        </p:nvSpPr>
        <p:spPr>
          <a:xfrm>
            <a:off x="8983980" y="1828800"/>
            <a:ext cx="2606040" cy="3017520"/>
          </a:xfrm>
          <a:prstGeom prst="roundRect">
            <a:avLst>
              <a:gd name="adj" fmla="val 2807"/>
            </a:avLst>
          </a:prstGeom>
          <a:solidFill>
            <a:srgbClr val="FDF1DE"/>
          </a:solidFill>
          <a:ln w="12700">
            <a:solidFill>
              <a:srgbClr val="FDF1DE"/>
            </a:solidFill>
            <a:prstDash val="solid"/>
          </a:ln>
        </p:spPr>
      </p:sp>
      <p:sp>
        <p:nvSpPr>
          <p:cNvPr id="17" name="Text 15"/>
          <p:cNvSpPr txBox="1"/>
          <p:nvPr/>
        </p:nvSpPr>
        <p:spPr>
          <a:xfrm>
            <a:off x="9212580" y="2011680"/>
            <a:ext cx="2194560" cy="457200"/>
          </a:xfrm>
          <a:prstGeom prst="rect">
            <a:avLst/>
          </a:prstGeom>
          <a:noFill/>
          <a:ln/>
        </p:spPr>
        <p:txBody>
          <a:bodyPr wrap="square" lIns="0" tIns="0" rIns="0" bIns="0" rtlCol="0" anchor="t"/>
          <a:lstStyle/>
          <a:p>
            <a:pPr algn="l" indent="0" marL="0">
              <a:spcAft>
                <a:spcPts val="400"/>
              </a:spcAft>
              <a:buNone/>
            </a:pPr>
            <a:r>
              <a:rPr lang="en-US" sz="1500" b="1" dirty="0">
                <a:solidFill>
                  <a:srgbClr val="0E1A2B"/>
                </a:solidFill>
                <a:latin typeface="Calibri" pitchFamily="34" charset="0"/>
                <a:ea typeface="Calibri" pitchFamily="34" charset="-122"/>
                <a:cs typeface="Calibri" pitchFamily="34" charset="-120"/>
              </a:rPr>
              <a:t>helios_index.*</a:t>
            </a:r>
            <a:endParaRPr lang="en-US" sz="1500" dirty="0"/>
          </a:p>
        </p:txBody>
      </p:sp>
      <p:sp>
        <p:nvSpPr>
          <p:cNvPr id="18" name="Text 16"/>
          <p:cNvSpPr txBox="1"/>
          <p:nvPr/>
        </p:nvSpPr>
        <p:spPr>
          <a:xfrm>
            <a:off x="9212580" y="2514600"/>
            <a:ext cx="2194560" cy="640080"/>
          </a:xfrm>
          <a:prstGeom prst="rect">
            <a:avLst/>
          </a:prstGeom>
          <a:noFill/>
          <a:ln/>
        </p:spPr>
        <p:txBody>
          <a:bodyPr wrap="square" lIns="0" tIns="0" rIns="0" bIns="0" rtlCol="0" anchor="t"/>
          <a:lstStyle/>
          <a:p>
            <a:pPr algn="l" indent="0" marL="0">
              <a:spcAft>
                <a:spcPts val="400"/>
              </a:spcAft>
              <a:buNone/>
            </a:pPr>
            <a:r>
              <a:rPr lang="en-US" sz="1600" b="1" dirty="0">
                <a:solidFill>
                  <a:srgbClr val="1F2937"/>
                </a:solidFill>
                <a:latin typeface="Calibri" pitchFamily="34" charset="0"/>
                <a:ea typeface="Calibri" pitchFamily="34" charset="-122"/>
                <a:cs typeface="Calibri" pitchFamily="34" charset="-120"/>
              </a:rPr>
              <a:t>What Helios discovered</a:t>
            </a:r>
            <a:endParaRPr lang="en-US" sz="1600" dirty="0"/>
          </a:p>
        </p:txBody>
      </p:sp>
      <p:sp>
        <p:nvSpPr>
          <p:cNvPr id="19" name="Text 17"/>
          <p:cNvSpPr txBox="1"/>
          <p:nvPr/>
        </p:nvSpPr>
        <p:spPr>
          <a:xfrm>
            <a:off x="9212580" y="3200400"/>
            <a:ext cx="2194560" cy="1554480"/>
          </a:xfrm>
          <a:prstGeom prst="rect">
            <a:avLst/>
          </a:prstGeom>
          <a:noFill/>
          <a:ln/>
        </p:spPr>
        <p:txBody>
          <a:bodyPr wrap="square" lIns="0" tIns="0" rIns="0" bIns="0" rtlCol="0" anchor="t"/>
          <a:lstStyle/>
          <a:p>
            <a:pPr algn="l" indent="0" marL="0">
              <a:spcAft>
                <a:spcPts val="400"/>
              </a:spcAft>
              <a:buNone/>
            </a:pPr>
            <a:r>
              <a:rPr lang="en-US" sz="1350" dirty="0">
                <a:solidFill>
                  <a:srgbClr val="1F2937"/>
                </a:solidFill>
                <a:latin typeface="Calibri" pitchFamily="34" charset="0"/>
                <a:ea typeface="Calibri" pitchFamily="34" charset="-122"/>
                <a:cs typeface="Calibri" pitchFamily="34" charset="-120"/>
              </a:rPr>
              <a:t>Written only by the crawler and analyzers</a:t>
            </a:r>
            <a:endParaRPr lang="en-US" sz="1350" dirty="0"/>
          </a:p>
        </p:txBody>
      </p:sp>
      <p:sp>
        <p:nvSpPr>
          <p:cNvPr id="20" name="Shape 18"/>
          <p:cNvSpPr/>
          <p:nvPr/>
        </p:nvSpPr>
        <p:spPr>
          <a:xfrm>
            <a:off x="548640" y="5120640"/>
            <a:ext cx="11064240" cy="868680"/>
          </a:xfrm>
          <a:prstGeom prst="roundRect">
            <a:avLst>
              <a:gd name="adj" fmla="val 8421"/>
            </a:avLst>
          </a:prstGeom>
          <a:solidFill>
            <a:srgbClr val="FDF1DE"/>
          </a:solidFill>
          <a:ln w="12700">
            <a:solidFill>
              <a:srgbClr val="FDF1DE"/>
            </a:solidFill>
            <a:prstDash val="solid"/>
          </a:ln>
        </p:spPr>
      </p:sp>
      <p:sp>
        <p:nvSpPr>
          <p:cNvPr id="21" name="Text 19"/>
          <p:cNvSpPr txBox="1"/>
          <p:nvPr/>
        </p:nvSpPr>
        <p:spPr>
          <a:xfrm>
            <a:off x="822960" y="5120640"/>
            <a:ext cx="10515600" cy="868680"/>
          </a:xfrm>
          <a:prstGeom prst="rect">
            <a:avLst/>
          </a:prstGeom>
          <a:noFill/>
          <a:ln/>
        </p:spPr>
        <p:txBody>
          <a:bodyPr wrap="square" lIns="0" tIns="0" rIns="0" bIns="0" rtlCol="0" anchor="ctr"/>
          <a:lstStyle/>
          <a:p>
            <a:pPr algn="l" indent="0" marL="0">
              <a:spcAft>
                <a:spcPts val="400"/>
              </a:spcAft>
              <a:buNone/>
            </a:pPr>
            <a:r>
              <a:rPr lang="en-US" sz="1500" b="1" dirty="0">
                <a:solidFill>
                  <a:srgbClr val="0E1A2B"/>
                </a:solidFill>
                <a:latin typeface="Calibri" pitchFamily="34" charset="0"/>
                <a:ea typeface="Calibri" pitchFamily="34" charset="-122"/>
                <a:cs typeface="Calibri" pitchFamily="34" charset="-120"/>
              </a:rPr>
              <a:t>The rule that makes it a fair test: the generator never writes helios_index, and the crawler and query runtime can never read helios_ground_truth (Ranger-enforced).</a:t>
            </a:r>
            <a:endParaRPr lang="en-US" sz="15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3200" b="1" dirty="0">
                <a:solidFill>
                  <a:srgbClr val="0E1A2B"/>
                </a:solidFill>
                <a:latin typeface="Cambria" pitchFamily="34" charset="0"/>
                <a:ea typeface="Cambria" pitchFamily="34" charset="-122"/>
                <a:cs typeface="Cambria" pitchFamily="34" charset="-120"/>
              </a:rPr>
              <a:t>Deterministic by design</a:t>
            </a:r>
            <a:endParaRPr lang="en-US" sz="3200" dirty="0"/>
          </a:p>
        </p:txBody>
      </p:sp>
      <p:sp>
        <p:nvSpPr>
          <p:cNvPr id="3" name="Text 1"/>
          <p:cNvSpPr txBox="1"/>
          <p:nvPr/>
        </p:nvSpPr>
        <p:spPr>
          <a:xfrm>
            <a:off x="548640" y="1097280"/>
            <a:ext cx="11094415" cy="457200"/>
          </a:xfrm>
          <a:prstGeom prst="rect">
            <a:avLst/>
          </a:prstGeom>
          <a:noFill/>
          <a:ln/>
        </p:spPr>
        <p:txBody>
          <a:bodyPr wrap="square" lIns="0" tIns="0" rIns="0" bIns="0" rtlCol="0" anchor="ctr"/>
          <a:lstStyle/>
          <a:p>
            <a:pPr indent="0" marL="0">
              <a:buNone/>
            </a:pPr>
            <a:r>
              <a:rPr lang="en-US" sz="1600" i="1" dirty="0">
                <a:solidFill>
                  <a:srgbClr val="5B6472"/>
                </a:solidFill>
                <a:latin typeface="Calibri" pitchFamily="34" charset="0"/>
                <a:ea typeface="Calibri" pitchFamily="34" charset="-122"/>
                <a:cs typeface="Calibri" pitchFamily="34" charset="-120"/>
              </a:rPr>
              <a:t>Same TPC-DS snapshot + config + seed + templates + generator version = the same corpus, byte for byte.</a:t>
            </a:r>
            <a:endParaRPr lang="en-US" sz="1600" dirty="0"/>
          </a:p>
        </p:txBody>
      </p:sp>
      <p:sp>
        <p:nvSpPr>
          <p:cNvPr id="4" name="Shape 2"/>
          <p:cNvSpPr/>
          <p:nvPr/>
        </p:nvSpPr>
        <p:spPr>
          <a:xfrm>
            <a:off x="548640" y="1828800"/>
            <a:ext cx="5394960" cy="1828800"/>
          </a:xfrm>
          <a:prstGeom prst="roundRect">
            <a:avLst>
              <a:gd name="adj" fmla="val 4000"/>
            </a:avLst>
          </a:prstGeom>
          <a:solidFill>
            <a:srgbClr val="F4F6F9"/>
          </a:solidFill>
          <a:ln w="12700">
            <a:solidFill>
              <a:srgbClr val="F4F6F9"/>
            </a:solidFill>
            <a:prstDash val="solid"/>
          </a:ln>
        </p:spPr>
      </p:sp>
      <p:sp>
        <p:nvSpPr>
          <p:cNvPr id="5" name="Shape 3"/>
          <p:cNvSpPr/>
          <p:nvPr/>
        </p:nvSpPr>
        <p:spPr>
          <a:xfrm>
            <a:off x="777240" y="2057400"/>
            <a:ext cx="502920" cy="502920"/>
          </a:xfrm>
          <a:prstGeom prst="ellipse">
            <a:avLst/>
          </a:prstGeom>
          <a:solidFill>
            <a:srgbClr val="F2A541"/>
          </a:solidFill>
          <a:ln w="12700">
            <a:solidFill>
              <a:srgbClr val="F2A541"/>
            </a:solidFill>
            <a:prstDash val="solid"/>
          </a:ln>
        </p:spPr>
      </p:sp>
      <p:pic>
        <p:nvPicPr>
          <p:cNvPr id="6" name="Image 0" descr="preencoded.png">    </p:cNvPr>
          <p:cNvPicPr>
            <a:picLocks noChangeAspect="1"/>
          </p:cNvPicPr>
          <p:nvPr/>
        </p:nvPicPr>
        <p:blipFill>
          <a:blip r:embed="rId1"/>
          <a:stretch>
            <a:fillRect/>
          </a:stretch>
        </p:blipFill>
        <p:spPr>
          <a:xfrm>
            <a:off x="897941" y="2178101"/>
            <a:ext cx="261518" cy="261518"/>
          </a:xfrm>
          <a:prstGeom prst="rect">
            <a:avLst/>
          </a:prstGeom>
        </p:spPr>
      </p:pic>
      <p:sp>
        <p:nvSpPr>
          <p:cNvPr id="7" name="Text 4"/>
          <p:cNvSpPr txBox="1"/>
          <p:nvPr/>
        </p:nvSpPr>
        <p:spPr>
          <a:xfrm>
            <a:off x="1417320" y="2029968"/>
            <a:ext cx="434340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Seeded choices</a:t>
            </a:r>
            <a:endParaRPr lang="en-US" sz="1700" dirty="0"/>
          </a:p>
        </p:txBody>
      </p:sp>
      <p:sp>
        <p:nvSpPr>
          <p:cNvPr id="8" name="Text 5"/>
          <p:cNvSpPr txBox="1"/>
          <p:nvPr/>
        </p:nvSpPr>
        <p:spPr>
          <a:xfrm>
            <a:off x="822960" y="2697480"/>
            <a:ext cx="4892040" cy="822960"/>
          </a:xfrm>
          <a:prstGeom prst="rect">
            <a:avLst/>
          </a:prstGeom>
          <a:noFill/>
          <a:ln/>
        </p:spPr>
        <p:txBody>
          <a:bodyPr wrap="square" lIns="0" tIns="0" rIns="0" bIns="0" rtlCol="0" anchor="t"/>
          <a:lstStyle/>
          <a:p>
            <a:pPr indent="0" marL="0">
              <a:buNone/>
            </a:pPr>
            <a:r>
              <a:rPr lang="en-US" sz="1450" dirty="0">
                <a:solidFill>
                  <a:srgbClr val="1F2937"/>
                </a:solidFill>
                <a:latin typeface="Calibri" pitchFamily="34" charset="0"/>
                <a:ea typeface="Calibri" pitchFamily="34" charset="-122"/>
                <a:cs typeface="Calibri" pitchFamily="34" charset="-120"/>
              </a:rPr>
              <a:t>SHA-256 seed chains per scenario and artifact; every random choice uses a local RNG.</a:t>
            </a:r>
            <a:endParaRPr lang="en-US" sz="1450" dirty="0"/>
          </a:p>
        </p:txBody>
      </p:sp>
      <p:sp>
        <p:nvSpPr>
          <p:cNvPr id="9" name="Shape 6"/>
          <p:cNvSpPr/>
          <p:nvPr/>
        </p:nvSpPr>
        <p:spPr>
          <a:xfrm>
            <a:off x="6217920" y="1828800"/>
            <a:ext cx="5394960" cy="1828800"/>
          </a:xfrm>
          <a:prstGeom prst="roundRect">
            <a:avLst>
              <a:gd name="adj" fmla="val 4000"/>
            </a:avLst>
          </a:prstGeom>
          <a:solidFill>
            <a:srgbClr val="F4F6F9"/>
          </a:solidFill>
          <a:ln w="12700">
            <a:solidFill>
              <a:srgbClr val="F4F6F9"/>
            </a:solidFill>
            <a:prstDash val="solid"/>
          </a:ln>
        </p:spPr>
      </p:sp>
      <p:sp>
        <p:nvSpPr>
          <p:cNvPr id="10" name="Shape 7"/>
          <p:cNvSpPr/>
          <p:nvPr/>
        </p:nvSpPr>
        <p:spPr>
          <a:xfrm>
            <a:off x="6446520" y="2057400"/>
            <a:ext cx="502920" cy="502920"/>
          </a:xfrm>
          <a:prstGeom prst="ellipse">
            <a:avLst/>
          </a:prstGeom>
          <a:solidFill>
            <a:srgbClr val="F2A541"/>
          </a:solidFill>
          <a:ln w="12700">
            <a:solidFill>
              <a:srgbClr val="F2A541"/>
            </a:solidFill>
            <a:prstDash val="solid"/>
          </a:ln>
        </p:spPr>
      </p:sp>
      <p:pic>
        <p:nvPicPr>
          <p:cNvPr id="11" name="Image 1" descr="preencoded.png">    </p:cNvPr>
          <p:cNvPicPr>
            <a:picLocks noChangeAspect="1"/>
          </p:cNvPicPr>
          <p:nvPr/>
        </p:nvPicPr>
        <p:blipFill>
          <a:blip r:embed="rId2"/>
          <a:stretch>
            <a:fillRect/>
          </a:stretch>
        </p:blipFill>
        <p:spPr>
          <a:xfrm>
            <a:off x="6567221" y="2178101"/>
            <a:ext cx="261518" cy="261518"/>
          </a:xfrm>
          <a:prstGeom prst="rect">
            <a:avLst/>
          </a:prstGeom>
        </p:spPr>
      </p:pic>
      <p:sp>
        <p:nvSpPr>
          <p:cNvPr id="12" name="Text 8"/>
          <p:cNvSpPr txBox="1"/>
          <p:nvPr/>
        </p:nvSpPr>
        <p:spPr>
          <a:xfrm>
            <a:off x="7086600" y="2029968"/>
            <a:ext cx="434340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Stable identities</a:t>
            </a:r>
            <a:endParaRPr lang="en-US" sz="1700" dirty="0"/>
          </a:p>
        </p:txBody>
      </p:sp>
      <p:sp>
        <p:nvSpPr>
          <p:cNvPr id="13" name="Text 9"/>
          <p:cNvSpPr txBox="1"/>
          <p:nvPr/>
        </p:nvSpPr>
        <p:spPr>
          <a:xfrm>
            <a:off x="6492240" y="2697480"/>
            <a:ext cx="4892040" cy="822960"/>
          </a:xfrm>
          <a:prstGeom prst="rect">
            <a:avLst/>
          </a:prstGeom>
          <a:noFill/>
          <a:ln/>
        </p:spPr>
        <p:txBody>
          <a:bodyPr wrap="square" lIns="0" tIns="0" rIns="0" bIns="0" rtlCol="0" anchor="t"/>
          <a:lstStyle/>
          <a:p>
            <a:pPr indent="0" marL="0">
              <a:buNone/>
            </a:pPr>
            <a:r>
              <a:rPr lang="en-US" sz="1450" dirty="0">
                <a:solidFill>
                  <a:srgbClr val="1F2937"/>
                </a:solidFill>
                <a:latin typeface="Calibri" pitchFamily="34" charset="0"/>
                <a:ea typeface="Calibri" pitchFamily="34" charset="-122"/>
                <a:cs typeface="Calibri" pitchFamily="34" charset="-120"/>
              </a:rPr>
              <a:t>UUIDv5 IDs for datasets, scenarios, artifacts, entities and claims.</a:t>
            </a:r>
            <a:endParaRPr lang="en-US" sz="1450" dirty="0"/>
          </a:p>
        </p:txBody>
      </p:sp>
      <p:sp>
        <p:nvSpPr>
          <p:cNvPr id="14" name="Shape 10"/>
          <p:cNvSpPr/>
          <p:nvPr/>
        </p:nvSpPr>
        <p:spPr>
          <a:xfrm>
            <a:off x="548640" y="3886200"/>
            <a:ext cx="5394960" cy="1828800"/>
          </a:xfrm>
          <a:prstGeom prst="roundRect">
            <a:avLst>
              <a:gd name="adj" fmla="val 4000"/>
            </a:avLst>
          </a:prstGeom>
          <a:solidFill>
            <a:srgbClr val="F4F6F9"/>
          </a:solidFill>
          <a:ln w="12700">
            <a:solidFill>
              <a:srgbClr val="F4F6F9"/>
            </a:solidFill>
            <a:prstDash val="solid"/>
          </a:ln>
        </p:spPr>
      </p:sp>
      <p:sp>
        <p:nvSpPr>
          <p:cNvPr id="15" name="Shape 11"/>
          <p:cNvSpPr/>
          <p:nvPr/>
        </p:nvSpPr>
        <p:spPr>
          <a:xfrm>
            <a:off x="777240" y="4114800"/>
            <a:ext cx="502920" cy="502920"/>
          </a:xfrm>
          <a:prstGeom prst="ellipse">
            <a:avLst/>
          </a:prstGeom>
          <a:solidFill>
            <a:srgbClr val="F2A541"/>
          </a:solidFill>
          <a:ln w="12700">
            <a:solidFill>
              <a:srgbClr val="F2A541"/>
            </a:solidFill>
            <a:prstDash val="solid"/>
          </a:ln>
        </p:spPr>
      </p:sp>
      <p:pic>
        <p:nvPicPr>
          <p:cNvPr id="16" name="Image 2" descr="preencoded.png">    </p:cNvPr>
          <p:cNvPicPr>
            <a:picLocks noChangeAspect="1"/>
          </p:cNvPicPr>
          <p:nvPr/>
        </p:nvPicPr>
        <p:blipFill>
          <a:blip r:embed="rId3"/>
          <a:stretch>
            <a:fillRect/>
          </a:stretch>
        </p:blipFill>
        <p:spPr>
          <a:xfrm>
            <a:off x="897941" y="4235501"/>
            <a:ext cx="261518" cy="261518"/>
          </a:xfrm>
          <a:prstGeom prst="rect">
            <a:avLst/>
          </a:prstGeom>
        </p:spPr>
      </p:pic>
      <p:sp>
        <p:nvSpPr>
          <p:cNvPr id="17" name="Text 12"/>
          <p:cNvSpPr txBox="1"/>
          <p:nvPr/>
        </p:nvSpPr>
        <p:spPr>
          <a:xfrm>
            <a:off x="1417320" y="4087368"/>
            <a:ext cx="434340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Write-once storage</a:t>
            </a:r>
            <a:endParaRPr lang="en-US" sz="1700" dirty="0"/>
          </a:p>
        </p:txBody>
      </p:sp>
      <p:sp>
        <p:nvSpPr>
          <p:cNvPr id="18" name="Text 13"/>
          <p:cNvSpPr txBox="1"/>
          <p:nvPr/>
        </p:nvSpPr>
        <p:spPr>
          <a:xfrm>
            <a:off x="822960" y="4754880"/>
            <a:ext cx="4892040" cy="822960"/>
          </a:xfrm>
          <a:prstGeom prst="rect">
            <a:avLst/>
          </a:prstGeom>
          <a:noFill/>
          <a:ln/>
        </p:spPr>
        <p:txBody>
          <a:bodyPr wrap="square" lIns="0" tIns="0" rIns="0" bIns="0" rtlCol="0" anchor="t"/>
          <a:lstStyle/>
          <a:p>
            <a:pPr indent="0" marL="0">
              <a:buNone/>
            </a:pPr>
            <a:r>
              <a:rPr lang="en-US" sz="1450" dirty="0">
                <a:solidFill>
                  <a:srgbClr val="1F2937"/>
                </a:solidFill>
                <a:latin typeface="Calibri" pitchFamily="34" charset="0"/>
                <a:ea typeface="Calibri" pitchFamily="34" charset="-122"/>
                <a:cs typeface="Calibri" pitchFamily="34" charset="-120"/>
              </a:rPr>
              <a:t>Objects are written only if absent; different bytes at the same key are an integrity error, never an overwrite.</a:t>
            </a:r>
            <a:endParaRPr lang="en-US" sz="1450" dirty="0"/>
          </a:p>
        </p:txBody>
      </p:sp>
      <p:sp>
        <p:nvSpPr>
          <p:cNvPr id="19" name="Shape 14"/>
          <p:cNvSpPr/>
          <p:nvPr/>
        </p:nvSpPr>
        <p:spPr>
          <a:xfrm>
            <a:off x="6217920" y="3886200"/>
            <a:ext cx="5394960" cy="1828800"/>
          </a:xfrm>
          <a:prstGeom prst="roundRect">
            <a:avLst>
              <a:gd name="adj" fmla="val 4000"/>
            </a:avLst>
          </a:prstGeom>
          <a:solidFill>
            <a:srgbClr val="F4F6F9"/>
          </a:solidFill>
          <a:ln w="12700">
            <a:solidFill>
              <a:srgbClr val="F4F6F9"/>
            </a:solidFill>
            <a:prstDash val="solid"/>
          </a:ln>
        </p:spPr>
      </p:sp>
      <p:sp>
        <p:nvSpPr>
          <p:cNvPr id="20" name="Shape 15"/>
          <p:cNvSpPr/>
          <p:nvPr/>
        </p:nvSpPr>
        <p:spPr>
          <a:xfrm>
            <a:off x="6446520" y="4114800"/>
            <a:ext cx="502920" cy="502920"/>
          </a:xfrm>
          <a:prstGeom prst="ellipse">
            <a:avLst/>
          </a:prstGeom>
          <a:solidFill>
            <a:srgbClr val="F2A541"/>
          </a:solidFill>
          <a:ln w="12700">
            <a:solidFill>
              <a:srgbClr val="F2A541"/>
            </a:solidFill>
            <a:prstDash val="solid"/>
          </a:ln>
        </p:spPr>
      </p:sp>
      <p:pic>
        <p:nvPicPr>
          <p:cNvPr id="21" name="Image 3" descr="preencoded.png">    </p:cNvPr>
          <p:cNvPicPr>
            <a:picLocks noChangeAspect="1"/>
          </p:cNvPicPr>
          <p:nvPr/>
        </p:nvPicPr>
        <p:blipFill>
          <a:blip r:embed="rId4"/>
          <a:stretch>
            <a:fillRect/>
          </a:stretch>
        </p:blipFill>
        <p:spPr>
          <a:xfrm>
            <a:off x="6567221" y="4235501"/>
            <a:ext cx="261518" cy="261518"/>
          </a:xfrm>
          <a:prstGeom prst="rect">
            <a:avLst/>
          </a:prstGeom>
        </p:spPr>
      </p:pic>
      <p:sp>
        <p:nvSpPr>
          <p:cNvPr id="22" name="Text 16"/>
          <p:cNvSpPr txBox="1"/>
          <p:nvPr/>
        </p:nvSpPr>
        <p:spPr>
          <a:xfrm>
            <a:off x="7086600" y="4087368"/>
            <a:ext cx="434340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Proven twice</a:t>
            </a:r>
            <a:endParaRPr lang="en-US" sz="1700" dirty="0"/>
          </a:p>
        </p:txBody>
      </p:sp>
      <p:sp>
        <p:nvSpPr>
          <p:cNvPr id="23" name="Text 17"/>
          <p:cNvSpPr txBox="1"/>
          <p:nvPr/>
        </p:nvSpPr>
        <p:spPr>
          <a:xfrm>
            <a:off x="6492240" y="4754880"/>
            <a:ext cx="4892040" cy="822960"/>
          </a:xfrm>
          <a:prstGeom prst="rect">
            <a:avLst/>
          </a:prstGeom>
          <a:noFill/>
          <a:ln/>
        </p:spPr>
        <p:txBody>
          <a:bodyPr wrap="square" lIns="0" tIns="0" rIns="0" bIns="0" rtlCol="0" anchor="t"/>
          <a:lstStyle/>
          <a:p>
            <a:pPr indent="0" marL="0">
              <a:buNone/>
            </a:pPr>
            <a:r>
              <a:rPr lang="en-US" sz="1450" dirty="0">
                <a:solidFill>
                  <a:srgbClr val="1F2937"/>
                </a:solidFill>
                <a:latin typeface="Calibri" pitchFamily="34" charset="0"/>
                <a:ea typeface="Calibri" pitchFamily="34" charset="-122"/>
                <a:cs typeface="Calibri" pitchFamily="34" charset="-120"/>
              </a:rPr>
              <a:t>The exit gate: two fresh environments produce the same dataset ID, manifest, artifacts and ground truth.</a:t>
            </a:r>
            <a:endParaRPr lang="en-US" sz="14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3200" b="1" dirty="0">
                <a:solidFill>
                  <a:srgbClr val="0E1A2B"/>
                </a:solidFill>
                <a:latin typeface="Cambria" pitchFamily="34" charset="0"/>
                <a:ea typeface="Cambria" pitchFamily="34" charset="-122"/>
                <a:cs typeface="Cambria" pitchFamily="34" charset="-120"/>
              </a:rPr>
              <a:t>The generation pipeline</a:t>
            </a:r>
            <a:endParaRPr lang="en-US" sz="3200" dirty="0"/>
          </a:p>
        </p:txBody>
      </p:sp>
      <p:sp>
        <p:nvSpPr>
          <p:cNvPr id="3" name="Shape 1"/>
          <p:cNvSpPr/>
          <p:nvPr/>
        </p:nvSpPr>
        <p:spPr>
          <a:xfrm>
            <a:off x="548640" y="1463040"/>
            <a:ext cx="1384663" cy="1600200"/>
          </a:xfrm>
          <a:prstGeom prst="roundRect">
            <a:avLst>
              <a:gd name="adj" fmla="val 6604"/>
            </a:avLst>
          </a:prstGeom>
          <a:solidFill>
            <a:srgbClr val="1C2F4A"/>
          </a:solidFill>
          <a:ln w="12700">
            <a:solidFill>
              <a:srgbClr val="1C2F4A"/>
            </a:solidFill>
            <a:prstDash val="solid"/>
          </a:ln>
        </p:spPr>
      </p:sp>
      <p:sp>
        <p:nvSpPr>
          <p:cNvPr id="4" name="Text 2"/>
          <p:cNvSpPr txBox="1"/>
          <p:nvPr/>
        </p:nvSpPr>
        <p:spPr>
          <a:xfrm>
            <a:off x="621792" y="1463040"/>
            <a:ext cx="1238359" cy="1600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a:p>
            <a:pPr algn="ctr" indent="0" marL="0">
              <a:buNone/>
            </a:pPr>
            <a:r>
              <a:rPr lang="en-US" sz="1400" b="1" dirty="0">
                <a:solidFill>
                  <a:srgbClr val="FFFFFF"/>
                </a:solidFill>
                <a:latin typeface="Calibri" pitchFamily="34" charset="0"/>
                <a:ea typeface="Calibri" pitchFamily="34" charset="-122"/>
                <a:cs typeface="Calibri" pitchFamily="34" charset="-120"/>
              </a:rPr>
              <a:t>Plan</a:t>
            </a:r>
            <a:endParaRPr lang="en-US" sz="1100" dirty="0"/>
          </a:p>
          <a:p>
            <a:pPr algn="ctr" indent="0" marL="0">
              <a:buNone/>
            </a:pPr>
            <a:r>
              <a:rPr lang="en-US" sz="1050" dirty="0">
                <a:solidFill>
                  <a:srgbClr val="FFFFFF"/>
                </a:solidFill>
                <a:latin typeface="Calibri" pitchFamily="34" charset="0"/>
                <a:ea typeface="Calibri" pitchFamily="34" charset="-122"/>
                <a:cs typeface="Calibri" pitchFamily="34" charset="-120"/>
              </a:rPr>
              <a:t>select TPC-DS stories by stable hash</a:t>
            </a:r>
            <a:endParaRPr lang="en-US" sz="1100" dirty="0"/>
          </a:p>
        </p:txBody>
      </p:sp>
      <p:sp>
        <p:nvSpPr>
          <p:cNvPr id="5" name="Shape 3"/>
          <p:cNvSpPr/>
          <p:nvPr/>
        </p:nvSpPr>
        <p:spPr>
          <a:xfrm>
            <a:off x="1988167" y="2144268"/>
            <a:ext cx="118872" cy="237744"/>
          </a:xfrm>
          <a:prstGeom prst="rightArrow">
            <a:avLst/>
          </a:prstGeom>
          <a:solidFill>
            <a:srgbClr val="F2A541"/>
          </a:solidFill>
          <a:ln w="12700">
            <a:solidFill>
              <a:srgbClr val="F2A541"/>
            </a:solidFill>
            <a:prstDash val="solid"/>
          </a:ln>
        </p:spPr>
      </p:sp>
      <p:sp>
        <p:nvSpPr>
          <p:cNvPr id="6" name="Shape 4"/>
          <p:cNvSpPr/>
          <p:nvPr/>
        </p:nvSpPr>
        <p:spPr>
          <a:xfrm>
            <a:off x="2161903" y="1463040"/>
            <a:ext cx="1384663" cy="1600200"/>
          </a:xfrm>
          <a:prstGeom prst="roundRect">
            <a:avLst>
              <a:gd name="adj" fmla="val 6604"/>
            </a:avLst>
          </a:prstGeom>
          <a:solidFill>
            <a:srgbClr val="1C2F4A"/>
          </a:solidFill>
          <a:ln w="12700">
            <a:solidFill>
              <a:srgbClr val="1C2F4A"/>
            </a:solidFill>
            <a:prstDash val="solid"/>
          </a:ln>
        </p:spPr>
      </p:sp>
      <p:sp>
        <p:nvSpPr>
          <p:cNvPr id="7" name="Text 5"/>
          <p:cNvSpPr txBox="1"/>
          <p:nvPr/>
        </p:nvSpPr>
        <p:spPr>
          <a:xfrm>
            <a:off x="2235055" y="1463040"/>
            <a:ext cx="1238359" cy="1600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a:p>
            <a:pPr algn="ctr" indent="0" marL="0">
              <a:buNone/>
            </a:pPr>
            <a:r>
              <a:rPr lang="en-US" sz="1400" b="1" dirty="0">
                <a:solidFill>
                  <a:srgbClr val="FFFFFF"/>
                </a:solidFill>
                <a:latin typeface="Calibri" pitchFamily="34" charset="0"/>
                <a:ea typeface="Calibri" pitchFamily="34" charset="-122"/>
                <a:cs typeface="Calibri" pitchFamily="34" charset="-120"/>
              </a:rPr>
              <a:t>Manifest</a:t>
            </a:r>
            <a:endParaRPr lang="en-US" sz="1100" dirty="0"/>
          </a:p>
          <a:p>
            <a:pPr algn="ctr" indent="0" marL="0">
              <a:buNone/>
            </a:pPr>
            <a:r>
              <a:rPr lang="en-US" sz="1050" dirty="0">
                <a:solidFill>
                  <a:srgbClr val="FFFFFF"/>
                </a:solidFill>
                <a:latin typeface="Calibri" pitchFamily="34" charset="0"/>
                <a:ea typeface="Calibri" pitchFamily="34" charset="-122"/>
                <a:cs typeface="Calibri" pitchFamily="34" charset="-120"/>
              </a:rPr>
              <a:t>canonical, reproducible</a:t>
            </a:r>
            <a:endParaRPr lang="en-US" sz="1100" dirty="0"/>
          </a:p>
        </p:txBody>
      </p:sp>
      <p:sp>
        <p:nvSpPr>
          <p:cNvPr id="8" name="Shape 6"/>
          <p:cNvSpPr/>
          <p:nvPr/>
        </p:nvSpPr>
        <p:spPr>
          <a:xfrm>
            <a:off x="3601430" y="2144268"/>
            <a:ext cx="118872" cy="237744"/>
          </a:xfrm>
          <a:prstGeom prst="rightArrow">
            <a:avLst/>
          </a:prstGeom>
          <a:solidFill>
            <a:srgbClr val="F2A541"/>
          </a:solidFill>
          <a:ln w="12700">
            <a:solidFill>
              <a:srgbClr val="F2A541"/>
            </a:solidFill>
            <a:prstDash val="solid"/>
          </a:ln>
        </p:spPr>
      </p:sp>
      <p:sp>
        <p:nvSpPr>
          <p:cNvPr id="9" name="Shape 7"/>
          <p:cNvSpPr/>
          <p:nvPr/>
        </p:nvSpPr>
        <p:spPr>
          <a:xfrm>
            <a:off x="3775166" y="1463040"/>
            <a:ext cx="1384663" cy="1600200"/>
          </a:xfrm>
          <a:prstGeom prst="roundRect">
            <a:avLst>
              <a:gd name="adj" fmla="val 6604"/>
            </a:avLst>
          </a:prstGeom>
          <a:solidFill>
            <a:srgbClr val="1C2F4A"/>
          </a:solidFill>
          <a:ln w="12700">
            <a:solidFill>
              <a:srgbClr val="1C2F4A"/>
            </a:solidFill>
            <a:prstDash val="solid"/>
          </a:ln>
        </p:spPr>
      </p:sp>
      <p:sp>
        <p:nvSpPr>
          <p:cNvPr id="10" name="Text 8"/>
          <p:cNvSpPr txBox="1"/>
          <p:nvPr/>
        </p:nvSpPr>
        <p:spPr>
          <a:xfrm>
            <a:off x="3848318" y="1463040"/>
            <a:ext cx="1238359" cy="1600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a:p>
            <a:pPr algn="ctr" indent="0" marL="0">
              <a:buNone/>
            </a:pPr>
            <a:r>
              <a:rPr lang="en-US" sz="1400" b="1" dirty="0">
                <a:solidFill>
                  <a:srgbClr val="FFFFFF"/>
                </a:solidFill>
                <a:latin typeface="Calibri" pitchFamily="34" charset="0"/>
                <a:ea typeface="Calibri" pitchFamily="34" charset="-122"/>
                <a:cs typeface="Calibri" pitchFamily="34" charset="-120"/>
              </a:rPr>
              <a:t>Render</a:t>
            </a:r>
            <a:endParaRPr lang="en-US" sz="1100" dirty="0"/>
          </a:p>
          <a:p>
            <a:pPr algn="ctr" indent="0" marL="0">
              <a:buNone/>
            </a:pPr>
            <a:r>
              <a:rPr lang="en-US" sz="1050" dirty="0">
                <a:solidFill>
                  <a:srgbClr val="FFFFFF"/>
                </a:solidFill>
                <a:latin typeface="Calibri" pitchFamily="34" charset="0"/>
                <a:ea typeface="Calibri" pitchFamily="34" charset="-122"/>
                <a:cs typeface="Calibri" pitchFamily="34" charset="-120"/>
              </a:rPr>
              <a:t>PDF · email · chat …</a:t>
            </a:r>
            <a:endParaRPr lang="en-US" sz="1100" dirty="0"/>
          </a:p>
        </p:txBody>
      </p:sp>
      <p:sp>
        <p:nvSpPr>
          <p:cNvPr id="11" name="Shape 9"/>
          <p:cNvSpPr/>
          <p:nvPr/>
        </p:nvSpPr>
        <p:spPr>
          <a:xfrm>
            <a:off x="5214693" y="2144268"/>
            <a:ext cx="118872" cy="237744"/>
          </a:xfrm>
          <a:prstGeom prst="rightArrow">
            <a:avLst/>
          </a:prstGeom>
          <a:solidFill>
            <a:srgbClr val="F2A541"/>
          </a:solidFill>
          <a:ln w="12700">
            <a:solidFill>
              <a:srgbClr val="F2A541"/>
            </a:solidFill>
            <a:prstDash val="solid"/>
          </a:ln>
        </p:spPr>
      </p:sp>
      <p:sp>
        <p:nvSpPr>
          <p:cNvPr id="12" name="Shape 10"/>
          <p:cNvSpPr/>
          <p:nvPr/>
        </p:nvSpPr>
        <p:spPr>
          <a:xfrm>
            <a:off x="5388429" y="1463040"/>
            <a:ext cx="1384663" cy="1600200"/>
          </a:xfrm>
          <a:prstGeom prst="roundRect">
            <a:avLst>
              <a:gd name="adj" fmla="val 6604"/>
            </a:avLst>
          </a:prstGeom>
          <a:solidFill>
            <a:srgbClr val="1C2F4A"/>
          </a:solidFill>
          <a:ln w="12700">
            <a:solidFill>
              <a:srgbClr val="1C2F4A"/>
            </a:solidFill>
            <a:prstDash val="solid"/>
          </a:ln>
        </p:spPr>
      </p:sp>
      <p:sp>
        <p:nvSpPr>
          <p:cNvPr id="13" name="Text 11"/>
          <p:cNvSpPr txBox="1"/>
          <p:nvPr/>
        </p:nvSpPr>
        <p:spPr>
          <a:xfrm>
            <a:off x="5461581" y="1463040"/>
            <a:ext cx="1238359" cy="1600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a:p>
            <a:pPr algn="ctr" indent="0" marL="0">
              <a:buNone/>
            </a:pPr>
            <a:r>
              <a:rPr lang="en-US" sz="1400" b="1" dirty="0">
                <a:solidFill>
                  <a:srgbClr val="FFFFFF"/>
                </a:solidFill>
                <a:latin typeface="Calibri" pitchFamily="34" charset="0"/>
                <a:ea typeface="Calibri" pitchFamily="34" charset="-122"/>
                <a:cs typeface="Calibri" pitchFamily="34" charset="-120"/>
              </a:rPr>
              <a:t>Ground truth</a:t>
            </a:r>
            <a:endParaRPr lang="en-US" sz="1100" dirty="0"/>
          </a:p>
          <a:p>
            <a:pPr algn="ctr" indent="0" marL="0">
              <a:buNone/>
            </a:pPr>
            <a:r>
              <a:rPr lang="en-US" sz="1050" dirty="0">
                <a:solidFill>
                  <a:srgbClr val="FFFFFF"/>
                </a:solidFill>
                <a:latin typeface="Calibri" pitchFamily="34" charset="0"/>
                <a:ea typeface="Calibri" pitchFamily="34" charset="-122"/>
                <a:cs typeface="Calibri" pitchFamily="34" charset="-120"/>
              </a:rPr>
              <a:t>verified against bytes</a:t>
            </a:r>
            <a:endParaRPr lang="en-US" sz="1100" dirty="0"/>
          </a:p>
        </p:txBody>
      </p:sp>
      <p:sp>
        <p:nvSpPr>
          <p:cNvPr id="14" name="Shape 12"/>
          <p:cNvSpPr/>
          <p:nvPr/>
        </p:nvSpPr>
        <p:spPr>
          <a:xfrm>
            <a:off x="6827955" y="2144268"/>
            <a:ext cx="118872" cy="237744"/>
          </a:xfrm>
          <a:prstGeom prst="rightArrow">
            <a:avLst/>
          </a:prstGeom>
          <a:solidFill>
            <a:srgbClr val="F2A541"/>
          </a:solidFill>
          <a:ln w="12700">
            <a:solidFill>
              <a:srgbClr val="F2A541"/>
            </a:solidFill>
            <a:prstDash val="solid"/>
          </a:ln>
        </p:spPr>
      </p:sp>
      <p:sp>
        <p:nvSpPr>
          <p:cNvPr id="15" name="Shape 13"/>
          <p:cNvSpPr/>
          <p:nvPr/>
        </p:nvSpPr>
        <p:spPr>
          <a:xfrm>
            <a:off x="7001691" y="1463040"/>
            <a:ext cx="1384663" cy="1600200"/>
          </a:xfrm>
          <a:prstGeom prst="roundRect">
            <a:avLst>
              <a:gd name="adj" fmla="val 6604"/>
            </a:avLst>
          </a:prstGeom>
          <a:solidFill>
            <a:srgbClr val="1C2F4A"/>
          </a:solidFill>
          <a:ln w="12700">
            <a:solidFill>
              <a:srgbClr val="1C2F4A"/>
            </a:solidFill>
            <a:prstDash val="solid"/>
          </a:ln>
        </p:spPr>
      </p:sp>
      <p:sp>
        <p:nvSpPr>
          <p:cNvPr id="16" name="Text 14"/>
          <p:cNvSpPr txBox="1"/>
          <p:nvPr/>
        </p:nvSpPr>
        <p:spPr>
          <a:xfrm>
            <a:off x="7074843" y="1463040"/>
            <a:ext cx="1238359" cy="1600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a:p>
            <a:pPr algn="ctr" indent="0" marL="0">
              <a:buNone/>
            </a:pPr>
            <a:r>
              <a:rPr lang="en-US" sz="1400" b="1" dirty="0">
                <a:solidFill>
                  <a:srgbClr val="FFFFFF"/>
                </a:solidFill>
                <a:latin typeface="Calibri" pitchFamily="34" charset="0"/>
                <a:ea typeface="Calibri" pitchFamily="34" charset="-122"/>
                <a:cs typeface="Calibri" pitchFamily="34" charset="-120"/>
              </a:rPr>
              <a:t>Validate</a:t>
            </a:r>
            <a:endParaRPr lang="en-US" sz="1100" dirty="0"/>
          </a:p>
          <a:p>
            <a:pPr algn="ctr" indent="0" marL="0">
              <a:buNone/>
            </a:pPr>
            <a:r>
              <a:rPr lang="en-US" sz="1050" dirty="0">
                <a:solidFill>
                  <a:srgbClr val="FFFFFF"/>
                </a:solidFill>
                <a:latin typeface="Calibri" pitchFamily="34" charset="0"/>
                <a:ea typeface="Calibri" pitchFamily="34" charset="-122"/>
                <a:cs typeface="Calibri" pitchFamily="34" charset="-120"/>
              </a:rPr>
              <a:t>counts · integrity · no orphans</a:t>
            </a:r>
            <a:endParaRPr lang="en-US" sz="1100" dirty="0"/>
          </a:p>
        </p:txBody>
      </p:sp>
      <p:sp>
        <p:nvSpPr>
          <p:cNvPr id="17" name="Shape 15"/>
          <p:cNvSpPr/>
          <p:nvPr/>
        </p:nvSpPr>
        <p:spPr>
          <a:xfrm>
            <a:off x="8441218" y="2144268"/>
            <a:ext cx="118872" cy="237744"/>
          </a:xfrm>
          <a:prstGeom prst="rightArrow">
            <a:avLst/>
          </a:prstGeom>
          <a:solidFill>
            <a:srgbClr val="F2A541"/>
          </a:solidFill>
          <a:ln w="12700">
            <a:solidFill>
              <a:srgbClr val="F2A541"/>
            </a:solidFill>
            <a:prstDash val="solid"/>
          </a:ln>
        </p:spPr>
      </p:sp>
      <p:sp>
        <p:nvSpPr>
          <p:cNvPr id="18" name="Shape 16"/>
          <p:cNvSpPr/>
          <p:nvPr/>
        </p:nvSpPr>
        <p:spPr>
          <a:xfrm>
            <a:off x="8614954" y="1463040"/>
            <a:ext cx="1384663" cy="1600200"/>
          </a:xfrm>
          <a:prstGeom prst="roundRect">
            <a:avLst>
              <a:gd name="adj" fmla="val 6604"/>
            </a:avLst>
          </a:prstGeom>
          <a:solidFill>
            <a:srgbClr val="1C2F4A"/>
          </a:solidFill>
          <a:ln w="12700">
            <a:solidFill>
              <a:srgbClr val="1C2F4A"/>
            </a:solidFill>
            <a:prstDash val="solid"/>
          </a:ln>
        </p:spPr>
      </p:sp>
      <p:sp>
        <p:nvSpPr>
          <p:cNvPr id="19" name="Text 17"/>
          <p:cNvSpPr txBox="1"/>
          <p:nvPr/>
        </p:nvSpPr>
        <p:spPr>
          <a:xfrm>
            <a:off x="8688106" y="1463040"/>
            <a:ext cx="1238359" cy="1600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a:p>
            <a:pPr algn="ctr" indent="0" marL="0">
              <a:buNone/>
            </a:pPr>
            <a:r>
              <a:rPr lang="en-US" sz="1400" b="1" dirty="0">
                <a:solidFill>
                  <a:srgbClr val="FFFFFF"/>
                </a:solidFill>
                <a:latin typeface="Calibri" pitchFamily="34" charset="0"/>
                <a:ea typeface="Calibri" pitchFamily="34" charset="-122"/>
                <a:cs typeface="Calibri" pitchFamily="34" charset="-120"/>
              </a:rPr>
              <a:t>Review</a:t>
            </a:r>
            <a:endParaRPr lang="en-US" sz="1100" dirty="0"/>
          </a:p>
          <a:p>
            <a:pPr algn="ctr" indent="0" marL="0">
              <a:buNone/>
            </a:pPr>
            <a:r>
              <a:rPr lang="en-US" sz="1050" dirty="0">
                <a:solidFill>
                  <a:srgbClr val="FFFFFF"/>
                </a:solidFill>
                <a:latin typeface="Calibri" pitchFamily="34" charset="0"/>
                <a:ea typeface="Calibri" pitchFamily="34" charset="-122"/>
                <a:cs typeface="Calibri" pitchFamily="34" charset="-120"/>
              </a:rPr>
              <a:t>people accept / flag</a:t>
            </a:r>
            <a:endParaRPr lang="en-US" sz="1100" dirty="0"/>
          </a:p>
        </p:txBody>
      </p:sp>
      <p:sp>
        <p:nvSpPr>
          <p:cNvPr id="20" name="Shape 18"/>
          <p:cNvSpPr/>
          <p:nvPr/>
        </p:nvSpPr>
        <p:spPr>
          <a:xfrm>
            <a:off x="10054481" y="2144268"/>
            <a:ext cx="118872" cy="237744"/>
          </a:xfrm>
          <a:prstGeom prst="rightArrow">
            <a:avLst/>
          </a:prstGeom>
          <a:solidFill>
            <a:srgbClr val="F2A541"/>
          </a:solidFill>
          <a:ln w="12700">
            <a:solidFill>
              <a:srgbClr val="F2A541"/>
            </a:solidFill>
            <a:prstDash val="solid"/>
          </a:ln>
        </p:spPr>
      </p:sp>
      <p:sp>
        <p:nvSpPr>
          <p:cNvPr id="21" name="Shape 19"/>
          <p:cNvSpPr/>
          <p:nvPr/>
        </p:nvSpPr>
        <p:spPr>
          <a:xfrm>
            <a:off x="10228217" y="1463040"/>
            <a:ext cx="1384663" cy="1600200"/>
          </a:xfrm>
          <a:prstGeom prst="roundRect">
            <a:avLst>
              <a:gd name="adj" fmla="val 6604"/>
            </a:avLst>
          </a:prstGeom>
          <a:solidFill>
            <a:srgbClr val="F2A541"/>
          </a:solidFill>
          <a:ln w="12700">
            <a:solidFill>
              <a:srgbClr val="F2A541"/>
            </a:solidFill>
            <a:prstDash val="solid"/>
          </a:ln>
        </p:spPr>
      </p:sp>
      <p:sp>
        <p:nvSpPr>
          <p:cNvPr id="22" name="Text 20"/>
          <p:cNvSpPr txBox="1"/>
          <p:nvPr/>
        </p:nvSpPr>
        <p:spPr>
          <a:xfrm>
            <a:off x="10301369" y="1463040"/>
            <a:ext cx="1238359" cy="1600200"/>
          </a:xfrm>
          <a:prstGeom prst="rect">
            <a:avLst/>
          </a:prstGeom>
          <a:noFill/>
          <a:ln/>
        </p:spPr>
        <p:txBody>
          <a:bodyPr wrap="square" lIns="0" tIns="0" rIns="0" bIns="0" rtlCol="0" anchor="ctr"/>
          <a:lstStyle/>
          <a:p>
            <a:pPr algn="ctr" indent="0" marL="0">
              <a:buNone/>
            </a:pPr>
            <a:r>
              <a:rPr lang="en-US" sz="1100" b="1" dirty="0">
                <a:solidFill>
                  <a:srgbClr val="0E1A2B"/>
                </a:solidFill>
                <a:latin typeface="Calibri" pitchFamily="34" charset="0"/>
                <a:ea typeface="Calibri" pitchFamily="34" charset="-122"/>
                <a:cs typeface="Calibri" pitchFamily="34" charset="-120"/>
              </a:rPr>
              <a:t>7</a:t>
            </a:r>
            <a:endParaRPr lang="en-US" sz="1100" dirty="0"/>
          </a:p>
          <a:p>
            <a:pPr algn="ctr" indent="0" marL="0">
              <a:buNone/>
            </a:pPr>
            <a:r>
              <a:rPr lang="en-US" sz="1400" b="1" dirty="0">
                <a:solidFill>
                  <a:srgbClr val="0E1A2B"/>
                </a:solidFill>
                <a:latin typeface="Calibri" pitchFamily="34" charset="0"/>
                <a:ea typeface="Calibri" pitchFamily="34" charset="-122"/>
                <a:cs typeface="Calibri" pitchFamily="34" charset="-120"/>
              </a:rPr>
              <a:t>Ready</a:t>
            </a:r>
            <a:endParaRPr lang="en-US" sz="1100" dirty="0"/>
          </a:p>
          <a:p>
            <a:pPr algn="ctr" indent="0" marL="0">
              <a:buNone/>
            </a:pPr>
            <a:r>
              <a:rPr lang="en-US" sz="1050" dirty="0">
                <a:solidFill>
                  <a:srgbClr val="0E1A2B"/>
                </a:solidFill>
                <a:latin typeface="Calibri" pitchFamily="34" charset="0"/>
                <a:ea typeface="Calibri" pitchFamily="34" charset="-122"/>
                <a:cs typeface="Calibri" pitchFamily="34" charset="-120"/>
              </a:rPr>
              <a:t>crawler may see it</a:t>
            </a:r>
            <a:endParaRPr lang="en-US" sz="1100" dirty="0"/>
          </a:p>
        </p:txBody>
      </p:sp>
      <p:sp>
        <p:nvSpPr>
          <p:cNvPr id="23" name="Shape 21"/>
          <p:cNvSpPr/>
          <p:nvPr/>
        </p:nvSpPr>
        <p:spPr>
          <a:xfrm>
            <a:off x="548640" y="3429000"/>
            <a:ext cx="3474720" cy="2514600"/>
          </a:xfrm>
          <a:prstGeom prst="roundRect">
            <a:avLst>
              <a:gd name="adj" fmla="val 2909"/>
            </a:avLst>
          </a:prstGeom>
          <a:solidFill>
            <a:srgbClr val="F4F6F9"/>
          </a:solidFill>
          <a:ln w="12700">
            <a:solidFill>
              <a:srgbClr val="F4F6F9"/>
            </a:solidFill>
            <a:prstDash val="solid"/>
          </a:ln>
        </p:spPr>
      </p:sp>
      <p:sp>
        <p:nvSpPr>
          <p:cNvPr id="24" name="Shape 22"/>
          <p:cNvSpPr/>
          <p:nvPr/>
        </p:nvSpPr>
        <p:spPr>
          <a:xfrm>
            <a:off x="777240" y="3657600"/>
            <a:ext cx="502920" cy="502920"/>
          </a:xfrm>
          <a:prstGeom prst="ellipse">
            <a:avLst/>
          </a:prstGeom>
          <a:solidFill>
            <a:srgbClr val="F2A541"/>
          </a:solidFill>
          <a:ln w="12700">
            <a:solidFill>
              <a:srgbClr val="F2A541"/>
            </a:solidFill>
            <a:prstDash val="solid"/>
          </a:ln>
        </p:spPr>
      </p:sp>
      <p:pic>
        <p:nvPicPr>
          <p:cNvPr id="25" name="Image 0" descr="preencoded.png">    </p:cNvPr>
          <p:cNvPicPr>
            <a:picLocks noChangeAspect="1"/>
          </p:cNvPicPr>
          <p:nvPr/>
        </p:nvPicPr>
        <p:blipFill>
          <a:blip r:embed="rId1"/>
          <a:stretch>
            <a:fillRect/>
          </a:stretch>
        </p:blipFill>
        <p:spPr>
          <a:xfrm>
            <a:off x="897941" y="3778301"/>
            <a:ext cx="261518" cy="261518"/>
          </a:xfrm>
          <a:prstGeom prst="rect">
            <a:avLst/>
          </a:prstGeom>
        </p:spPr>
      </p:pic>
      <p:sp>
        <p:nvSpPr>
          <p:cNvPr id="26" name="Text 23"/>
          <p:cNvSpPr txBox="1"/>
          <p:nvPr/>
        </p:nvSpPr>
        <p:spPr>
          <a:xfrm>
            <a:off x="1417320" y="3630168"/>
            <a:ext cx="242316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Lakehouse</a:t>
            </a:r>
            <a:endParaRPr lang="en-US" sz="1700" dirty="0"/>
          </a:p>
        </p:txBody>
      </p:sp>
      <p:sp>
        <p:nvSpPr>
          <p:cNvPr id="27" name="Text 24"/>
          <p:cNvSpPr txBox="1"/>
          <p:nvPr/>
        </p:nvSpPr>
        <p:spPr>
          <a:xfrm>
            <a:off x="822960" y="4297680"/>
            <a:ext cx="2971800" cy="150876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helios_ds and helios_ground_truth live beside tpcds in the Iceberg lakehouse, reached through the Impala virtual warehouse.</a:t>
            </a:r>
            <a:endParaRPr lang="en-US" sz="1350" dirty="0"/>
          </a:p>
        </p:txBody>
      </p:sp>
      <p:sp>
        <p:nvSpPr>
          <p:cNvPr id="28" name="Shape 25"/>
          <p:cNvSpPr/>
          <p:nvPr/>
        </p:nvSpPr>
        <p:spPr>
          <a:xfrm>
            <a:off x="4297680" y="3429000"/>
            <a:ext cx="3474720" cy="2514600"/>
          </a:xfrm>
          <a:prstGeom prst="roundRect">
            <a:avLst>
              <a:gd name="adj" fmla="val 2909"/>
            </a:avLst>
          </a:prstGeom>
          <a:solidFill>
            <a:srgbClr val="F4F6F9"/>
          </a:solidFill>
          <a:ln w="12700">
            <a:solidFill>
              <a:srgbClr val="F4F6F9"/>
            </a:solidFill>
            <a:prstDash val="solid"/>
          </a:ln>
        </p:spPr>
      </p:sp>
      <p:sp>
        <p:nvSpPr>
          <p:cNvPr id="29" name="Shape 26"/>
          <p:cNvSpPr/>
          <p:nvPr/>
        </p:nvSpPr>
        <p:spPr>
          <a:xfrm>
            <a:off x="4526280" y="3657600"/>
            <a:ext cx="502920" cy="502920"/>
          </a:xfrm>
          <a:prstGeom prst="ellipse">
            <a:avLst/>
          </a:prstGeom>
          <a:solidFill>
            <a:srgbClr val="F2A541"/>
          </a:solidFill>
          <a:ln w="12700">
            <a:solidFill>
              <a:srgbClr val="F2A541"/>
            </a:solidFill>
            <a:prstDash val="solid"/>
          </a:ln>
        </p:spPr>
      </p:sp>
      <p:pic>
        <p:nvPicPr>
          <p:cNvPr id="30" name="Image 1" descr="preencoded.png">    </p:cNvPr>
          <p:cNvPicPr>
            <a:picLocks noChangeAspect="1"/>
          </p:cNvPicPr>
          <p:nvPr/>
        </p:nvPicPr>
        <p:blipFill>
          <a:blip r:embed="rId2"/>
          <a:stretch>
            <a:fillRect/>
          </a:stretch>
        </p:blipFill>
        <p:spPr>
          <a:xfrm>
            <a:off x="4646981" y="3778301"/>
            <a:ext cx="261518" cy="261518"/>
          </a:xfrm>
          <a:prstGeom prst="rect">
            <a:avLst/>
          </a:prstGeom>
        </p:spPr>
      </p:pic>
      <p:sp>
        <p:nvSpPr>
          <p:cNvPr id="31" name="Text 27"/>
          <p:cNvSpPr txBox="1"/>
          <p:nvPr/>
        </p:nvSpPr>
        <p:spPr>
          <a:xfrm>
            <a:off x="5166360" y="3630168"/>
            <a:ext cx="242316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Object store</a:t>
            </a:r>
            <a:endParaRPr lang="en-US" sz="1700" dirty="0"/>
          </a:p>
        </p:txBody>
      </p:sp>
      <p:sp>
        <p:nvSpPr>
          <p:cNvPr id="32" name="Text 28"/>
          <p:cNvSpPr txBox="1"/>
          <p:nvPr/>
        </p:nvSpPr>
        <p:spPr>
          <a:xfrm>
            <a:off x="4572000" y="4297680"/>
            <a:ext cx="2971800" cy="150876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Artifacts in s3a://…/helios-db/source via the Workbench "S3 Object Store" data connection (Ranger/RAZ, no keys in code).</a:t>
            </a:r>
            <a:endParaRPr lang="en-US" sz="1350" dirty="0"/>
          </a:p>
        </p:txBody>
      </p:sp>
      <p:sp>
        <p:nvSpPr>
          <p:cNvPr id="33" name="Shape 29"/>
          <p:cNvSpPr/>
          <p:nvPr/>
        </p:nvSpPr>
        <p:spPr>
          <a:xfrm>
            <a:off x="8046720" y="3429000"/>
            <a:ext cx="3474720" cy="2514600"/>
          </a:xfrm>
          <a:prstGeom prst="roundRect">
            <a:avLst>
              <a:gd name="adj" fmla="val 2909"/>
            </a:avLst>
          </a:prstGeom>
          <a:solidFill>
            <a:srgbClr val="F4F6F9"/>
          </a:solidFill>
          <a:ln w="12700">
            <a:solidFill>
              <a:srgbClr val="F4F6F9"/>
            </a:solidFill>
            <a:prstDash val="solid"/>
          </a:ln>
        </p:spPr>
      </p:sp>
      <p:sp>
        <p:nvSpPr>
          <p:cNvPr id="34" name="Shape 30"/>
          <p:cNvSpPr/>
          <p:nvPr/>
        </p:nvSpPr>
        <p:spPr>
          <a:xfrm>
            <a:off x="8275320" y="3657600"/>
            <a:ext cx="502920" cy="502920"/>
          </a:xfrm>
          <a:prstGeom prst="ellipse">
            <a:avLst/>
          </a:prstGeom>
          <a:solidFill>
            <a:srgbClr val="F2A541"/>
          </a:solidFill>
          <a:ln w="12700">
            <a:solidFill>
              <a:srgbClr val="F2A541"/>
            </a:solidFill>
            <a:prstDash val="solid"/>
          </a:ln>
        </p:spPr>
      </p:sp>
      <p:pic>
        <p:nvPicPr>
          <p:cNvPr id="35" name="Image 2" descr="preencoded.png">    </p:cNvPr>
          <p:cNvPicPr>
            <a:picLocks noChangeAspect="1"/>
          </p:cNvPicPr>
          <p:nvPr/>
        </p:nvPicPr>
        <p:blipFill>
          <a:blip r:embed="rId3"/>
          <a:stretch>
            <a:fillRect/>
          </a:stretch>
        </p:blipFill>
        <p:spPr>
          <a:xfrm>
            <a:off x="8396021" y="3778301"/>
            <a:ext cx="261518" cy="261518"/>
          </a:xfrm>
          <a:prstGeom prst="rect">
            <a:avLst/>
          </a:prstGeom>
        </p:spPr>
      </p:pic>
      <p:sp>
        <p:nvSpPr>
          <p:cNvPr id="36" name="Text 31"/>
          <p:cNvSpPr txBox="1"/>
          <p:nvPr/>
        </p:nvSpPr>
        <p:spPr>
          <a:xfrm>
            <a:off x="8915400" y="3630168"/>
            <a:ext cx="242316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Jobs</a:t>
            </a:r>
            <a:endParaRPr lang="en-US" sz="1700" dirty="0"/>
          </a:p>
        </p:txBody>
      </p:sp>
      <p:sp>
        <p:nvSpPr>
          <p:cNvPr id="37" name="Text 32"/>
          <p:cNvSpPr txBox="1"/>
          <p:nvPr/>
        </p:nvSpPr>
        <p:spPr>
          <a:xfrm>
            <a:off x="8321040" y="4297680"/>
            <a:ext cx="2971800" cy="150876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The API records the job, then starts a Workbench Job run on the helios-ds runtime; progress is logged back to the lakehouse.</a:t>
            </a:r>
            <a:endParaRPr lang="en-US" sz="13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3200" b="1" dirty="0">
                <a:solidFill>
                  <a:srgbClr val="0E1A2B"/>
                </a:solidFill>
                <a:latin typeface="Cambria" pitchFamily="34" charset="0"/>
                <a:ea typeface="Cambria" pitchFamily="34" charset="-122"/>
                <a:cs typeface="Cambria" pitchFamily="34" charset="-120"/>
              </a:rPr>
              <a:t>Realistic assets without an LLM</a:t>
            </a:r>
            <a:endParaRPr lang="en-US" sz="3200" dirty="0"/>
          </a:p>
        </p:txBody>
      </p:sp>
      <p:sp>
        <p:nvSpPr>
          <p:cNvPr id="3" name="Text 1"/>
          <p:cNvSpPr txBox="1"/>
          <p:nvPr/>
        </p:nvSpPr>
        <p:spPr>
          <a:xfrm>
            <a:off x="548640" y="1097280"/>
            <a:ext cx="11094415" cy="457200"/>
          </a:xfrm>
          <a:prstGeom prst="rect">
            <a:avLst/>
          </a:prstGeom>
          <a:noFill/>
          <a:ln/>
        </p:spPr>
        <p:txBody>
          <a:bodyPr wrap="square" lIns="0" tIns="0" rIns="0" bIns="0" rtlCol="0" anchor="ctr"/>
          <a:lstStyle/>
          <a:p>
            <a:pPr indent="0" marL="0">
              <a:buNone/>
            </a:pPr>
            <a:r>
              <a:rPr lang="en-US" sz="1600" i="1" dirty="0">
                <a:solidFill>
                  <a:srgbClr val="5B6472"/>
                </a:solidFill>
                <a:latin typeface="Calibri" pitchFamily="34" charset="0"/>
                <a:ea typeface="Calibri" pitchFamily="34" charset="-122"/>
                <a:cs typeface="Calibri" pitchFamily="34" charset="-120"/>
              </a:rPr>
              <a:t>Reproducibility beats naturalness for a benchmark, so baseline assets use no generative model.</a:t>
            </a:r>
            <a:endParaRPr lang="en-US" sz="1600" dirty="0"/>
          </a:p>
        </p:txBody>
      </p:sp>
      <p:sp>
        <p:nvSpPr>
          <p:cNvPr id="4" name="Shape 2"/>
          <p:cNvSpPr/>
          <p:nvPr/>
        </p:nvSpPr>
        <p:spPr>
          <a:xfrm>
            <a:off x="548640" y="1737360"/>
            <a:ext cx="5394960" cy="1920240"/>
          </a:xfrm>
          <a:prstGeom prst="roundRect">
            <a:avLst>
              <a:gd name="adj" fmla="val 3810"/>
            </a:avLst>
          </a:prstGeom>
          <a:solidFill>
            <a:srgbClr val="F4F6F9"/>
          </a:solidFill>
          <a:ln w="12700">
            <a:solidFill>
              <a:srgbClr val="F4F6F9"/>
            </a:solidFill>
            <a:prstDash val="solid"/>
          </a:ln>
        </p:spPr>
      </p:sp>
      <p:sp>
        <p:nvSpPr>
          <p:cNvPr id="5" name="Shape 3"/>
          <p:cNvSpPr/>
          <p:nvPr/>
        </p:nvSpPr>
        <p:spPr>
          <a:xfrm>
            <a:off x="777240" y="1965960"/>
            <a:ext cx="502920" cy="502920"/>
          </a:xfrm>
          <a:prstGeom prst="ellipse">
            <a:avLst/>
          </a:prstGeom>
          <a:solidFill>
            <a:srgbClr val="F2A541"/>
          </a:solidFill>
          <a:ln w="12700">
            <a:solidFill>
              <a:srgbClr val="F2A541"/>
            </a:solidFill>
            <a:prstDash val="solid"/>
          </a:ln>
        </p:spPr>
      </p:sp>
      <p:pic>
        <p:nvPicPr>
          <p:cNvPr id="6" name="Image 0" descr="preencoded.png">    </p:cNvPr>
          <p:cNvPicPr>
            <a:picLocks noChangeAspect="1"/>
          </p:cNvPicPr>
          <p:nvPr/>
        </p:nvPicPr>
        <p:blipFill>
          <a:blip r:embed="rId1"/>
          <a:stretch>
            <a:fillRect/>
          </a:stretch>
        </p:blipFill>
        <p:spPr>
          <a:xfrm>
            <a:off x="897941" y="2086661"/>
            <a:ext cx="261518" cy="261518"/>
          </a:xfrm>
          <a:prstGeom prst="rect">
            <a:avLst/>
          </a:prstGeom>
        </p:spPr>
      </p:pic>
      <p:sp>
        <p:nvSpPr>
          <p:cNvPr id="7" name="Text 4"/>
          <p:cNvSpPr txBox="1"/>
          <p:nvPr/>
        </p:nvSpPr>
        <p:spPr>
          <a:xfrm>
            <a:off x="1417320" y="1938528"/>
            <a:ext cx="434340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Facts from TPC-DS</a:t>
            </a:r>
            <a:endParaRPr lang="en-US" sz="1700" dirty="0"/>
          </a:p>
        </p:txBody>
      </p:sp>
      <p:sp>
        <p:nvSpPr>
          <p:cNvPr id="8" name="Text 5"/>
          <p:cNvSpPr txBox="1"/>
          <p:nvPr/>
        </p:nvSpPr>
        <p:spPr>
          <a:xfrm>
            <a:off x="822960" y="2606040"/>
            <a:ext cx="4892040" cy="914400"/>
          </a:xfrm>
          <a:prstGeom prst="rect">
            <a:avLst/>
          </a:prstGeom>
          <a:noFill/>
          <a:ln/>
        </p:spPr>
        <p:txBody>
          <a:bodyPr wrap="square" lIns="0" tIns="0" rIns="0" bIns="0" rtlCol="0" anchor="t"/>
          <a:lstStyle/>
          <a:p>
            <a:pPr indent="0" marL="0">
              <a:buNone/>
            </a:pPr>
            <a:r>
              <a:rPr lang="en-US" sz="1450" dirty="0">
                <a:solidFill>
                  <a:srgbClr val="1F2937"/>
                </a:solidFill>
                <a:latin typeface="Calibri" pitchFamily="34" charset="0"/>
                <a:ea typeface="Calibri" pitchFamily="34" charset="-122"/>
                <a:cs typeface="Calibri" pitchFamily="34" charset="-120"/>
              </a:rPr>
              <a:t>Names, items, stores, dates, amounts and reasons come from the scenario's real records, so documents never contradict the data.</a:t>
            </a:r>
            <a:endParaRPr lang="en-US" sz="1450" dirty="0"/>
          </a:p>
        </p:txBody>
      </p:sp>
      <p:sp>
        <p:nvSpPr>
          <p:cNvPr id="9" name="Shape 6"/>
          <p:cNvSpPr/>
          <p:nvPr/>
        </p:nvSpPr>
        <p:spPr>
          <a:xfrm>
            <a:off x="6217920" y="1737360"/>
            <a:ext cx="5394960" cy="1920240"/>
          </a:xfrm>
          <a:prstGeom prst="roundRect">
            <a:avLst>
              <a:gd name="adj" fmla="val 3810"/>
            </a:avLst>
          </a:prstGeom>
          <a:solidFill>
            <a:srgbClr val="F4F6F9"/>
          </a:solidFill>
          <a:ln w="12700">
            <a:solidFill>
              <a:srgbClr val="F4F6F9"/>
            </a:solidFill>
            <a:prstDash val="solid"/>
          </a:ln>
        </p:spPr>
      </p:sp>
      <p:sp>
        <p:nvSpPr>
          <p:cNvPr id="10" name="Shape 7"/>
          <p:cNvSpPr/>
          <p:nvPr/>
        </p:nvSpPr>
        <p:spPr>
          <a:xfrm>
            <a:off x="6446520" y="1965960"/>
            <a:ext cx="502920" cy="502920"/>
          </a:xfrm>
          <a:prstGeom prst="ellipse">
            <a:avLst/>
          </a:prstGeom>
          <a:solidFill>
            <a:srgbClr val="F2A541"/>
          </a:solidFill>
          <a:ln w="12700">
            <a:solidFill>
              <a:srgbClr val="F2A541"/>
            </a:solidFill>
            <a:prstDash val="solid"/>
          </a:ln>
        </p:spPr>
      </p:sp>
      <p:pic>
        <p:nvPicPr>
          <p:cNvPr id="11" name="Image 1" descr="preencoded.png">    </p:cNvPr>
          <p:cNvPicPr>
            <a:picLocks noChangeAspect="1"/>
          </p:cNvPicPr>
          <p:nvPr/>
        </p:nvPicPr>
        <p:blipFill>
          <a:blip r:embed="rId2"/>
          <a:stretch>
            <a:fillRect/>
          </a:stretch>
        </p:blipFill>
        <p:spPr>
          <a:xfrm>
            <a:off x="6567221" y="2086661"/>
            <a:ext cx="261518" cy="261518"/>
          </a:xfrm>
          <a:prstGeom prst="rect">
            <a:avLst/>
          </a:prstGeom>
        </p:spPr>
      </p:pic>
      <p:sp>
        <p:nvSpPr>
          <p:cNvPr id="12" name="Text 8"/>
          <p:cNvSpPr txBox="1"/>
          <p:nvPr/>
        </p:nvSpPr>
        <p:spPr>
          <a:xfrm>
            <a:off x="7086600" y="1938528"/>
            <a:ext cx="434340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Structure from templates</a:t>
            </a:r>
            <a:endParaRPr lang="en-US" sz="1700" dirty="0"/>
          </a:p>
        </p:txBody>
      </p:sp>
      <p:sp>
        <p:nvSpPr>
          <p:cNvPr id="13" name="Text 9"/>
          <p:cNvSpPr txBox="1"/>
          <p:nvPr/>
        </p:nvSpPr>
        <p:spPr>
          <a:xfrm>
            <a:off x="6492240" y="2606040"/>
            <a:ext cx="4892040" cy="914400"/>
          </a:xfrm>
          <a:prstGeom prst="rect">
            <a:avLst/>
          </a:prstGeom>
          <a:noFill/>
          <a:ln/>
        </p:spPr>
        <p:txBody>
          <a:bodyPr wrap="square" lIns="0" tIns="0" rIns="0" bIns="0" rtlCol="0" anchor="t"/>
          <a:lstStyle/>
          <a:p>
            <a:pPr indent="0" marL="0">
              <a:buNone/>
            </a:pPr>
            <a:r>
              <a:rPr lang="en-US" sz="1450" dirty="0">
                <a:solidFill>
                  <a:srgbClr val="1F2937"/>
                </a:solidFill>
                <a:latin typeface="Calibri" pitchFamily="34" charset="0"/>
                <a:ea typeface="Calibri" pitchFamily="34" charset="-122"/>
                <a:cs typeface="Calibri" pitchFamily="34" charset="-120"/>
              </a:rPr>
              <a:t>Letterhead, tables, headers and chat threads come from each template's layout code.</a:t>
            </a:r>
            <a:endParaRPr lang="en-US" sz="1450" dirty="0"/>
          </a:p>
        </p:txBody>
      </p:sp>
      <p:sp>
        <p:nvSpPr>
          <p:cNvPr id="14" name="Shape 10"/>
          <p:cNvSpPr/>
          <p:nvPr/>
        </p:nvSpPr>
        <p:spPr>
          <a:xfrm>
            <a:off x="548640" y="3886200"/>
            <a:ext cx="5394960" cy="1920240"/>
          </a:xfrm>
          <a:prstGeom prst="roundRect">
            <a:avLst>
              <a:gd name="adj" fmla="val 3810"/>
            </a:avLst>
          </a:prstGeom>
          <a:solidFill>
            <a:srgbClr val="F4F6F9"/>
          </a:solidFill>
          <a:ln w="12700">
            <a:solidFill>
              <a:srgbClr val="F4F6F9"/>
            </a:solidFill>
            <a:prstDash val="solid"/>
          </a:ln>
        </p:spPr>
      </p:sp>
      <p:sp>
        <p:nvSpPr>
          <p:cNvPr id="15" name="Shape 11"/>
          <p:cNvSpPr/>
          <p:nvPr/>
        </p:nvSpPr>
        <p:spPr>
          <a:xfrm>
            <a:off x="777240" y="4114800"/>
            <a:ext cx="502920" cy="502920"/>
          </a:xfrm>
          <a:prstGeom prst="ellipse">
            <a:avLst/>
          </a:prstGeom>
          <a:solidFill>
            <a:srgbClr val="F2A541"/>
          </a:solidFill>
          <a:ln w="12700">
            <a:solidFill>
              <a:srgbClr val="F2A541"/>
            </a:solidFill>
            <a:prstDash val="solid"/>
          </a:ln>
        </p:spPr>
      </p:sp>
      <p:pic>
        <p:nvPicPr>
          <p:cNvPr id="16" name="Image 2" descr="preencoded.png">    </p:cNvPr>
          <p:cNvPicPr>
            <a:picLocks noChangeAspect="1"/>
          </p:cNvPicPr>
          <p:nvPr/>
        </p:nvPicPr>
        <p:blipFill>
          <a:blip r:embed="rId3"/>
          <a:stretch>
            <a:fillRect/>
          </a:stretch>
        </p:blipFill>
        <p:spPr>
          <a:xfrm>
            <a:off x="897941" y="4235501"/>
            <a:ext cx="261518" cy="261518"/>
          </a:xfrm>
          <a:prstGeom prst="rect">
            <a:avLst/>
          </a:prstGeom>
        </p:spPr>
      </p:pic>
      <p:sp>
        <p:nvSpPr>
          <p:cNvPr id="17" name="Text 12"/>
          <p:cNvSpPr txBox="1"/>
          <p:nvPr/>
        </p:nvSpPr>
        <p:spPr>
          <a:xfrm>
            <a:off x="1417320" y="4087368"/>
            <a:ext cx="434340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Variety from seeded choices</a:t>
            </a:r>
            <a:endParaRPr lang="en-US" sz="1700" dirty="0"/>
          </a:p>
        </p:txBody>
      </p:sp>
      <p:sp>
        <p:nvSpPr>
          <p:cNvPr id="18" name="Text 13"/>
          <p:cNvSpPr txBox="1"/>
          <p:nvPr/>
        </p:nvSpPr>
        <p:spPr>
          <a:xfrm>
            <a:off x="822960" y="4754880"/>
            <a:ext cx="4892040" cy="914400"/>
          </a:xfrm>
          <a:prstGeom prst="rect">
            <a:avLst/>
          </a:prstGeom>
          <a:noFill/>
          <a:ln/>
        </p:spPr>
        <p:txBody>
          <a:bodyPr wrap="square" lIns="0" tIns="0" rIns="0" bIns="0" rtlCol="0" anchor="t"/>
          <a:lstStyle/>
          <a:p>
            <a:pPr indent="0" marL="0">
              <a:buNone/>
            </a:pPr>
            <a:r>
              <a:rPr lang="en-US" sz="1450" dirty="0">
                <a:solidFill>
                  <a:srgbClr val="1F2937"/>
                </a:solidFill>
                <a:latin typeface="Calibri" pitchFamily="34" charset="0"/>
                <a:ea typeface="Calibri" pitchFamily="34" charset="-122"/>
                <a:cs typeface="Calibri" pitchFamily="34" charset="-120"/>
              </a:rPr>
              <a:t>Phrase banks, tones (polite, frustrated, brief) and layout variants, chosen by the artifact's seed.</a:t>
            </a:r>
            <a:endParaRPr lang="en-US" sz="1450" dirty="0"/>
          </a:p>
        </p:txBody>
      </p:sp>
      <p:sp>
        <p:nvSpPr>
          <p:cNvPr id="19" name="Shape 14"/>
          <p:cNvSpPr/>
          <p:nvPr/>
        </p:nvSpPr>
        <p:spPr>
          <a:xfrm>
            <a:off x="6217920" y="3886200"/>
            <a:ext cx="5394960" cy="1920240"/>
          </a:xfrm>
          <a:prstGeom prst="roundRect">
            <a:avLst>
              <a:gd name="adj" fmla="val 3810"/>
            </a:avLst>
          </a:prstGeom>
          <a:solidFill>
            <a:srgbClr val="F4F6F9"/>
          </a:solidFill>
          <a:ln w="12700">
            <a:solidFill>
              <a:srgbClr val="F4F6F9"/>
            </a:solidFill>
            <a:prstDash val="solid"/>
          </a:ln>
        </p:spPr>
      </p:sp>
      <p:sp>
        <p:nvSpPr>
          <p:cNvPr id="20" name="Shape 15"/>
          <p:cNvSpPr/>
          <p:nvPr/>
        </p:nvSpPr>
        <p:spPr>
          <a:xfrm>
            <a:off x="6446520" y="4114800"/>
            <a:ext cx="502920" cy="502920"/>
          </a:xfrm>
          <a:prstGeom prst="ellipse">
            <a:avLst/>
          </a:prstGeom>
          <a:solidFill>
            <a:srgbClr val="F2A541"/>
          </a:solidFill>
          <a:ln w="12700">
            <a:solidFill>
              <a:srgbClr val="F2A541"/>
            </a:solidFill>
            <a:prstDash val="solid"/>
          </a:ln>
        </p:spPr>
      </p:sp>
      <p:pic>
        <p:nvPicPr>
          <p:cNvPr id="21" name="Image 3" descr="preencoded.png">    </p:cNvPr>
          <p:cNvPicPr>
            <a:picLocks noChangeAspect="1"/>
          </p:cNvPicPr>
          <p:nvPr/>
        </p:nvPicPr>
        <p:blipFill>
          <a:blip r:embed="rId4"/>
          <a:stretch>
            <a:fillRect/>
          </a:stretch>
        </p:blipFill>
        <p:spPr>
          <a:xfrm>
            <a:off x="6567221" y="4235501"/>
            <a:ext cx="261518" cy="261518"/>
          </a:xfrm>
          <a:prstGeom prst="rect">
            <a:avLst/>
          </a:prstGeom>
        </p:spPr>
      </p:pic>
      <p:sp>
        <p:nvSpPr>
          <p:cNvPr id="22" name="Text 16"/>
          <p:cNvSpPr txBox="1"/>
          <p:nvPr/>
        </p:nvSpPr>
        <p:spPr>
          <a:xfrm>
            <a:off x="7086600" y="4087368"/>
            <a:ext cx="434340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One consistent case</a:t>
            </a:r>
            <a:endParaRPr lang="en-US" sz="1700" dirty="0"/>
          </a:p>
        </p:txBody>
      </p:sp>
      <p:sp>
        <p:nvSpPr>
          <p:cNvPr id="23" name="Text 17"/>
          <p:cNvSpPr txBox="1"/>
          <p:nvPr/>
        </p:nvSpPr>
        <p:spPr>
          <a:xfrm>
            <a:off x="6492240" y="4754880"/>
            <a:ext cx="4892040" cy="914400"/>
          </a:xfrm>
          <a:prstGeom prst="rect">
            <a:avLst/>
          </a:prstGeom>
          <a:noFill/>
          <a:ln/>
        </p:spPr>
        <p:txBody>
          <a:bodyPr wrap="square" lIns="0" tIns="0" rIns="0" bIns="0" rtlCol="0" anchor="t"/>
          <a:lstStyle/>
          <a:p>
            <a:pPr indent="0" marL="0">
              <a:buNone/>
            </a:pPr>
            <a:r>
              <a:rPr lang="en-US" sz="1450" dirty="0">
                <a:solidFill>
                  <a:srgbClr val="1F2937"/>
                </a:solidFill>
                <a:latin typeface="Calibri" pitchFamily="34" charset="0"/>
                <a:ea typeface="Calibri" pitchFamily="34" charset="-122"/>
                <a:cs typeface="Calibri" pitchFamily="34" charset="-120"/>
              </a:rPr>
              <a:t>A story's report, email and chat share the RMA number, staff and a plausible timeline.</a:t>
            </a:r>
            <a:endParaRPr lang="en-US" sz="14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3200" b="1" dirty="0">
                <a:solidFill>
                  <a:srgbClr val="0E1A2B"/>
                </a:solidFill>
                <a:latin typeface="Cambria" pitchFamily="34" charset="0"/>
                <a:ea typeface="Cambria" pitchFamily="34" charset="-122"/>
                <a:cs typeface="Cambria" pitchFamily="34" charset="-120"/>
              </a:rPr>
              <a:t>Today: the damaged-product return story</a:t>
            </a:r>
            <a:endParaRPr lang="en-US" sz="3200" dirty="0"/>
          </a:p>
        </p:txBody>
      </p:sp>
      <p:sp>
        <p:nvSpPr>
          <p:cNvPr id="3" name="Shape 1"/>
          <p:cNvSpPr/>
          <p:nvPr/>
        </p:nvSpPr>
        <p:spPr>
          <a:xfrm>
            <a:off x="548640" y="1371600"/>
            <a:ext cx="4846320" cy="1463040"/>
          </a:xfrm>
          <a:prstGeom prst="roundRect">
            <a:avLst>
              <a:gd name="adj" fmla="val 5000"/>
            </a:avLst>
          </a:prstGeom>
          <a:solidFill>
            <a:srgbClr val="F4F6F9"/>
          </a:solidFill>
          <a:ln w="12700">
            <a:solidFill>
              <a:srgbClr val="F4F6F9"/>
            </a:solidFill>
            <a:prstDash val="solid"/>
          </a:ln>
        </p:spPr>
      </p:sp>
      <p:sp>
        <p:nvSpPr>
          <p:cNvPr id="4" name="Shape 2"/>
          <p:cNvSpPr/>
          <p:nvPr/>
        </p:nvSpPr>
        <p:spPr>
          <a:xfrm>
            <a:off x="777240" y="1600200"/>
            <a:ext cx="502920" cy="502920"/>
          </a:xfrm>
          <a:prstGeom prst="ellipse">
            <a:avLst/>
          </a:prstGeom>
          <a:solidFill>
            <a:srgbClr val="F2A541"/>
          </a:solidFill>
          <a:ln w="12700">
            <a:solidFill>
              <a:srgbClr val="F2A541"/>
            </a:solidFill>
            <a:prstDash val="solid"/>
          </a:ln>
        </p:spPr>
      </p:sp>
      <p:pic>
        <p:nvPicPr>
          <p:cNvPr id="5" name="Image 0" descr="preencoded.png">    </p:cNvPr>
          <p:cNvPicPr>
            <a:picLocks noChangeAspect="1"/>
          </p:cNvPicPr>
          <p:nvPr/>
        </p:nvPicPr>
        <p:blipFill>
          <a:blip r:embed="rId1"/>
          <a:stretch>
            <a:fillRect/>
          </a:stretch>
        </p:blipFill>
        <p:spPr>
          <a:xfrm>
            <a:off x="897941" y="1720901"/>
            <a:ext cx="261518" cy="261518"/>
          </a:xfrm>
          <a:prstGeom prst="rect">
            <a:avLst/>
          </a:prstGeom>
        </p:spPr>
      </p:pic>
      <p:sp>
        <p:nvSpPr>
          <p:cNvPr id="6" name="Text 3"/>
          <p:cNvSpPr txBox="1"/>
          <p:nvPr/>
        </p:nvSpPr>
        <p:spPr>
          <a:xfrm>
            <a:off x="1417320" y="1572768"/>
            <a:ext cx="3794760" cy="548640"/>
          </a:xfrm>
          <a:prstGeom prst="rect">
            <a:avLst/>
          </a:prstGeom>
          <a:noFill/>
          <a:ln/>
        </p:spPr>
        <p:txBody>
          <a:bodyPr wrap="square" lIns="0" tIns="0" rIns="0" bIns="0" rtlCol="0" anchor="ctr"/>
          <a:lstStyle/>
          <a:p>
            <a:pPr indent="0" marL="0">
              <a:buNone/>
            </a:pPr>
            <a:r>
              <a:rPr lang="en-US" sz="1600" b="1" dirty="0">
                <a:solidFill>
                  <a:srgbClr val="0E1A2B"/>
                </a:solidFill>
                <a:latin typeface="Calibri" pitchFamily="34" charset="0"/>
                <a:ea typeface="Calibri" pitchFamily="34" charset="-122"/>
                <a:cs typeface="Calibri" pitchFamily="34" charset="-120"/>
              </a:rPr>
              <a:t>Return report (PDF)</a:t>
            </a:r>
            <a:endParaRPr lang="en-US" sz="1600" dirty="0"/>
          </a:p>
        </p:txBody>
      </p:sp>
      <p:sp>
        <p:nvSpPr>
          <p:cNvPr id="7" name="Text 4"/>
          <p:cNvSpPr txBox="1"/>
          <p:nvPr/>
        </p:nvSpPr>
        <p:spPr>
          <a:xfrm>
            <a:off x="822960" y="2240280"/>
            <a:ext cx="4343400" cy="45720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One page: RMA, store, customer, item table with TPC-DS amounts, inspection note, disposition.</a:t>
            </a:r>
            <a:endParaRPr lang="en-US" sz="1250" dirty="0"/>
          </a:p>
        </p:txBody>
      </p:sp>
      <p:sp>
        <p:nvSpPr>
          <p:cNvPr id="8" name="Shape 5"/>
          <p:cNvSpPr/>
          <p:nvPr/>
        </p:nvSpPr>
        <p:spPr>
          <a:xfrm>
            <a:off x="548640" y="2944368"/>
            <a:ext cx="4846320" cy="1463040"/>
          </a:xfrm>
          <a:prstGeom prst="roundRect">
            <a:avLst>
              <a:gd name="adj" fmla="val 5000"/>
            </a:avLst>
          </a:prstGeom>
          <a:solidFill>
            <a:srgbClr val="F4F6F9"/>
          </a:solidFill>
          <a:ln w="12700">
            <a:solidFill>
              <a:srgbClr val="F4F6F9"/>
            </a:solidFill>
            <a:prstDash val="solid"/>
          </a:ln>
        </p:spPr>
      </p:sp>
      <p:sp>
        <p:nvSpPr>
          <p:cNvPr id="9" name="Shape 6"/>
          <p:cNvSpPr/>
          <p:nvPr/>
        </p:nvSpPr>
        <p:spPr>
          <a:xfrm>
            <a:off x="777240" y="3172968"/>
            <a:ext cx="502920" cy="502920"/>
          </a:xfrm>
          <a:prstGeom prst="ellipse">
            <a:avLst/>
          </a:prstGeom>
          <a:solidFill>
            <a:srgbClr val="F2A541"/>
          </a:solidFill>
          <a:ln w="12700">
            <a:solidFill>
              <a:srgbClr val="F2A541"/>
            </a:solidFill>
            <a:prstDash val="solid"/>
          </a:ln>
        </p:spPr>
      </p:sp>
      <p:pic>
        <p:nvPicPr>
          <p:cNvPr id="10" name="Image 1" descr="preencoded.png">    </p:cNvPr>
          <p:cNvPicPr>
            <a:picLocks noChangeAspect="1"/>
          </p:cNvPicPr>
          <p:nvPr/>
        </p:nvPicPr>
        <p:blipFill>
          <a:blip r:embed="rId2"/>
          <a:stretch>
            <a:fillRect/>
          </a:stretch>
        </p:blipFill>
        <p:spPr>
          <a:xfrm>
            <a:off x="897941" y="3293669"/>
            <a:ext cx="261518" cy="261518"/>
          </a:xfrm>
          <a:prstGeom prst="rect">
            <a:avLst/>
          </a:prstGeom>
        </p:spPr>
      </p:pic>
      <p:sp>
        <p:nvSpPr>
          <p:cNvPr id="11" name="Text 7"/>
          <p:cNvSpPr txBox="1"/>
          <p:nvPr/>
        </p:nvSpPr>
        <p:spPr>
          <a:xfrm>
            <a:off x="1417320" y="3145536"/>
            <a:ext cx="3794760" cy="548640"/>
          </a:xfrm>
          <a:prstGeom prst="rect">
            <a:avLst/>
          </a:prstGeom>
          <a:noFill/>
          <a:ln/>
        </p:spPr>
        <p:txBody>
          <a:bodyPr wrap="square" lIns="0" tIns="0" rIns="0" bIns="0" rtlCol="0" anchor="ctr"/>
          <a:lstStyle/>
          <a:p>
            <a:pPr indent="0" marL="0">
              <a:buNone/>
            </a:pPr>
            <a:r>
              <a:rPr lang="en-US" sz="1600" b="1" dirty="0">
                <a:solidFill>
                  <a:srgbClr val="0E1A2B"/>
                </a:solidFill>
                <a:latin typeface="Calibri" pitchFamily="34" charset="0"/>
                <a:ea typeface="Calibri" pitchFamily="34" charset="-122"/>
                <a:cs typeface="Calibri" pitchFamily="34" charset="-120"/>
              </a:rPr>
              <a:t>Complaint email (.eml)</a:t>
            </a:r>
            <a:endParaRPr lang="en-US" sz="1600" dirty="0"/>
          </a:p>
        </p:txBody>
      </p:sp>
      <p:sp>
        <p:nvSpPr>
          <p:cNvPr id="12" name="Text 8"/>
          <p:cNvSpPr txBox="1"/>
          <p:nvPr/>
        </p:nvSpPr>
        <p:spPr>
          <a:xfrm>
            <a:off x="822960" y="3813048"/>
            <a:ext cx="4343400" cy="45720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Real headers and three customer tones; cites the same RMA.</a:t>
            </a:r>
            <a:endParaRPr lang="en-US" sz="1250" dirty="0"/>
          </a:p>
        </p:txBody>
      </p:sp>
      <p:sp>
        <p:nvSpPr>
          <p:cNvPr id="13" name="Shape 9"/>
          <p:cNvSpPr/>
          <p:nvPr/>
        </p:nvSpPr>
        <p:spPr>
          <a:xfrm>
            <a:off x="548640" y="4517136"/>
            <a:ext cx="4846320" cy="1463040"/>
          </a:xfrm>
          <a:prstGeom prst="roundRect">
            <a:avLst>
              <a:gd name="adj" fmla="val 5000"/>
            </a:avLst>
          </a:prstGeom>
          <a:solidFill>
            <a:srgbClr val="F4F6F9"/>
          </a:solidFill>
          <a:ln w="12700">
            <a:solidFill>
              <a:srgbClr val="F4F6F9"/>
            </a:solidFill>
            <a:prstDash val="solid"/>
          </a:ln>
        </p:spPr>
      </p:sp>
      <p:sp>
        <p:nvSpPr>
          <p:cNvPr id="14" name="Shape 10"/>
          <p:cNvSpPr/>
          <p:nvPr/>
        </p:nvSpPr>
        <p:spPr>
          <a:xfrm>
            <a:off x="777240" y="4745736"/>
            <a:ext cx="502920" cy="502920"/>
          </a:xfrm>
          <a:prstGeom prst="ellipse">
            <a:avLst/>
          </a:prstGeom>
          <a:solidFill>
            <a:srgbClr val="F2A541"/>
          </a:solidFill>
          <a:ln w="12700">
            <a:solidFill>
              <a:srgbClr val="F2A541"/>
            </a:solidFill>
            <a:prstDash val="solid"/>
          </a:ln>
        </p:spPr>
      </p:sp>
      <p:pic>
        <p:nvPicPr>
          <p:cNvPr id="15" name="Image 2" descr="preencoded.png">    </p:cNvPr>
          <p:cNvPicPr>
            <a:picLocks noChangeAspect="1"/>
          </p:cNvPicPr>
          <p:nvPr/>
        </p:nvPicPr>
        <p:blipFill>
          <a:blip r:embed="rId3"/>
          <a:stretch>
            <a:fillRect/>
          </a:stretch>
        </p:blipFill>
        <p:spPr>
          <a:xfrm>
            <a:off x="897941" y="4866437"/>
            <a:ext cx="261518" cy="261518"/>
          </a:xfrm>
          <a:prstGeom prst="rect">
            <a:avLst/>
          </a:prstGeom>
        </p:spPr>
      </p:pic>
      <p:sp>
        <p:nvSpPr>
          <p:cNvPr id="16" name="Text 11"/>
          <p:cNvSpPr txBox="1"/>
          <p:nvPr/>
        </p:nvSpPr>
        <p:spPr>
          <a:xfrm>
            <a:off x="1417320" y="4718304"/>
            <a:ext cx="3794760" cy="548640"/>
          </a:xfrm>
          <a:prstGeom prst="rect">
            <a:avLst/>
          </a:prstGeom>
          <a:noFill/>
          <a:ln/>
        </p:spPr>
        <p:txBody>
          <a:bodyPr wrap="square" lIns="0" tIns="0" rIns="0" bIns="0" rtlCol="0" anchor="ctr"/>
          <a:lstStyle/>
          <a:p>
            <a:pPr indent="0" marL="0">
              <a:buNone/>
            </a:pPr>
            <a:r>
              <a:rPr lang="en-US" sz="1600" b="1" dirty="0">
                <a:solidFill>
                  <a:srgbClr val="0E1A2B"/>
                </a:solidFill>
                <a:latin typeface="Calibri" pitchFamily="34" charset="0"/>
                <a:ea typeface="Calibri" pitchFamily="34" charset="-122"/>
                <a:cs typeface="Calibri" pitchFamily="34" charset="-120"/>
              </a:rPr>
              <a:t>Support chat (JSON)</a:t>
            </a:r>
            <a:endParaRPr lang="en-US" sz="1600" dirty="0"/>
          </a:p>
        </p:txBody>
      </p:sp>
      <p:sp>
        <p:nvSpPr>
          <p:cNvPr id="17" name="Text 12"/>
          <p:cNvSpPr txBox="1"/>
          <p:nvPr/>
        </p:nvSpPr>
        <p:spPr>
          <a:xfrm>
            <a:off x="822960" y="5385816"/>
            <a:ext cx="4343400" cy="45720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Agent, supervisor and inspector discuss the case, after the email.</a:t>
            </a:r>
            <a:endParaRPr lang="en-US" sz="1250" dirty="0"/>
          </a:p>
        </p:txBody>
      </p:sp>
      <p:sp>
        <p:nvSpPr>
          <p:cNvPr id="18" name="Shape 13"/>
          <p:cNvSpPr/>
          <p:nvPr/>
        </p:nvSpPr>
        <p:spPr>
          <a:xfrm>
            <a:off x="5760720" y="1371600"/>
            <a:ext cx="5852160" cy="4572000"/>
          </a:xfrm>
          <a:prstGeom prst="roundRect">
            <a:avLst>
              <a:gd name="adj" fmla="val 1200"/>
            </a:avLst>
          </a:prstGeom>
          <a:solidFill>
            <a:srgbClr val="EEF1F5"/>
          </a:solidFill>
          <a:ln w="15875">
            <a:solidFill>
              <a:srgbClr val="9AA5B4"/>
            </a:solidFill>
            <a:prstDash val="dash"/>
          </a:ln>
        </p:spPr>
      </p:sp>
      <p:pic>
        <p:nvPicPr>
          <p:cNvPr id="19" name="Image 3" descr="preencoded.png">    </p:cNvPr>
          <p:cNvPicPr>
            <a:picLocks noChangeAspect="1"/>
          </p:cNvPicPr>
          <p:nvPr/>
        </p:nvPicPr>
        <p:blipFill>
          <a:blip r:embed="rId4"/>
          <a:stretch>
            <a:fillRect/>
          </a:stretch>
        </p:blipFill>
        <p:spPr>
          <a:xfrm>
            <a:off x="8321040" y="2834640"/>
            <a:ext cx="731520" cy="731520"/>
          </a:xfrm>
          <a:prstGeom prst="rect">
            <a:avLst/>
          </a:prstGeom>
        </p:spPr>
      </p:pic>
      <p:sp>
        <p:nvSpPr>
          <p:cNvPr id="20" name="Text 14"/>
          <p:cNvSpPr txBox="1"/>
          <p:nvPr/>
        </p:nvSpPr>
        <p:spPr>
          <a:xfrm>
            <a:off x="6035040" y="3703320"/>
            <a:ext cx="5303520" cy="1097280"/>
          </a:xfrm>
          <a:prstGeom prst="rect">
            <a:avLst/>
          </a:prstGeom>
          <a:noFill/>
          <a:ln/>
        </p:spPr>
        <p:txBody>
          <a:bodyPr wrap="square" lIns="0" tIns="0" rIns="0" bIns="0" rtlCol="0" anchor="t"/>
          <a:lstStyle/>
          <a:p>
            <a:pPr algn="ctr" indent="0" marL="0">
              <a:buNone/>
            </a:pPr>
            <a:r>
              <a:rPr lang="en-US" sz="1200" b="1" dirty="0">
                <a:solidFill>
                  <a:srgbClr val="6B7686"/>
                </a:solidFill>
                <a:latin typeface="Calibri" pitchFamily="34" charset="0"/>
                <a:ea typeface="Calibri" pitchFamily="34" charset="-122"/>
                <a:cs typeface="Calibri" pitchFamily="34" charset="-120"/>
              </a:rPr>
              <a:t>SCREENSHOT PLACEHOLDER</a:t>
            </a:r>
            <a:endParaRPr lang="en-US" sz="1200" dirty="0"/>
          </a:p>
          <a:p>
            <a:pPr algn="ctr" indent="0" marL="0">
              <a:buNone/>
            </a:pPr>
            <a:r>
              <a:rPr lang="en-US" sz="1300" dirty="0">
                <a:solidFill>
                  <a:srgbClr val="4B5563"/>
                </a:solidFill>
                <a:latin typeface="Calibri" pitchFamily="34" charset="0"/>
                <a:ea typeface="Calibri" pitchFamily="34" charset="-122"/>
                <a:cs typeface="Calibri" pitchFamily="34" charset="-120"/>
              </a:rPr>
              <a:t>Datasets &amp; Manifests → Artifacts tab with an email or PDF preview</a:t>
            </a:r>
            <a:endParaRPr lang="en-US" sz="1200" dirty="0"/>
          </a:p>
        </p:txBody>
      </p:sp>
      <p:sp>
        <p:nvSpPr>
          <p:cNvPr id="21" name="Text 15"/>
          <p:cNvSpPr txBox="1"/>
          <p:nvPr/>
        </p:nvSpPr>
        <p:spPr>
          <a:xfrm>
            <a:off x="548640" y="6291072"/>
            <a:ext cx="11094415" cy="411480"/>
          </a:xfrm>
          <a:prstGeom prst="rect">
            <a:avLst/>
          </a:prstGeom>
          <a:noFill/>
          <a:ln/>
        </p:spPr>
        <p:txBody>
          <a:bodyPr wrap="square" lIns="0" tIns="0" rIns="0" bIns="0" rtlCol="0" anchor="b"/>
          <a:lstStyle/>
          <a:p>
            <a:pPr indent="0" marL="0">
              <a:buNone/>
            </a:pPr>
            <a:r>
              <a:rPr lang="en-US" sz="950" i="1" dirty="0">
                <a:solidFill>
                  <a:srgbClr val="5B6472"/>
                </a:solidFill>
                <a:latin typeface="Calibri" pitchFamily="34" charset="0"/>
                <a:ea typeface="Calibri" pitchFamily="34" charset="-122"/>
                <a:cs typeface="Calibri" pitchFamily="34" charset="-120"/>
              </a:rPr>
              <a:t>Images (Pillow), audio (eSpeak NG) and video (FFmpeg) follow the same deterministic approach in later phases.</a:t>
            </a:r>
            <a:endParaRPr lang="en-US" sz="9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3200" b="1" dirty="0">
                <a:solidFill>
                  <a:srgbClr val="0E1A2B"/>
                </a:solidFill>
                <a:latin typeface="Cambria" pitchFamily="34" charset="0"/>
                <a:ea typeface="Cambria" pitchFamily="34" charset="-122"/>
                <a:cs typeface="Cambria" pitchFamily="34" charset="-120"/>
              </a:rPr>
              <a:t>The hidden answer key</a:t>
            </a:r>
            <a:endParaRPr lang="en-US" sz="3200" dirty="0"/>
          </a:p>
        </p:txBody>
      </p:sp>
      <p:sp>
        <p:nvSpPr>
          <p:cNvPr id="3" name="Text 1"/>
          <p:cNvSpPr txBox="1"/>
          <p:nvPr/>
        </p:nvSpPr>
        <p:spPr>
          <a:xfrm>
            <a:off x="548640" y="1325880"/>
            <a:ext cx="2103120" cy="914400"/>
          </a:xfrm>
          <a:prstGeom prst="rect">
            <a:avLst/>
          </a:prstGeom>
          <a:noFill/>
          <a:ln/>
        </p:spPr>
        <p:txBody>
          <a:bodyPr wrap="square" lIns="0" tIns="0" rIns="0" bIns="0" rtlCol="0" anchor="ctr"/>
          <a:lstStyle/>
          <a:p>
            <a:pPr algn="l" indent="0" marL="0">
              <a:buNone/>
            </a:pPr>
            <a:r>
              <a:rPr lang="en-US" sz="4600" b="1" dirty="0">
                <a:solidFill>
                  <a:srgbClr val="0E1A2B"/>
                </a:solidFill>
                <a:latin typeface="Cambria" pitchFamily="34" charset="0"/>
                <a:ea typeface="Cambria" pitchFamily="34" charset="-122"/>
                <a:cs typeface="Cambria" pitchFamily="34" charset="-120"/>
              </a:rPr>
              <a:t>167</a:t>
            </a:r>
            <a:endParaRPr lang="en-US" sz="4600" dirty="0"/>
          </a:p>
        </p:txBody>
      </p:sp>
      <p:sp>
        <p:nvSpPr>
          <p:cNvPr id="4" name="Text 2"/>
          <p:cNvSpPr txBox="1"/>
          <p:nvPr/>
        </p:nvSpPr>
        <p:spPr>
          <a:xfrm>
            <a:off x="548640" y="2240280"/>
            <a:ext cx="2103120" cy="548640"/>
          </a:xfrm>
          <a:prstGeom prst="rect">
            <a:avLst/>
          </a:prstGeom>
          <a:noFill/>
          <a:ln/>
        </p:spPr>
        <p:txBody>
          <a:bodyPr wrap="square" lIns="0" tIns="0" rIns="0" bIns="0" rtlCol="0" anchor="ctr"/>
          <a:lstStyle/>
          <a:p>
            <a:pPr algn="l" indent="0" marL="0">
              <a:buNone/>
            </a:pPr>
            <a:r>
              <a:rPr lang="en-US" sz="1300" dirty="0">
                <a:solidFill>
                  <a:srgbClr val="5B6472"/>
                </a:solidFill>
                <a:latin typeface="Calibri" pitchFamily="34" charset="0"/>
                <a:ea typeface="Calibri" pitchFamily="34" charset="-122"/>
                <a:cs typeface="Calibri" pitchFamily="34" charset="-120"/>
              </a:rPr>
              <a:t>entities</a:t>
            </a:r>
            <a:endParaRPr lang="en-US" sz="1300" dirty="0"/>
          </a:p>
        </p:txBody>
      </p:sp>
      <p:sp>
        <p:nvSpPr>
          <p:cNvPr id="5" name="Text 3"/>
          <p:cNvSpPr txBox="1"/>
          <p:nvPr/>
        </p:nvSpPr>
        <p:spPr>
          <a:xfrm>
            <a:off x="2788920" y="1325880"/>
            <a:ext cx="2103120" cy="914400"/>
          </a:xfrm>
          <a:prstGeom prst="rect">
            <a:avLst/>
          </a:prstGeom>
          <a:noFill/>
          <a:ln/>
        </p:spPr>
        <p:txBody>
          <a:bodyPr wrap="square" lIns="0" tIns="0" rIns="0" bIns="0" rtlCol="0" anchor="ctr"/>
          <a:lstStyle/>
          <a:p>
            <a:pPr algn="l" indent="0" marL="0">
              <a:buNone/>
            </a:pPr>
            <a:r>
              <a:rPr lang="en-US" sz="4600" b="1" dirty="0">
                <a:solidFill>
                  <a:srgbClr val="0E1A2B"/>
                </a:solidFill>
                <a:latin typeface="Cambria" pitchFamily="34" charset="0"/>
                <a:ea typeface="Cambria" pitchFamily="34" charset="-122"/>
                <a:cs typeface="Cambria" pitchFamily="34" charset="-120"/>
              </a:rPr>
              <a:t>496</a:t>
            </a:r>
            <a:endParaRPr lang="en-US" sz="4600" dirty="0"/>
          </a:p>
        </p:txBody>
      </p:sp>
      <p:sp>
        <p:nvSpPr>
          <p:cNvPr id="6" name="Text 4"/>
          <p:cNvSpPr txBox="1"/>
          <p:nvPr/>
        </p:nvSpPr>
        <p:spPr>
          <a:xfrm>
            <a:off x="2788920" y="2240280"/>
            <a:ext cx="2103120" cy="548640"/>
          </a:xfrm>
          <a:prstGeom prst="rect">
            <a:avLst/>
          </a:prstGeom>
          <a:noFill/>
          <a:ln/>
        </p:spPr>
        <p:txBody>
          <a:bodyPr wrap="square" lIns="0" tIns="0" rIns="0" bIns="0" rtlCol="0" anchor="ctr"/>
          <a:lstStyle/>
          <a:p>
            <a:pPr algn="l" indent="0" marL="0">
              <a:buNone/>
            </a:pPr>
            <a:r>
              <a:rPr lang="en-US" sz="1300" dirty="0">
                <a:solidFill>
                  <a:srgbClr val="5B6472"/>
                </a:solidFill>
                <a:latin typeface="Calibri" pitchFamily="34" charset="0"/>
                <a:ea typeface="Calibri" pitchFamily="34" charset="-122"/>
                <a:cs typeface="Calibri" pitchFamily="34" charset="-120"/>
              </a:rPr>
              <a:t>mentions</a:t>
            </a:r>
            <a:endParaRPr lang="en-US" sz="1300" dirty="0"/>
          </a:p>
        </p:txBody>
      </p:sp>
      <p:sp>
        <p:nvSpPr>
          <p:cNvPr id="7" name="Text 5"/>
          <p:cNvSpPr txBox="1"/>
          <p:nvPr/>
        </p:nvSpPr>
        <p:spPr>
          <a:xfrm>
            <a:off x="5029200" y="1325880"/>
            <a:ext cx="2103120" cy="914400"/>
          </a:xfrm>
          <a:prstGeom prst="rect">
            <a:avLst/>
          </a:prstGeom>
          <a:noFill/>
          <a:ln/>
        </p:spPr>
        <p:txBody>
          <a:bodyPr wrap="square" lIns="0" tIns="0" rIns="0" bIns="0" rtlCol="0" anchor="ctr"/>
          <a:lstStyle/>
          <a:p>
            <a:pPr algn="l" indent="0" marL="0">
              <a:buNone/>
            </a:pPr>
            <a:r>
              <a:rPr lang="en-US" sz="4600" b="1" dirty="0">
                <a:solidFill>
                  <a:srgbClr val="0E1A2B"/>
                </a:solidFill>
                <a:latin typeface="Cambria" pitchFamily="34" charset="0"/>
                <a:ea typeface="Cambria" pitchFamily="34" charset="-122"/>
                <a:cs typeface="Cambria" pitchFamily="34" charset="-120"/>
              </a:rPr>
              <a:t>561</a:t>
            </a:r>
            <a:endParaRPr lang="en-US" sz="4600" dirty="0"/>
          </a:p>
        </p:txBody>
      </p:sp>
      <p:sp>
        <p:nvSpPr>
          <p:cNvPr id="8" name="Text 6"/>
          <p:cNvSpPr txBox="1"/>
          <p:nvPr/>
        </p:nvSpPr>
        <p:spPr>
          <a:xfrm>
            <a:off x="5029200" y="2240280"/>
            <a:ext cx="2103120" cy="548640"/>
          </a:xfrm>
          <a:prstGeom prst="rect">
            <a:avLst/>
          </a:prstGeom>
          <a:noFill/>
          <a:ln/>
        </p:spPr>
        <p:txBody>
          <a:bodyPr wrap="square" lIns="0" tIns="0" rIns="0" bIns="0" rtlCol="0" anchor="ctr"/>
          <a:lstStyle/>
          <a:p>
            <a:pPr algn="l" indent="0" marL="0">
              <a:buNone/>
            </a:pPr>
            <a:r>
              <a:rPr lang="en-US" sz="1300" dirty="0">
                <a:solidFill>
                  <a:srgbClr val="5B6472"/>
                </a:solidFill>
                <a:latin typeface="Calibri" pitchFamily="34" charset="0"/>
                <a:ea typeface="Calibri" pitchFamily="34" charset="-122"/>
                <a:cs typeface="Calibri" pitchFamily="34" charset="-120"/>
              </a:rPr>
              <a:t>relationships</a:t>
            </a:r>
            <a:endParaRPr lang="en-US" sz="1300" dirty="0"/>
          </a:p>
        </p:txBody>
      </p:sp>
      <p:sp>
        <p:nvSpPr>
          <p:cNvPr id="9" name="Text 7"/>
          <p:cNvSpPr txBox="1"/>
          <p:nvPr/>
        </p:nvSpPr>
        <p:spPr>
          <a:xfrm>
            <a:off x="7269480" y="1325880"/>
            <a:ext cx="2103120" cy="914400"/>
          </a:xfrm>
          <a:prstGeom prst="rect">
            <a:avLst/>
          </a:prstGeom>
          <a:noFill/>
          <a:ln/>
        </p:spPr>
        <p:txBody>
          <a:bodyPr wrap="square" lIns="0" tIns="0" rIns="0" bIns="0" rtlCol="0" anchor="ctr"/>
          <a:lstStyle/>
          <a:p>
            <a:pPr algn="l" indent="0" marL="0">
              <a:buNone/>
            </a:pPr>
            <a:r>
              <a:rPr lang="en-US" sz="4600" b="1" dirty="0">
                <a:solidFill>
                  <a:srgbClr val="0E1A2B"/>
                </a:solidFill>
                <a:latin typeface="Cambria" pitchFamily="34" charset="0"/>
                <a:ea typeface="Cambria" pitchFamily="34" charset="-122"/>
                <a:cs typeface="Cambria" pitchFamily="34" charset="-120"/>
              </a:rPr>
              <a:t>80</a:t>
            </a:r>
            <a:endParaRPr lang="en-US" sz="4600" dirty="0"/>
          </a:p>
        </p:txBody>
      </p:sp>
      <p:sp>
        <p:nvSpPr>
          <p:cNvPr id="10" name="Text 8"/>
          <p:cNvSpPr txBox="1"/>
          <p:nvPr/>
        </p:nvSpPr>
        <p:spPr>
          <a:xfrm>
            <a:off x="7269480" y="2240280"/>
            <a:ext cx="2103120" cy="548640"/>
          </a:xfrm>
          <a:prstGeom prst="rect">
            <a:avLst/>
          </a:prstGeom>
          <a:noFill/>
          <a:ln/>
        </p:spPr>
        <p:txBody>
          <a:bodyPr wrap="square" lIns="0" tIns="0" rIns="0" bIns="0" rtlCol="0" anchor="ctr"/>
          <a:lstStyle/>
          <a:p>
            <a:pPr algn="l" indent="0" marL="0">
              <a:buNone/>
            </a:pPr>
            <a:r>
              <a:rPr lang="en-US" sz="1300" dirty="0">
                <a:solidFill>
                  <a:srgbClr val="5B6472"/>
                </a:solidFill>
                <a:latin typeface="Calibri" pitchFamily="34" charset="0"/>
                <a:ea typeface="Calibri" pitchFamily="34" charset="-122"/>
                <a:cs typeface="Calibri" pitchFamily="34" charset="-120"/>
              </a:rPr>
              <a:t>claims</a:t>
            </a:r>
            <a:endParaRPr lang="en-US" sz="1300" dirty="0"/>
          </a:p>
        </p:txBody>
      </p:sp>
      <p:sp>
        <p:nvSpPr>
          <p:cNvPr id="11" name="Text 9"/>
          <p:cNvSpPr txBox="1"/>
          <p:nvPr/>
        </p:nvSpPr>
        <p:spPr>
          <a:xfrm>
            <a:off x="9509760" y="1325880"/>
            <a:ext cx="2103120" cy="914400"/>
          </a:xfrm>
          <a:prstGeom prst="rect">
            <a:avLst/>
          </a:prstGeom>
          <a:noFill/>
          <a:ln/>
        </p:spPr>
        <p:txBody>
          <a:bodyPr wrap="square" lIns="0" tIns="0" rIns="0" bIns="0" rtlCol="0" anchor="ctr"/>
          <a:lstStyle/>
          <a:p>
            <a:pPr algn="l" indent="0" marL="0">
              <a:buNone/>
            </a:pPr>
            <a:r>
              <a:rPr lang="en-US" sz="4600" b="1" dirty="0">
                <a:solidFill>
                  <a:srgbClr val="0E1A2B"/>
                </a:solidFill>
                <a:latin typeface="Cambria" pitchFamily="34" charset="0"/>
                <a:ea typeface="Cambria" pitchFamily="34" charset="-122"/>
                <a:cs typeface="Cambria" pitchFamily="34" charset="-120"/>
              </a:rPr>
              <a:t>157</a:t>
            </a:r>
            <a:endParaRPr lang="en-US" sz="4600" dirty="0"/>
          </a:p>
        </p:txBody>
      </p:sp>
      <p:sp>
        <p:nvSpPr>
          <p:cNvPr id="12" name="Text 10"/>
          <p:cNvSpPr txBox="1"/>
          <p:nvPr/>
        </p:nvSpPr>
        <p:spPr>
          <a:xfrm>
            <a:off x="9509760" y="2240280"/>
            <a:ext cx="2103120" cy="548640"/>
          </a:xfrm>
          <a:prstGeom prst="rect">
            <a:avLst/>
          </a:prstGeom>
          <a:noFill/>
          <a:ln/>
        </p:spPr>
        <p:txBody>
          <a:bodyPr wrap="square" lIns="0" tIns="0" rIns="0" bIns="0" rtlCol="0" anchor="ctr"/>
          <a:lstStyle/>
          <a:p>
            <a:pPr algn="l" indent="0" marL="0">
              <a:buNone/>
            </a:pPr>
            <a:r>
              <a:rPr lang="en-US" sz="1300" dirty="0">
                <a:solidFill>
                  <a:srgbClr val="5B6472"/>
                </a:solidFill>
                <a:latin typeface="Calibri" pitchFamily="34" charset="0"/>
                <a:ea typeface="Calibri" pitchFamily="34" charset="-122"/>
                <a:cs typeface="Calibri" pitchFamily="34" charset="-120"/>
              </a:rPr>
              <a:t>evidence passages</a:t>
            </a:r>
            <a:endParaRPr lang="en-US" sz="1300" dirty="0"/>
          </a:p>
        </p:txBody>
      </p:sp>
      <p:sp>
        <p:nvSpPr>
          <p:cNvPr id="13" name="Text 11"/>
          <p:cNvSpPr txBox="1"/>
          <p:nvPr/>
        </p:nvSpPr>
        <p:spPr>
          <a:xfrm>
            <a:off x="548640" y="2788920"/>
            <a:ext cx="11064240" cy="457200"/>
          </a:xfrm>
          <a:prstGeom prst="rect">
            <a:avLst/>
          </a:prstGeom>
          <a:noFill/>
          <a:ln/>
        </p:spPr>
        <p:txBody>
          <a:bodyPr wrap="square" lIns="0" tIns="0" rIns="0" bIns="0" rtlCol="0" anchor="t"/>
          <a:lstStyle/>
          <a:p>
            <a:pPr algn="l" indent="0" marL="0">
              <a:spcAft>
                <a:spcPts val="400"/>
              </a:spcAft>
              <a:buNone/>
            </a:pPr>
            <a:r>
              <a:rPr lang="en-US" sz="1300" i="1" dirty="0">
                <a:solidFill>
                  <a:srgbClr val="5B6472"/>
                </a:solidFill>
                <a:latin typeface="Calibri" pitchFamily="34" charset="0"/>
                <a:ea typeface="Calibri" pitchFamily="34" charset="-122"/>
                <a:cs typeface="Calibri" pitchFamily="34" charset="-120"/>
              </a:rPr>
              <a:t>From one 60-artifact Workbench run (20 PDFs, 20 emails, 20 chats). Every location was checked against the file bytes before it was written.</a:t>
            </a:r>
            <a:endParaRPr lang="en-US" sz="1300" dirty="0"/>
          </a:p>
        </p:txBody>
      </p:sp>
      <p:sp>
        <p:nvSpPr>
          <p:cNvPr id="14" name="Shape 12"/>
          <p:cNvSpPr/>
          <p:nvPr/>
        </p:nvSpPr>
        <p:spPr>
          <a:xfrm>
            <a:off x="548640" y="3429000"/>
            <a:ext cx="11064240" cy="2514600"/>
          </a:xfrm>
          <a:prstGeom prst="roundRect">
            <a:avLst>
              <a:gd name="adj" fmla="val 2909"/>
            </a:avLst>
          </a:prstGeom>
          <a:solidFill>
            <a:srgbClr val="0E1A2B"/>
          </a:solidFill>
          <a:ln w="12700">
            <a:solidFill>
              <a:srgbClr val="0E1A2B"/>
            </a:solidFill>
            <a:prstDash val="solid"/>
          </a:ln>
        </p:spPr>
      </p:sp>
      <p:sp>
        <p:nvSpPr>
          <p:cNvPr id="15" name="Text 13"/>
          <p:cNvSpPr txBox="1"/>
          <p:nvPr/>
        </p:nvSpPr>
        <p:spPr>
          <a:xfrm>
            <a:off x="868680" y="3566160"/>
            <a:ext cx="10424160" cy="2286000"/>
          </a:xfrm>
          <a:prstGeom prst="rect">
            <a:avLst/>
          </a:prstGeom>
          <a:noFill/>
          <a:ln/>
        </p:spPr>
        <p:txBody>
          <a:bodyPr wrap="square" lIns="0" tIns="0" rIns="0" bIns="0" rtlCol="0" anchor="t"/>
          <a:lstStyle/>
          <a:p>
            <a:pPr indent="0" marL="0">
              <a:buNone/>
            </a:pPr>
            <a:r>
              <a:rPr lang="en-US" sz="1400" b="1" dirty="0">
                <a:solidFill>
                  <a:srgbClr val="F2A541"/>
                </a:solidFill>
                <a:latin typeface="Calibri" pitchFamily="34" charset="0"/>
                <a:ea typeface="Calibri" pitchFamily="34" charset="-122"/>
                <a:cs typeface="Calibri" pitchFamily="34" charset="-120"/>
              </a:rPr>
              <a:t>Example claim</a:t>
            </a:r>
            <a:endParaRPr lang="en-US" sz="1400" dirty="0"/>
          </a:p>
          <a:p>
            <a:pPr indent="0" marL="0">
              <a:buNone/>
            </a:pPr>
            <a:r>
              <a:rPr lang="en-US" sz="1700" b="1" dirty="0">
                <a:solidFill>
                  <a:srgbClr val="FFFFFF"/>
                </a:solidFill>
                <a:latin typeface="Calibri" pitchFamily="34" charset="0"/>
                <a:ea typeface="Calibri" pitchFamily="34" charset="-122"/>
                <a:cs typeface="Calibri" pitchFamily="34" charset="-120"/>
              </a:rPr>
              <a:t>REFUND_APPROVED: "A refund of $778.05 was approved for return RMA-2140269."</a:t>
            </a:r>
            <a:endParaRPr lang="en-US" sz="1400" dirty="0"/>
          </a:p>
          <a:p>
            <a:pPr indent="0" marL="0">
              <a:buNone/>
            </a:pPr>
            <a:r>
              <a:rPr lang="en-US" sz="800" dirty="0">
                <a:solidFill>
                  <a:srgbClr val="FFFFFF"/>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F2A541"/>
                </a:solidFill>
                <a:latin typeface="Calibri" pitchFamily="34" charset="0"/>
                <a:ea typeface="Calibri" pitchFamily="34" charset="-122"/>
                <a:cs typeface="Calibri" pitchFamily="34" charset="-120"/>
              </a:rPr>
              <a:t>Evidence (support chat, one message, exact characters)</a:t>
            </a:r>
            <a:endParaRPr lang="en-US" sz="1400" dirty="0"/>
          </a:p>
          <a:p>
            <a:pPr indent="0" marL="0">
              <a:buNone/>
            </a:pPr>
            <a:r>
              <a:rPr lang="en-US" sz="1600" i="1" dirty="0">
                <a:solidFill>
                  <a:srgbClr val="FFFFFF"/>
                </a:solidFill>
                <a:latin typeface="Calibri" pitchFamily="34" charset="0"/>
                <a:ea typeface="Calibri" pitchFamily="34" charset="-122"/>
                <a:cs typeface="Calibri" pitchFamily="34" charset="-120"/>
              </a:rPr>
              <a:t>"Damage is on the carrier, not the customer. Approve it."</a:t>
            </a:r>
            <a:endParaRPr lang="en-US" sz="1400" dirty="0"/>
          </a:p>
          <a:p>
            <a:pPr indent="0" marL="0">
              <a:buNone/>
            </a:pPr>
            <a:r>
              <a:rPr lang="en-US" sz="1300" dirty="0">
                <a:solidFill>
                  <a:srgbClr val="C9D3E0"/>
                </a:solidFill>
                <a:latin typeface="Calibri" pitchFamily="34" charset="0"/>
                <a:ea typeface="Calibri" pitchFamily="34" charset="-122"/>
                <a:cs typeface="Calibri" pitchFamily="34" charset="-120"/>
              </a:rPr>
              <a:t>Also stated in the PDF's disposition line. Relationships: return → refers to sale · email → mentions item · chat → discusses return</a:t>
            </a:r>
            <a:endParaRPr lang="en-US" sz="14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3200" b="1" dirty="0">
                <a:solidFill>
                  <a:srgbClr val="0E1A2B"/>
                </a:solidFill>
                <a:latin typeface="Cambria" pitchFamily="34" charset="0"/>
                <a:ea typeface="Cambria" pitchFamily="34" charset="-122"/>
                <a:cs typeface="Cambria" pitchFamily="34" charset="-120"/>
              </a:rPr>
              <a:t>Review and approval</a:t>
            </a:r>
            <a:endParaRPr lang="en-US" sz="3200" dirty="0"/>
          </a:p>
        </p:txBody>
      </p:sp>
      <p:sp>
        <p:nvSpPr>
          <p:cNvPr id="3" name="Text 1"/>
          <p:cNvSpPr txBox="1"/>
          <p:nvPr/>
        </p:nvSpPr>
        <p:spPr>
          <a:xfrm>
            <a:off x="548640" y="1417320"/>
            <a:ext cx="5303520" cy="4572000"/>
          </a:xfrm>
          <a:prstGeom prst="rect">
            <a:avLst/>
          </a:prstGeom>
          <a:noFill/>
          <a:ln/>
        </p:spPr>
        <p:txBody>
          <a:bodyPr wrap="square" lIns="0" tIns="0" rIns="0" bIns="0" rtlCol="0" anchor="t"/>
          <a:lstStyle/>
          <a:p>
            <a:pPr marL="342900" indent="-342900">
              <a:spcAft>
                <a:spcPts val="800"/>
              </a:spcAft>
              <a:buSzPct val="100000"/>
              <a:buChar char="•"/>
            </a:pPr>
            <a:r>
              <a:rPr lang="en-US" sz="1550" dirty="0">
                <a:solidFill>
                  <a:srgbClr val="1F2937"/>
                </a:solidFill>
                <a:latin typeface="Calibri" pitchFamily="34" charset="0"/>
                <a:ea typeface="Calibri" pitchFamily="34" charset="-122"/>
                <a:cs typeface="Calibri" pitchFamily="34" charset="-120"/>
              </a:rPr>
              <a:t>Each file sits beside its ground truth: mentions highlighted, claim evidence underlined</a:t>
            </a:r>
            <a:endParaRPr lang="en-US" sz="1550" dirty="0"/>
          </a:p>
          <a:p>
            <a:pPr marL="342900" indent="-342900">
              <a:spcAft>
                <a:spcPts val="800"/>
              </a:spcAft>
              <a:buSzPct val="100000"/>
              <a:buChar char="•"/>
            </a:pPr>
            <a:r>
              <a:rPr lang="en-US" sz="1550" dirty="0">
                <a:solidFill>
                  <a:srgbClr val="1F2937"/>
                </a:solidFill>
                <a:latin typeface="Calibri" pitchFamily="34" charset="0"/>
                <a:ea typeface="Calibri" pitchFamily="34" charset="-122"/>
                <a:cs typeface="Calibri" pitchFamily="34" charset="-120"/>
              </a:rPr>
              <a:t>Accept, flag or comment. Flags are advisory; failed validation blocks approval</a:t>
            </a:r>
            <a:endParaRPr lang="en-US" sz="1550" dirty="0"/>
          </a:p>
          <a:p>
            <a:pPr marL="342900" indent="-342900">
              <a:spcAft>
                <a:spcPts val="800"/>
              </a:spcAft>
              <a:buSzPct val="100000"/>
              <a:buChar char="•"/>
            </a:pPr>
            <a:r>
              <a:rPr lang="en-US" sz="1550" dirty="0">
                <a:solidFill>
                  <a:srgbClr val="1F2937"/>
                </a:solidFill>
                <a:latin typeface="Calibri" pitchFamily="34" charset="0"/>
                <a:ea typeface="Calibri" pitchFamily="34" charset="-122"/>
                <a:cs typeface="Calibri" pitchFamily="34" charset="-120"/>
              </a:rPr>
              <a:t>Approvals record the signed-in Workbench user and are never anonymous</a:t>
            </a:r>
            <a:endParaRPr lang="en-US" sz="1550" dirty="0"/>
          </a:p>
          <a:p>
            <a:pPr marL="342900" indent="-342900">
              <a:spcAft>
                <a:spcPts val="800"/>
              </a:spcAft>
              <a:buSzPct val="100000"/>
              <a:buChar char="•"/>
            </a:pPr>
            <a:r>
              <a:rPr lang="en-US" sz="1550" dirty="0">
                <a:solidFill>
                  <a:srgbClr val="1F2937"/>
                </a:solidFill>
                <a:latin typeface="Calibri" pitchFamily="34" charset="0"/>
                <a:ea typeface="Calibri" pitchFamily="34" charset="-122"/>
                <a:cs typeface="Calibri" pitchFamily="34" charset="-120"/>
              </a:rPr>
              <a:t>Datasets are immutable: fixes produce a new dataset (templates now; per-artifact overlays later)</a:t>
            </a:r>
            <a:endParaRPr lang="en-US" sz="1550" dirty="0"/>
          </a:p>
          <a:p>
            <a:pPr marL="342900" indent="-342900">
              <a:spcAft>
                <a:spcPts val="800"/>
              </a:spcAft>
              <a:buSzPct val="100000"/>
              <a:buChar char="•"/>
            </a:pPr>
            <a:r>
              <a:rPr lang="en-US" sz="1550" dirty="0">
                <a:solidFill>
                  <a:srgbClr val="1F2937"/>
                </a:solidFill>
                <a:latin typeface="Calibri" pitchFamily="34" charset="0"/>
                <a:ea typeface="Calibri" pitchFamily="34" charset="-122"/>
                <a:cs typeface="Calibri" pitchFamily="34" charset="-120"/>
              </a:rPr>
              <a:t>Approving a dataset supersedes the previous one in its lineage</a:t>
            </a:r>
            <a:endParaRPr lang="en-US" sz="1550" dirty="0"/>
          </a:p>
        </p:txBody>
      </p:sp>
      <p:sp>
        <p:nvSpPr>
          <p:cNvPr id="4" name="Shape 2"/>
          <p:cNvSpPr/>
          <p:nvPr/>
        </p:nvSpPr>
        <p:spPr>
          <a:xfrm>
            <a:off x="6217920" y="1417320"/>
            <a:ext cx="5394960" cy="4526280"/>
          </a:xfrm>
          <a:prstGeom prst="roundRect">
            <a:avLst>
              <a:gd name="adj" fmla="val 1212"/>
            </a:avLst>
          </a:prstGeom>
          <a:solidFill>
            <a:srgbClr val="EEF1F5"/>
          </a:solidFill>
          <a:ln w="15875">
            <a:solidFill>
              <a:srgbClr val="9AA5B4"/>
            </a:solidFill>
            <a:prstDash val="dash"/>
          </a:ln>
        </p:spPr>
      </p:sp>
      <p:pic>
        <p:nvPicPr>
          <p:cNvPr id="5" name="Image 0" descr="preencoded.png">    </p:cNvPr>
          <p:cNvPicPr>
            <a:picLocks noChangeAspect="1"/>
          </p:cNvPicPr>
          <p:nvPr/>
        </p:nvPicPr>
        <p:blipFill>
          <a:blip r:embed="rId1"/>
          <a:stretch>
            <a:fillRect/>
          </a:stretch>
        </p:blipFill>
        <p:spPr>
          <a:xfrm>
            <a:off x="8549640" y="2857500"/>
            <a:ext cx="731520" cy="731520"/>
          </a:xfrm>
          <a:prstGeom prst="rect">
            <a:avLst/>
          </a:prstGeom>
        </p:spPr>
      </p:pic>
      <p:sp>
        <p:nvSpPr>
          <p:cNvPr id="6" name="Text 3"/>
          <p:cNvSpPr txBox="1"/>
          <p:nvPr/>
        </p:nvSpPr>
        <p:spPr>
          <a:xfrm>
            <a:off x="6492240" y="3726180"/>
            <a:ext cx="4846320" cy="1097280"/>
          </a:xfrm>
          <a:prstGeom prst="rect">
            <a:avLst/>
          </a:prstGeom>
          <a:noFill/>
          <a:ln/>
        </p:spPr>
        <p:txBody>
          <a:bodyPr wrap="square" lIns="0" tIns="0" rIns="0" bIns="0" rtlCol="0" anchor="t"/>
          <a:lstStyle/>
          <a:p>
            <a:pPr algn="ctr" indent="0" marL="0">
              <a:buNone/>
            </a:pPr>
            <a:r>
              <a:rPr lang="en-US" sz="1200" b="1" dirty="0">
                <a:solidFill>
                  <a:srgbClr val="6B7686"/>
                </a:solidFill>
                <a:latin typeface="Calibri" pitchFamily="34" charset="0"/>
                <a:ea typeface="Calibri" pitchFamily="34" charset="-122"/>
                <a:cs typeface="Calibri" pitchFamily="34" charset="-120"/>
              </a:rPr>
              <a:t>SCREENSHOT PLACEHOLDER</a:t>
            </a:r>
            <a:endParaRPr lang="en-US" sz="1200" dirty="0"/>
          </a:p>
          <a:p>
            <a:pPr algn="ctr" indent="0" marL="0">
              <a:buNone/>
            </a:pPr>
            <a:r>
              <a:rPr lang="en-US" sz="1300" dirty="0">
                <a:solidFill>
                  <a:srgbClr val="4B5563"/>
                </a:solidFill>
                <a:latin typeface="Calibri" pitchFamily="34" charset="0"/>
                <a:ea typeface="Calibri" pitchFamily="34" charset="-122"/>
                <a:cs typeface="Calibri" pitchFamily="34" charset="-120"/>
              </a:rPr>
              <a:t>Review tab: artifact beside its ground truth (highlighted mentions, claims and evidence)</a:t>
            </a:r>
            <a:endParaRPr lang="en-US" sz="1200" dirty="0"/>
          </a:p>
        </p:txBody>
      </p:sp>
      <p:sp>
        <p:nvSpPr>
          <p:cNvPr id="7" name="Text 4"/>
          <p:cNvSpPr txBox="1"/>
          <p:nvPr/>
        </p:nvSpPr>
        <p:spPr>
          <a:xfrm>
            <a:off x="548640" y="6291072"/>
            <a:ext cx="11094415" cy="411480"/>
          </a:xfrm>
          <a:prstGeom prst="rect">
            <a:avLst/>
          </a:prstGeom>
          <a:noFill/>
          <a:ln/>
        </p:spPr>
        <p:txBody>
          <a:bodyPr wrap="square" lIns="0" tIns="0" rIns="0" bIns="0" rtlCol="0" anchor="b"/>
          <a:lstStyle/>
          <a:p>
            <a:pPr indent="0" marL="0">
              <a:buNone/>
            </a:pPr>
            <a:r>
              <a:rPr lang="en-US" sz="950" i="1" dirty="0">
                <a:solidFill>
                  <a:srgbClr val="5B6472"/>
                </a:solidFill>
                <a:latin typeface="Calibri" pitchFamily="34" charset="0"/>
                <a:ea typeface="Calibri" pitchFamily="34" charset="-122"/>
                <a:cs typeface="Calibri" pitchFamily="34" charset="-120"/>
              </a:rPr>
              <a:t>Decision record: ADR 0001, review, edit and approve in Helios-DS-Generation.</a:t>
            </a:r>
            <a:endParaRPr lang="en-US" sz="9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2600" b="1" dirty="0">
                <a:solidFill>
                  <a:srgbClr val="0E1A2B"/>
                </a:solidFill>
                <a:latin typeface="Cambria" pitchFamily="34" charset="0"/>
                <a:ea typeface="Cambria" pitchFamily="34" charset="-122"/>
                <a:cs typeface="Cambria" pitchFamily="34" charset="-120"/>
              </a:rPr>
              <a:t>The crawler: Helios rediscovers what the generator knows</a:t>
            </a:r>
            <a:endParaRPr lang="en-US" sz="2600" dirty="0"/>
          </a:p>
        </p:txBody>
      </p:sp>
      <p:sp>
        <p:nvSpPr>
          <p:cNvPr id="3" name="Text 1"/>
          <p:cNvSpPr txBox="1"/>
          <p:nvPr/>
        </p:nvSpPr>
        <p:spPr>
          <a:xfrm>
            <a:off x="548640" y="1097280"/>
            <a:ext cx="11094415" cy="457200"/>
          </a:xfrm>
          <a:prstGeom prst="rect">
            <a:avLst/>
          </a:prstGeom>
          <a:noFill/>
          <a:ln/>
        </p:spPr>
        <p:txBody>
          <a:bodyPr wrap="square" lIns="0" tIns="0" rIns="0" bIns="0" rtlCol="0" anchor="ctr"/>
          <a:lstStyle/>
          <a:p>
            <a:pPr indent="0" marL="0">
              <a:buNone/>
            </a:pPr>
            <a:r>
              <a:rPr lang="en-US" sz="1600" i="1" dirty="0">
                <a:solidFill>
                  <a:srgbClr val="5B6472"/>
                </a:solidFill>
                <a:latin typeface="Calibri" pitchFamily="34" charset="0"/>
                <a:ea typeface="Calibri" pitchFamily="34" charset="-122"/>
                <a:cs typeface="Calibri" pitchFamily="34" charset="-120"/>
              </a:rPr>
              <a:t>Specified and contract-defined; not built yet. It's the next major Helios component after the generator.</a:t>
            </a:r>
            <a:endParaRPr lang="en-US" sz="1600" dirty="0"/>
          </a:p>
        </p:txBody>
      </p:sp>
      <p:sp>
        <p:nvSpPr>
          <p:cNvPr id="4" name="Shape 2"/>
          <p:cNvSpPr/>
          <p:nvPr/>
        </p:nvSpPr>
        <p:spPr>
          <a:xfrm>
            <a:off x="548640" y="1828800"/>
            <a:ext cx="1956816" cy="1600200"/>
          </a:xfrm>
          <a:prstGeom prst="roundRect">
            <a:avLst>
              <a:gd name="adj" fmla="val 5714"/>
            </a:avLst>
          </a:prstGeom>
          <a:solidFill>
            <a:srgbClr val="1C2F4A"/>
          </a:solidFill>
          <a:ln w="12700">
            <a:solidFill>
              <a:srgbClr val="1C2F4A"/>
            </a:solidFill>
            <a:prstDash val="solid"/>
          </a:ln>
        </p:spPr>
      </p:sp>
      <p:sp>
        <p:nvSpPr>
          <p:cNvPr id="5" name="Text 3"/>
          <p:cNvSpPr txBox="1"/>
          <p:nvPr/>
        </p:nvSpPr>
        <p:spPr>
          <a:xfrm>
            <a:off x="621792" y="1828800"/>
            <a:ext cx="1810512" cy="1600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Source connector</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enumerates READY artifacts + ACLs</a:t>
            </a:r>
            <a:endParaRPr lang="en-US" sz="1500" dirty="0"/>
          </a:p>
        </p:txBody>
      </p:sp>
      <p:sp>
        <p:nvSpPr>
          <p:cNvPr id="6" name="Shape 4"/>
          <p:cNvSpPr/>
          <p:nvPr/>
        </p:nvSpPr>
        <p:spPr>
          <a:xfrm>
            <a:off x="2560320" y="2510028"/>
            <a:ext cx="210312" cy="237744"/>
          </a:xfrm>
          <a:prstGeom prst="rightArrow">
            <a:avLst/>
          </a:prstGeom>
          <a:solidFill>
            <a:srgbClr val="F2A541"/>
          </a:solidFill>
          <a:ln w="12700">
            <a:solidFill>
              <a:srgbClr val="F2A541"/>
            </a:solidFill>
            <a:prstDash val="solid"/>
          </a:ln>
        </p:spPr>
      </p:sp>
      <p:sp>
        <p:nvSpPr>
          <p:cNvPr id="7" name="Shape 5"/>
          <p:cNvSpPr/>
          <p:nvPr/>
        </p:nvSpPr>
        <p:spPr>
          <a:xfrm>
            <a:off x="2825496" y="1828800"/>
            <a:ext cx="1956816" cy="1600200"/>
          </a:xfrm>
          <a:prstGeom prst="roundRect">
            <a:avLst>
              <a:gd name="adj" fmla="val 5714"/>
            </a:avLst>
          </a:prstGeom>
          <a:solidFill>
            <a:srgbClr val="1C2F4A"/>
          </a:solidFill>
          <a:ln w="12700">
            <a:solidFill>
              <a:srgbClr val="1C2F4A"/>
            </a:solidFill>
            <a:prstDash val="solid"/>
          </a:ln>
        </p:spPr>
      </p:sp>
      <p:sp>
        <p:nvSpPr>
          <p:cNvPr id="8" name="Text 6"/>
          <p:cNvSpPr txBox="1"/>
          <p:nvPr/>
        </p:nvSpPr>
        <p:spPr>
          <a:xfrm>
            <a:off x="2898648" y="1828800"/>
            <a:ext cx="1810512" cy="1600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Analyzers</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text · OCR · transcript · vision</a:t>
            </a:r>
            <a:endParaRPr lang="en-US" sz="1500" dirty="0"/>
          </a:p>
        </p:txBody>
      </p:sp>
      <p:sp>
        <p:nvSpPr>
          <p:cNvPr id="9" name="Shape 7"/>
          <p:cNvSpPr/>
          <p:nvPr/>
        </p:nvSpPr>
        <p:spPr>
          <a:xfrm>
            <a:off x="4837176" y="2510028"/>
            <a:ext cx="210312" cy="237744"/>
          </a:xfrm>
          <a:prstGeom prst="rightArrow">
            <a:avLst/>
          </a:prstGeom>
          <a:solidFill>
            <a:srgbClr val="F2A541"/>
          </a:solidFill>
          <a:ln w="12700">
            <a:solidFill>
              <a:srgbClr val="F2A541"/>
            </a:solidFill>
            <a:prstDash val="solid"/>
          </a:ln>
        </p:spPr>
      </p:sp>
      <p:sp>
        <p:nvSpPr>
          <p:cNvPr id="10" name="Shape 8"/>
          <p:cNvSpPr/>
          <p:nvPr/>
        </p:nvSpPr>
        <p:spPr>
          <a:xfrm>
            <a:off x="5102352" y="1828800"/>
            <a:ext cx="1956816" cy="1600200"/>
          </a:xfrm>
          <a:prstGeom prst="roundRect">
            <a:avLst>
              <a:gd name="adj" fmla="val 5714"/>
            </a:avLst>
          </a:prstGeom>
          <a:solidFill>
            <a:srgbClr val="F2A541"/>
          </a:solidFill>
          <a:ln w="12700">
            <a:solidFill>
              <a:srgbClr val="F2A541"/>
            </a:solidFill>
            <a:prstDash val="solid"/>
          </a:ln>
        </p:spPr>
      </p:sp>
      <p:sp>
        <p:nvSpPr>
          <p:cNvPr id="11" name="Text 9"/>
          <p:cNvSpPr txBox="1"/>
          <p:nvPr/>
        </p:nvSpPr>
        <p:spPr>
          <a:xfrm>
            <a:off x="5175504" y="1828800"/>
            <a:ext cx="1810512" cy="1600200"/>
          </a:xfrm>
          <a:prstGeom prst="rect">
            <a:avLst/>
          </a:prstGeom>
          <a:noFill/>
          <a:ln/>
        </p:spPr>
        <p:txBody>
          <a:bodyPr wrap="square" lIns="0" tIns="0" rIns="0" bIns="0" rtlCol="0" anchor="ctr"/>
          <a:lstStyle/>
          <a:p>
            <a:pPr algn="ctr" indent="0" marL="0">
              <a:buNone/>
            </a:pPr>
            <a:r>
              <a:rPr lang="en-US" sz="1500" b="1" dirty="0">
                <a:solidFill>
                  <a:srgbClr val="0E1A2B"/>
                </a:solidFill>
                <a:latin typeface="Calibri" pitchFamily="34" charset="0"/>
                <a:ea typeface="Calibri" pitchFamily="34" charset="-122"/>
                <a:cs typeface="Calibri" pitchFamily="34" charset="-120"/>
              </a:rPr>
              <a:t>helios_index</a:t>
            </a:r>
            <a:endParaRPr lang="en-US" sz="1500" dirty="0"/>
          </a:p>
          <a:p>
            <a:pPr algn="ctr" indent="0" marL="0">
              <a:buNone/>
            </a:pPr>
            <a:r>
              <a:rPr lang="en-US" sz="1100" dirty="0">
                <a:solidFill>
                  <a:srgbClr val="0E1A2B"/>
                </a:solidFill>
                <a:latin typeface="Calibri" pitchFamily="34" charset="0"/>
                <a:ea typeface="Calibri" pitchFamily="34" charset="-122"/>
                <a:cs typeface="Calibri" pitchFamily="34" charset="-120"/>
              </a:rPr>
              <a:t>assets, segments, mentions, entities, claims, evidence</a:t>
            </a:r>
            <a:endParaRPr lang="en-US" sz="1500" dirty="0"/>
          </a:p>
        </p:txBody>
      </p:sp>
      <p:sp>
        <p:nvSpPr>
          <p:cNvPr id="12" name="Shape 10"/>
          <p:cNvSpPr/>
          <p:nvPr/>
        </p:nvSpPr>
        <p:spPr>
          <a:xfrm>
            <a:off x="7114032" y="2510028"/>
            <a:ext cx="210312" cy="237744"/>
          </a:xfrm>
          <a:prstGeom prst="rightArrow">
            <a:avLst/>
          </a:prstGeom>
          <a:solidFill>
            <a:srgbClr val="F2A541"/>
          </a:solidFill>
          <a:ln w="12700">
            <a:solidFill>
              <a:srgbClr val="F2A541"/>
            </a:solidFill>
            <a:prstDash val="solid"/>
          </a:ln>
        </p:spPr>
      </p:sp>
      <p:sp>
        <p:nvSpPr>
          <p:cNvPr id="13" name="Shape 11"/>
          <p:cNvSpPr/>
          <p:nvPr/>
        </p:nvSpPr>
        <p:spPr>
          <a:xfrm>
            <a:off x="7379208" y="1828800"/>
            <a:ext cx="1956816" cy="1600200"/>
          </a:xfrm>
          <a:prstGeom prst="roundRect">
            <a:avLst>
              <a:gd name="adj" fmla="val 5714"/>
            </a:avLst>
          </a:prstGeom>
          <a:solidFill>
            <a:srgbClr val="1C2F4A"/>
          </a:solidFill>
          <a:ln w="12700">
            <a:solidFill>
              <a:srgbClr val="1C2F4A"/>
            </a:solidFill>
            <a:prstDash val="solid"/>
          </a:ln>
        </p:spPr>
      </p:sp>
      <p:sp>
        <p:nvSpPr>
          <p:cNvPr id="14" name="Text 12"/>
          <p:cNvSpPr txBox="1"/>
          <p:nvPr/>
        </p:nvSpPr>
        <p:spPr>
          <a:xfrm>
            <a:off x="7452360" y="1828800"/>
            <a:ext cx="1810512" cy="1600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Projections</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LanceDB vectors · Memgraph graph</a:t>
            </a:r>
            <a:endParaRPr lang="en-US" sz="1500" dirty="0"/>
          </a:p>
        </p:txBody>
      </p:sp>
      <p:sp>
        <p:nvSpPr>
          <p:cNvPr id="15" name="Shape 13"/>
          <p:cNvSpPr/>
          <p:nvPr/>
        </p:nvSpPr>
        <p:spPr>
          <a:xfrm>
            <a:off x="9390888" y="2510028"/>
            <a:ext cx="210312" cy="237744"/>
          </a:xfrm>
          <a:prstGeom prst="rightArrow">
            <a:avLst/>
          </a:prstGeom>
          <a:solidFill>
            <a:srgbClr val="F2A541"/>
          </a:solidFill>
          <a:ln w="12700">
            <a:solidFill>
              <a:srgbClr val="F2A541"/>
            </a:solidFill>
            <a:prstDash val="solid"/>
          </a:ln>
        </p:spPr>
      </p:sp>
      <p:sp>
        <p:nvSpPr>
          <p:cNvPr id="16" name="Shape 14"/>
          <p:cNvSpPr/>
          <p:nvPr/>
        </p:nvSpPr>
        <p:spPr>
          <a:xfrm>
            <a:off x="9656064" y="1828800"/>
            <a:ext cx="1956816" cy="1600200"/>
          </a:xfrm>
          <a:prstGeom prst="roundRect">
            <a:avLst>
              <a:gd name="adj" fmla="val 5714"/>
            </a:avLst>
          </a:prstGeom>
          <a:solidFill>
            <a:srgbClr val="1C2F4A"/>
          </a:solidFill>
          <a:ln w="12700">
            <a:solidFill>
              <a:srgbClr val="1C2F4A"/>
            </a:solidFill>
            <a:prstDash val="solid"/>
          </a:ln>
        </p:spPr>
      </p:sp>
      <p:sp>
        <p:nvSpPr>
          <p:cNvPr id="17" name="Text 15"/>
          <p:cNvSpPr txBox="1"/>
          <p:nvPr/>
        </p:nvSpPr>
        <p:spPr>
          <a:xfrm>
            <a:off x="9729216" y="1828800"/>
            <a:ext cx="1810512" cy="1600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Helios planner</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SQL + evidence + graph</a:t>
            </a:r>
            <a:endParaRPr lang="en-US" sz="1500" dirty="0"/>
          </a:p>
        </p:txBody>
      </p:sp>
      <p:sp>
        <p:nvSpPr>
          <p:cNvPr id="18" name="Shape 16"/>
          <p:cNvSpPr/>
          <p:nvPr/>
        </p:nvSpPr>
        <p:spPr>
          <a:xfrm>
            <a:off x="548640" y="3749040"/>
            <a:ext cx="3474720" cy="2194560"/>
          </a:xfrm>
          <a:prstGeom prst="roundRect">
            <a:avLst>
              <a:gd name="adj" fmla="val 3333"/>
            </a:avLst>
          </a:prstGeom>
          <a:solidFill>
            <a:srgbClr val="F4F6F9"/>
          </a:solidFill>
          <a:ln w="12700">
            <a:solidFill>
              <a:srgbClr val="F4F6F9"/>
            </a:solidFill>
            <a:prstDash val="solid"/>
          </a:ln>
        </p:spPr>
      </p:sp>
      <p:sp>
        <p:nvSpPr>
          <p:cNvPr id="19" name="Shape 17"/>
          <p:cNvSpPr/>
          <p:nvPr/>
        </p:nvSpPr>
        <p:spPr>
          <a:xfrm>
            <a:off x="777240" y="3977640"/>
            <a:ext cx="502920" cy="502920"/>
          </a:xfrm>
          <a:prstGeom prst="ellipse">
            <a:avLst/>
          </a:prstGeom>
          <a:solidFill>
            <a:srgbClr val="F2A541"/>
          </a:solidFill>
          <a:ln w="12700">
            <a:solidFill>
              <a:srgbClr val="F2A541"/>
            </a:solidFill>
            <a:prstDash val="solid"/>
          </a:ln>
        </p:spPr>
      </p:sp>
      <p:pic>
        <p:nvPicPr>
          <p:cNvPr id="20" name="Image 0" descr="preencoded.png">    </p:cNvPr>
          <p:cNvPicPr>
            <a:picLocks noChangeAspect="1"/>
          </p:cNvPicPr>
          <p:nvPr/>
        </p:nvPicPr>
        <p:blipFill>
          <a:blip r:embed="rId1"/>
          <a:stretch>
            <a:fillRect/>
          </a:stretch>
        </p:blipFill>
        <p:spPr>
          <a:xfrm>
            <a:off x="897941" y="4098341"/>
            <a:ext cx="261518" cy="261518"/>
          </a:xfrm>
          <a:prstGeom prst="rect">
            <a:avLst/>
          </a:prstGeom>
        </p:spPr>
      </p:pic>
      <p:sp>
        <p:nvSpPr>
          <p:cNvPr id="21" name="Text 18"/>
          <p:cNvSpPr txBox="1"/>
          <p:nvPr/>
        </p:nvSpPr>
        <p:spPr>
          <a:xfrm>
            <a:off x="1417320" y="3950208"/>
            <a:ext cx="242316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Lakehouse is canonical</a:t>
            </a:r>
            <a:endParaRPr lang="en-US" sz="1700" dirty="0"/>
          </a:p>
        </p:txBody>
      </p:sp>
      <p:sp>
        <p:nvSpPr>
          <p:cNvPr id="22" name="Text 19"/>
          <p:cNvSpPr txBox="1"/>
          <p:nvPr/>
        </p:nvSpPr>
        <p:spPr>
          <a:xfrm>
            <a:off x="822960" y="4617720"/>
            <a:ext cx="2971800" cy="118872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Every discovery is a SQL-queryable Iceberg record with crawl and analyzer provenance.</a:t>
            </a:r>
            <a:endParaRPr lang="en-US" sz="1350" dirty="0"/>
          </a:p>
        </p:txBody>
      </p:sp>
      <p:sp>
        <p:nvSpPr>
          <p:cNvPr id="23" name="Shape 20"/>
          <p:cNvSpPr/>
          <p:nvPr/>
        </p:nvSpPr>
        <p:spPr>
          <a:xfrm>
            <a:off x="4297680" y="3749040"/>
            <a:ext cx="3474720" cy="2194560"/>
          </a:xfrm>
          <a:prstGeom prst="roundRect">
            <a:avLst>
              <a:gd name="adj" fmla="val 3333"/>
            </a:avLst>
          </a:prstGeom>
          <a:solidFill>
            <a:srgbClr val="F4F6F9"/>
          </a:solidFill>
          <a:ln w="12700">
            <a:solidFill>
              <a:srgbClr val="F4F6F9"/>
            </a:solidFill>
            <a:prstDash val="solid"/>
          </a:ln>
        </p:spPr>
      </p:sp>
      <p:sp>
        <p:nvSpPr>
          <p:cNvPr id="24" name="Shape 21"/>
          <p:cNvSpPr/>
          <p:nvPr/>
        </p:nvSpPr>
        <p:spPr>
          <a:xfrm>
            <a:off x="4526280" y="3977640"/>
            <a:ext cx="502920" cy="502920"/>
          </a:xfrm>
          <a:prstGeom prst="ellipse">
            <a:avLst/>
          </a:prstGeom>
          <a:solidFill>
            <a:srgbClr val="F2A541"/>
          </a:solidFill>
          <a:ln w="12700">
            <a:solidFill>
              <a:srgbClr val="F2A541"/>
            </a:solidFill>
            <a:prstDash val="solid"/>
          </a:ln>
        </p:spPr>
      </p:sp>
      <p:pic>
        <p:nvPicPr>
          <p:cNvPr id="25" name="Image 1" descr="preencoded.png">    </p:cNvPr>
          <p:cNvPicPr>
            <a:picLocks noChangeAspect="1"/>
          </p:cNvPicPr>
          <p:nvPr/>
        </p:nvPicPr>
        <p:blipFill>
          <a:blip r:embed="rId2"/>
          <a:stretch>
            <a:fillRect/>
          </a:stretch>
        </p:blipFill>
        <p:spPr>
          <a:xfrm>
            <a:off x="4646981" y="4098341"/>
            <a:ext cx="261518" cy="261518"/>
          </a:xfrm>
          <a:prstGeom prst="rect">
            <a:avLst/>
          </a:prstGeom>
        </p:spPr>
      </p:pic>
      <p:sp>
        <p:nvSpPr>
          <p:cNvPr id="26" name="Text 22"/>
          <p:cNvSpPr txBox="1"/>
          <p:nvPr/>
        </p:nvSpPr>
        <p:spPr>
          <a:xfrm>
            <a:off x="5166360" y="3950208"/>
            <a:ext cx="242316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Projections are disposable</a:t>
            </a:r>
            <a:endParaRPr lang="en-US" sz="1700" dirty="0"/>
          </a:p>
        </p:txBody>
      </p:sp>
      <p:sp>
        <p:nvSpPr>
          <p:cNvPr id="27" name="Text 23"/>
          <p:cNvSpPr txBox="1"/>
          <p:nvPr/>
        </p:nvSpPr>
        <p:spPr>
          <a:xfrm>
            <a:off x="4572000" y="4617720"/>
            <a:ext cx="2971800" cy="118872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Delete LanceDB and Memgraph and rebuild them from helios_index alone.</a:t>
            </a:r>
            <a:endParaRPr lang="en-US" sz="1350" dirty="0"/>
          </a:p>
        </p:txBody>
      </p:sp>
      <p:sp>
        <p:nvSpPr>
          <p:cNvPr id="28" name="Shape 24"/>
          <p:cNvSpPr/>
          <p:nvPr/>
        </p:nvSpPr>
        <p:spPr>
          <a:xfrm>
            <a:off x="8046720" y="3749040"/>
            <a:ext cx="3474720" cy="2194560"/>
          </a:xfrm>
          <a:prstGeom prst="roundRect">
            <a:avLst>
              <a:gd name="adj" fmla="val 3333"/>
            </a:avLst>
          </a:prstGeom>
          <a:solidFill>
            <a:srgbClr val="F4F6F9"/>
          </a:solidFill>
          <a:ln w="12700">
            <a:solidFill>
              <a:srgbClr val="F4F6F9"/>
            </a:solidFill>
            <a:prstDash val="solid"/>
          </a:ln>
        </p:spPr>
      </p:sp>
      <p:sp>
        <p:nvSpPr>
          <p:cNvPr id="29" name="Shape 25"/>
          <p:cNvSpPr/>
          <p:nvPr/>
        </p:nvSpPr>
        <p:spPr>
          <a:xfrm>
            <a:off x="8275320" y="3977640"/>
            <a:ext cx="502920" cy="502920"/>
          </a:xfrm>
          <a:prstGeom prst="ellipse">
            <a:avLst/>
          </a:prstGeom>
          <a:solidFill>
            <a:srgbClr val="F2A541"/>
          </a:solidFill>
          <a:ln w="12700">
            <a:solidFill>
              <a:srgbClr val="F2A541"/>
            </a:solidFill>
            <a:prstDash val="solid"/>
          </a:ln>
        </p:spPr>
      </p:sp>
      <p:pic>
        <p:nvPicPr>
          <p:cNvPr id="30" name="Image 2" descr="preencoded.png">    </p:cNvPr>
          <p:cNvPicPr>
            <a:picLocks noChangeAspect="1"/>
          </p:cNvPicPr>
          <p:nvPr/>
        </p:nvPicPr>
        <p:blipFill>
          <a:blip r:embed="rId3"/>
          <a:stretch>
            <a:fillRect/>
          </a:stretch>
        </p:blipFill>
        <p:spPr>
          <a:xfrm>
            <a:off x="8396021" y="4098341"/>
            <a:ext cx="261518" cy="261518"/>
          </a:xfrm>
          <a:prstGeom prst="rect">
            <a:avLst/>
          </a:prstGeom>
        </p:spPr>
      </p:pic>
      <p:sp>
        <p:nvSpPr>
          <p:cNvPr id="31" name="Text 26"/>
          <p:cNvSpPr txBox="1"/>
          <p:nvPr/>
        </p:nvSpPr>
        <p:spPr>
          <a:xfrm>
            <a:off x="8915400" y="3950208"/>
            <a:ext cx="2423160" cy="548640"/>
          </a:xfrm>
          <a:prstGeom prst="rect">
            <a:avLst/>
          </a:prstGeom>
          <a:noFill/>
          <a:ln/>
        </p:spPr>
        <p:txBody>
          <a:bodyPr wrap="square" lIns="0" tIns="0" rIns="0" bIns="0" rtlCol="0" anchor="ctr"/>
          <a:lstStyle/>
          <a:p>
            <a:pPr indent="0" marL="0">
              <a:buNone/>
            </a:pPr>
            <a:r>
              <a:rPr lang="en-US" sz="1700" b="1" dirty="0">
                <a:solidFill>
                  <a:srgbClr val="0E1A2B"/>
                </a:solidFill>
                <a:latin typeface="Calibri" pitchFamily="34" charset="0"/>
                <a:ea typeface="Calibri" pitchFamily="34" charset="-122"/>
                <a:cs typeface="Calibri" pitchFamily="34" charset="-120"/>
              </a:rPr>
              <a:t>Permissions travel</a:t>
            </a:r>
            <a:endParaRPr lang="en-US" sz="1700" dirty="0"/>
          </a:p>
        </p:txBody>
      </p:sp>
      <p:sp>
        <p:nvSpPr>
          <p:cNvPr id="32" name="Text 27"/>
          <p:cNvSpPr txBox="1"/>
          <p:nvPr/>
        </p:nvSpPr>
        <p:spPr>
          <a:xfrm>
            <a:off x="8321040" y="4617720"/>
            <a:ext cx="2971800" cy="118872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The connector returns source ACLs; the crawler indexes them; retrieval filters before evidence is shown.</a:t>
            </a:r>
            <a:endParaRPr lang="en-US" sz="13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2600" b="1" dirty="0">
                <a:solidFill>
                  <a:srgbClr val="0E1A2B"/>
                </a:solidFill>
                <a:latin typeface="Cambria" pitchFamily="34" charset="0"/>
                <a:ea typeface="Cambria" pitchFamily="34" charset="-122"/>
                <a:cs typeface="Cambria" pitchFamily="34" charset="-120"/>
              </a:rPr>
              <a:t>Closing the loop: evaluation against the hidden truth</a:t>
            </a:r>
            <a:endParaRPr lang="en-US" sz="2600" dirty="0"/>
          </a:p>
        </p:txBody>
      </p:sp>
      <p:sp>
        <p:nvSpPr>
          <p:cNvPr id="3" name="Shape 1"/>
          <p:cNvSpPr/>
          <p:nvPr/>
        </p:nvSpPr>
        <p:spPr>
          <a:xfrm>
            <a:off x="548640" y="1417320"/>
            <a:ext cx="1423851" cy="868680"/>
          </a:xfrm>
          <a:prstGeom prst="roundRect">
            <a:avLst>
              <a:gd name="adj" fmla="val 10526"/>
            </a:avLst>
          </a:prstGeom>
          <a:solidFill>
            <a:srgbClr val="1C2F4A"/>
          </a:solidFill>
          <a:ln w="12700">
            <a:solidFill>
              <a:srgbClr val="1C2F4A"/>
            </a:solidFill>
            <a:prstDash val="solid"/>
          </a:ln>
        </p:spPr>
      </p:sp>
      <p:sp>
        <p:nvSpPr>
          <p:cNvPr id="4" name="Text 2"/>
          <p:cNvSpPr txBox="1"/>
          <p:nvPr/>
        </p:nvSpPr>
        <p:spPr>
          <a:xfrm>
            <a:off x="621792" y="1417320"/>
            <a:ext cx="1277547" cy="8686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Generate</a:t>
            </a:r>
            <a:endParaRPr lang="en-US" sz="1400" dirty="0"/>
          </a:p>
        </p:txBody>
      </p:sp>
      <p:sp>
        <p:nvSpPr>
          <p:cNvPr id="5" name="Shape 3"/>
          <p:cNvSpPr/>
          <p:nvPr/>
        </p:nvSpPr>
        <p:spPr>
          <a:xfrm>
            <a:off x="2027355" y="1732788"/>
            <a:ext cx="73152" cy="237744"/>
          </a:xfrm>
          <a:prstGeom prst="rightArrow">
            <a:avLst/>
          </a:prstGeom>
          <a:solidFill>
            <a:srgbClr val="F2A541"/>
          </a:solidFill>
          <a:ln w="12700">
            <a:solidFill>
              <a:srgbClr val="F2A541"/>
            </a:solidFill>
            <a:prstDash val="solid"/>
          </a:ln>
        </p:spPr>
      </p:sp>
      <p:sp>
        <p:nvSpPr>
          <p:cNvPr id="6" name="Shape 4"/>
          <p:cNvSpPr/>
          <p:nvPr/>
        </p:nvSpPr>
        <p:spPr>
          <a:xfrm>
            <a:off x="2155371" y="1417320"/>
            <a:ext cx="1423851" cy="868680"/>
          </a:xfrm>
          <a:prstGeom prst="roundRect">
            <a:avLst>
              <a:gd name="adj" fmla="val 10526"/>
            </a:avLst>
          </a:prstGeom>
          <a:solidFill>
            <a:srgbClr val="1C2F4A"/>
          </a:solidFill>
          <a:ln w="12700">
            <a:solidFill>
              <a:srgbClr val="1C2F4A"/>
            </a:solidFill>
            <a:prstDash val="solid"/>
          </a:ln>
        </p:spPr>
      </p:sp>
      <p:sp>
        <p:nvSpPr>
          <p:cNvPr id="7" name="Text 5"/>
          <p:cNvSpPr txBox="1"/>
          <p:nvPr/>
        </p:nvSpPr>
        <p:spPr>
          <a:xfrm>
            <a:off x="2228523" y="1417320"/>
            <a:ext cx="1277547" cy="8686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Validate</a:t>
            </a:r>
            <a:endParaRPr lang="en-US" sz="1400" dirty="0"/>
          </a:p>
        </p:txBody>
      </p:sp>
      <p:sp>
        <p:nvSpPr>
          <p:cNvPr id="8" name="Shape 6"/>
          <p:cNvSpPr/>
          <p:nvPr/>
        </p:nvSpPr>
        <p:spPr>
          <a:xfrm>
            <a:off x="3634087" y="1732788"/>
            <a:ext cx="73152" cy="237744"/>
          </a:xfrm>
          <a:prstGeom prst="rightArrow">
            <a:avLst/>
          </a:prstGeom>
          <a:solidFill>
            <a:srgbClr val="F2A541"/>
          </a:solidFill>
          <a:ln w="12700">
            <a:solidFill>
              <a:srgbClr val="F2A541"/>
            </a:solidFill>
            <a:prstDash val="solid"/>
          </a:ln>
        </p:spPr>
      </p:sp>
      <p:sp>
        <p:nvSpPr>
          <p:cNvPr id="9" name="Shape 7"/>
          <p:cNvSpPr/>
          <p:nvPr/>
        </p:nvSpPr>
        <p:spPr>
          <a:xfrm>
            <a:off x="3762103" y="1417320"/>
            <a:ext cx="1423851" cy="868680"/>
          </a:xfrm>
          <a:prstGeom prst="roundRect">
            <a:avLst>
              <a:gd name="adj" fmla="val 10526"/>
            </a:avLst>
          </a:prstGeom>
          <a:solidFill>
            <a:srgbClr val="1C2F4A"/>
          </a:solidFill>
          <a:ln w="12700">
            <a:solidFill>
              <a:srgbClr val="1C2F4A"/>
            </a:solidFill>
            <a:prstDash val="solid"/>
          </a:ln>
        </p:spPr>
      </p:sp>
      <p:sp>
        <p:nvSpPr>
          <p:cNvPr id="10" name="Text 8"/>
          <p:cNvSpPr txBox="1"/>
          <p:nvPr/>
        </p:nvSpPr>
        <p:spPr>
          <a:xfrm>
            <a:off x="3835255" y="1417320"/>
            <a:ext cx="1277547" cy="8686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Crawl</a:t>
            </a:r>
            <a:endParaRPr lang="en-US" sz="1400" dirty="0"/>
          </a:p>
        </p:txBody>
      </p:sp>
      <p:sp>
        <p:nvSpPr>
          <p:cNvPr id="11" name="Shape 9"/>
          <p:cNvSpPr/>
          <p:nvPr/>
        </p:nvSpPr>
        <p:spPr>
          <a:xfrm>
            <a:off x="5240818" y="1732788"/>
            <a:ext cx="73152" cy="237744"/>
          </a:xfrm>
          <a:prstGeom prst="rightArrow">
            <a:avLst/>
          </a:prstGeom>
          <a:solidFill>
            <a:srgbClr val="F2A541"/>
          </a:solidFill>
          <a:ln w="12700">
            <a:solidFill>
              <a:srgbClr val="F2A541"/>
            </a:solidFill>
            <a:prstDash val="solid"/>
          </a:ln>
        </p:spPr>
      </p:sp>
      <p:sp>
        <p:nvSpPr>
          <p:cNvPr id="12" name="Shape 10"/>
          <p:cNvSpPr/>
          <p:nvPr/>
        </p:nvSpPr>
        <p:spPr>
          <a:xfrm>
            <a:off x="5368834" y="1417320"/>
            <a:ext cx="1423851" cy="868680"/>
          </a:xfrm>
          <a:prstGeom prst="roundRect">
            <a:avLst>
              <a:gd name="adj" fmla="val 10526"/>
            </a:avLst>
          </a:prstGeom>
          <a:solidFill>
            <a:srgbClr val="1C2F4A"/>
          </a:solidFill>
          <a:ln w="12700">
            <a:solidFill>
              <a:srgbClr val="1C2F4A"/>
            </a:solidFill>
            <a:prstDash val="solid"/>
          </a:ln>
        </p:spPr>
      </p:sp>
      <p:sp>
        <p:nvSpPr>
          <p:cNvPr id="13" name="Text 11"/>
          <p:cNvSpPr txBox="1"/>
          <p:nvPr/>
        </p:nvSpPr>
        <p:spPr>
          <a:xfrm>
            <a:off x="5441986" y="1417320"/>
            <a:ext cx="1277547" cy="8686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Index</a:t>
            </a:r>
            <a:endParaRPr lang="en-US" sz="1400" dirty="0"/>
          </a:p>
        </p:txBody>
      </p:sp>
      <p:sp>
        <p:nvSpPr>
          <p:cNvPr id="14" name="Shape 12"/>
          <p:cNvSpPr/>
          <p:nvPr/>
        </p:nvSpPr>
        <p:spPr>
          <a:xfrm>
            <a:off x="6847550" y="1732788"/>
            <a:ext cx="73152" cy="237744"/>
          </a:xfrm>
          <a:prstGeom prst="rightArrow">
            <a:avLst/>
          </a:prstGeom>
          <a:solidFill>
            <a:srgbClr val="F2A541"/>
          </a:solidFill>
          <a:ln w="12700">
            <a:solidFill>
              <a:srgbClr val="F2A541"/>
            </a:solidFill>
            <a:prstDash val="solid"/>
          </a:ln>
        </p:spPr>
      </p:sp>
      <p:sp>
        <p:nvSpPr>
          <p:cNvPr id="15" name="Shape 13"/>
          <p:cNvSpPr/>
          <p:nvPr/>
        </p:nvSpPr>
        <p:spPr>
          <a:xfrm>
            <a:off x="6975566" y="1417320"/>
            <a:ext cx="1423851" cy="868680"/>
          </a:xfrm>
          <a:prstGeom prst="roundRect">
            <a:avLst>
              <a:gd name="adj" fmla="val 10526"/>
            </a:avLst>
          </a:prstGeom>
          <a:solidFill>
            <a:srgbClr val="1C2F4A"/>
          </a:solidFill>
          <a:ln w="12700">
            <a:solidFill>
              <a:srgbClr val="1C2F4A"/>
            </a:solidFill>
            <a:prstDash val="solid"/>
          </a:ln>
        </p:spPr>
      </p:sp>
      <p:sp>
        <p:nvSpPr>
          <p:cNvPr id="16" name="Text 14"/>
          <p:cNvSpPr txBox="1"/>
          <p:nvPr/>
        </p:nvSpPr>
        <p:spPr>
          <a:xfrm>
            <a:off x="7048718" y="1417320"/>
            <a:ext cx="1277547" cy="8686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Project</a:t>
            </a:r>
            <a:endParaRPr lang="en-US" sz="1400" dirty="0"/>
          </a:p>
        </p:txBody>
      </p:sp>
      <p:sp>
        <p:nvSpPr>
          <p:cNvPr id="17" name="Shape 15"/>
          <p:cNvSpPr/>
          <p:nvPr/>
        </p:nvSpPr>
        <p:spPr>
          <a:xfrm>
            <a:off x="8454281" y="1732788"/>
            <a:ext cx="73152" cy="237744"/>
          </a:xfrm>
          <a:prstGeom prst="rightArrow">
            <a:avLst/>
          </a:prstGeom>
          <a:solidFill>
            <a:srgbClr val="F2A541"/>
          </a:solidFill>
          <a:ln w="12700">
            <a:solidFill>
              <a:srgbClr val="F2A541"/>
            </a:solidFill>
            <a:prstDash val="solid"/>
          </a:ln>
        </p:spPr>
      </p:sp>
      <p:sp>
        <p:nvSpPr>
          <p:cNvPr id="18" name="Shape 16"/>
          <p:cNvSpPr/>
          <p:nvPr/>
        </p:nvSpPr>
        <p:spPr>
          <a:xfrm>
            <a:off x="8582297" y="1417320"/>
            <a:ext cx="1423851" cy="868680"/>
          </a:xfrm>
          <a:prstGeom prst="roundRect">
            <a:avLst>
              <a:gd name="adj" fmla="val 10526"/>
            </a:avLst>
          </a:prstGeom>
          <a:solidFill>
            <a:srgbClr val="1C2F4A"/>
          </a:solidFill>
          <a:ln w="12700">
            <a:solidFill>
              <a:srgbClr val="1C2F4A"/>
            </a:solidFill>
            <a:prstDash val="solid"/>
          </a:ln>
        </p:spPr>
      </p:sp>
      <p:sp>
        <p:nvSpPr>
          <p:cNvPr id="19" name="Text 17"/>
          <p:cNvSpPr txBox="1"/>
          <p:nvPr/>
        </p:nvSpPr>
        <p:spPr>
          <a:xfrm>
            <a:off x="8655449" y="1417320"/>
            <a:ext cx="1277547" cy="8686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Golden questions</a:t>
            </a:r>
            <a:endParaRPr lang="en-US" sz="1400" dirty="0"/>
          </a:p>
        </p:txBody>
      </p:sp>
      <p:sp>
        <p:nvSpPr>
          <p:cNvPr id="20" name="Shape 18"/>
          <p:cNvSpPr/>
          <p:nvPr/>
        </p:nvSpPr>
        <p:spPr>
          <a:xfrm>
            <a:off x="10061013" y="1732788"/>
            <a:ext cx="73152" cy="237744"/>
          </a:xfrm>
          <a:prstGeom prst="rightArrow">
            <a:avLst/>
          </a:prstGeom>
          <a:solidFill>
            <a:srgbClr val="F2A541"/>
          </a:solidFill>
          <a:ln w="12700">
            <a:solidFill>
              <a:srgbClr val="F2A541"/>
            </a:solidFill>
            <a:prstDash val="solid"/>
          </a:ln>
        </p:spPr>
      </p:sp>
      <p:sp>
        <p:nvSpPr>
          <p:cNvPr id="21" name="Shape 19"/>
          <p:cNvSpPr/>
          <p:nvPr/>
        </p:nvSpPr>
        <p:spPr>
          <a:xfrm>
            <a:off x="10189029" y="1417320"/>
            <a:ext cx="1423851" cy="868680"/>
          </a:xfrm>
          <a:prstGeom prst="roundRect">
            <a:avLst>
              <a:gd name="adj" fmla="val 10526"/>
            </a:avLst>
          </a:prstGeom>
          <a:solidFill>
            <a:srgbClr val="F2A541"/>
          </a:solidFill>
          <a:ln w="12700">
            <a:solidFill>
              <a:srgbClr val="F2A541"/>
            </a:solidFill>
            <a:prstDash val="solid"/>
          </a:ln>
        </p:spPr>
      </p:sp>
      <p:sp>
        <p:nvSpPr>
          <p:cNvPr id="22" name="Text 20"/>
          <p:cNvSpPr txBox="1"/>
          <p:nvPr/>
        </p:nvSpPr>
        <p:spPr>
          <a:xfrm>
            <a:off x="10262181" y="1417320"/>
            <a:ext cx="1277547" cy="868680"/>
          </a:xfrm>
          <a:prstGeom prst="rect">
            <a:avLst/>
          </a:prstGeom>
          <a:noFill/>
          <a:ln/>
        </p:spPr>
        <p:txBody>
          <a:bodyPr wrap="square" lIns="0" tIns="0" rIns="0" bIns="0" rtlCol="0" anchor="ctr"/>
          <a:lstStyle/>
          <a:p>
            <a:pPr algn="ctr" indent="0" marL="0">
              <a:buNone/>
            </a:pPr>
            <a:r>
              <a:rPr lang="en-US" sz="1400" b="1" dirty="0">
                <a:solidFill>
                  <a:srgbClr val="0E1A2B"/>
                </a:solidFill>
                <a:latin typeface="Calibri" pitchFamily="34" charset="0"/>
                <a:ea typeface="Calibri" pitchFamily="34" charset="-122"/>
                <a:cs typeface="Calibri" pitchFamily="34" charset="-120"/>
              </a:rPr>
              <a:t>Score</a:t>
            </a:r>
            <a:endParaRPr lang="en-US" sz="1400" dirty="0"/>
          </a:p>
        </p:txBody>
      </p:sp>
      <p:sp>
        <p:nvSpPr>
          <p:cNvPr id="23" name="Shape 21"/>
          <p:cNvSpPr/>
          <p:nvPr/>
        </p:nvSpPr>
        <p:spPr>
          <a:xfrm>
            <a:off x="548640" y="2606040"/>
            <a:ext cx="5394960" cy="685800"/>
          </a:xfrm>
          <a:prstGeom prst="roundRect">
            <a:avLst>
              <a:gd name="adj" fmla="val 10667"/>
            </a:avLst>
          </a:prstGeom>
          <a:solidFill>
            <a:srgbClr val="F4F6F9"/>
          </a:solidFill>
          <a:ln w="12700">
            <a:solidFill>
              <a:srgbClr val="F4F6F9"/>
            </a:solidFill>
            <a:prstDash val="solid"/>
          </a:ln>
        </p:spPr>
      </p:sp>
      <p:sp>
        <p:nvSpPr>
          <p:cNvPr id="24" name="Text 22"/>
          <p:cNvSpPr txBox="1"/>
          <p:nvPr/>
        </p:nvSpPr>
        <p:spPr>
          <a:xfrm>
            <a:off x="777240" y="2606040"/>
            <a:ext cx="3566160" cy="685800"/>
          </a:xfrm>
          <a:prstGeom prst="rect">
            <a:avLst/>
          </a:prstGeom>
          <a:noFill/>
          <a:ln/>
        </p:spPr>
        <p:txBody>
          <a:bodyPr wrap="square" lIns="0" tIns="0" rIns="0" bIns="0" rtlCol="0" anchor="ctr"/>
          <a:lstStyle/>
          <a:p>
            <a:pPr algn="l" indent="0" marL="0">
              <a:spcAft>
                <a:spcPts val="400"/>
              </a:spcAft>
              <a:buNone/>
            </a:pPr>
            <a:r>
              <a:rPr lang="en-US" sz="1450" dirty="0">
                <a:solidFill>
                  <a:srgbClr val="1F2937"/>
                </a:solidFill>
                <a:latin typeface="Calibri" pitchFamily="34" charset="0"/>
                <a:ea typeface="Calibri" pitchFamily="34" charset="-122"/>
                <a:cs typeface="Calibri" pitchFamily="34" charset="-120"/>
              </a:rPr>
              <a:t>Entity extraction (direct / alias)</a:t>
            </a:r>
            <a:endParaRPr lang="en-US" sz="1450" dirty="0"/>
          </a:p>
        </p:txBody>
      </p:sp>
      <p:sp>
        <p:nvSpPr>
          <p:cNvPr id="25" name="Text 23"/>
          <p:cNvSpPr txBox="1"/>
          <p:nvPr/>
        </p:nvSpPr>
        <p:spPr>
          <a:xfrm>
            <a:off x="4297680" y="2606040"/>
            <a:ext cx="1463040" cy="685800"/>
          </a:xfrm>
          <a:prstGeom prst="rect">
            <a:avLst/>
          </a:prstGeom>
          <a:noFill/>
          <a:ln/>
        </p:spPr>
        <p:txBody>
          <a:bodyPr wrap="square" lIns="0" tIns="0" rIns="0" bIns="0" rtlCol="0" anchor="ctr"/>
          <a:lstStyle/>
          <a:p>
            <a:pPr algn="r" indent="0" marL="0">
              <a:spcAft>
                <a:spcPts val="400"/>
              </a:spcAft>
              <a:buNone/>
            </a:pPr>
            <a:r>
              <a:rPr lang="en-US" sz="1500" b="1" dirty="0">
                <a:solidFill>
                  <a:srgbClr val="0E1A2B"/>
                </a:solidFill>
                <a:latin typeface="Calibri" pitchFamily="34" charset="0"/>
                <a:ea typeface="Calibri" pitchFamily="34" charset="-122"/>
                <a:cs typeface="Calibri" pitchFamily="34" charset="-120"/>
              </a:rPr>
              <a:t>F1 ≥ 0.95</a:t>
            </a:r>
            <a:endParaRPr lang="en-US" sz="1500" dirty="0"/>
          </a:p>
        </p:txBody>
      </p:sp>
      <p:sp>
        <p:nvSpPr>
          <p:cNvPr id="26" name="Shape 24"/>
          <p:cNvSpPr/>
          <p:nvPr/>
        </p:nvSpPr>
        <p:spPr>
          <a:xfrm>
            <a:off x="6217920" y="2606040"/>
            <a:ext cx="5394960" cy="685800"/>
          </a:xfrm>
          <a:prstGeom prst="roundRect">
            <a:avLst>
              <a:gd name="adj" fmla="val 10667"/>
            </a:avLst>
          </a:prstGeom>
          <a:solidFill>
            <a:srgbClr val="F4F6F9"/>
          </a:solidFill>
          <a:ln w="12700">
            <a:solidFill>
              <a:srgbClr val="F4F6F9"/>
            </a:solidFill>
            <a:prstDash val="solid"/>
          </a:ln>
        </p:spPr>
      </p:sp>
      <p:sp>
        <p:nvSpPr>
          <p:cNvPr id="27" name="Text 25"/>
          <p:cNvSpPr txBox="1"/>
          <p:nvPr/>
        </p:nvSpPr>
        <p:spPr>
          <a:xfrm>
            <a:off x="6446520" y="2606040"/>
            <a:ext cx="3566160" cy="685800"/>
          </a:xfrm>
          <a:prstGeom prst="rect">
            <a:avLst/>
          </a:prstGeom>
          <a:noFill/>
          <a:ln/>
        </p:spPr>
        <p:txBody>
          <a:bodyPr wrap="square" lIns="0" tIns="0" rIns="0" bIns="0" rtlCol="0" anchor="ctr"/>
          <a:lstStyle/>
          <a:p>
            <a:pPr algn="l" indent="0" marL="0">
              <a:spcAft>
                <a:spcPts val="400"/>
              </a:spcAft>
              <a:buNone/>
            </a:pPr>
            <a:r>
              <a:rPr lang="en-US" sz="1450" dirty="0">
                <a:solidFill>
                  <a:srgbClr val="1F2937"/>
                </a:solidFill>
                <a:latin typeface="Calibri" pitchFamily="34" charset="0"/>
                <a:ea typeface="Calibri" pitchFamily="34" charset="-122"/>
                <a:cs typeface="Calibri" pitchFamily="34" charset="-120"/>
              </a:rPr>
              <a:t>Relationship extraction</a:t>
            </a:r>
            <a:endParaRPr lang="en-US" sz="1450" dirty="0"/>
          </a:p>
        </p:txBody>
      </p:sp>
      <p:sp>
        <p:nvSpPr>
          <p:cNvPr id="28" name="Text 26"/>
          <p:cNvSpPr txBox="1"/>
          <p:nvPr/>
        </p:nvSpPr>
        <p:spPr>
          <a:xfrm>
            <a:off x="9966960" y="2606040"/>
            <a:ext cx="1463040" cy="685800"/>
          </a:xfrm>
          <a:prstGeom prst="rect">
            <a:avLst/>
          </a:prstGeom>
          <a:noFill/>
          <a:ln/>
        </p:spPr>
        <p:txBody>
          <a:bodyPr wrap="square" lIns="0" tIns="0" rIns="0" bIns="0" rtlCol="0" anchor="ctr"/>
          <a:lstStyle/>
          <a:p>
            <a:pPr algn="r" indent="0" marL="0">
              <a:spcAft>
                <a:spcPts val="400"/>
              </a:spcAft>
              <a:buNone/>
            </a:pPr>
            <a:r>
              <a:rPr lang="en-US" sz="1500" b="1" dirty="0">
                <a:solidFill>
                  <a:srgbClr val="0E1A2B"/>
                </a:solidFill>
                <a:latin typeface="Calibri" pitchFamily="34" charset="0"/>
                <a:ea typeface="Calibri" pitchFamily="34" charset="-122"/>
                <a:cs typeface="Calibri" pitchFamily="34" charset="-120"/>
              </a:rPr>
              <a:t>F1 ≥ 0.90</a:t>
            </a:r>
            <a:endParaRPr lang="en-US" sz="1500" dirty="0"/>
          </a:p>
        </p:txBody>
      </p:sp>
      <p:sp>
        <p:nvSpPr>
          <p:cNvPr id="29" name="Shape 27"/>
          <p:cNvSpPr/>
          <p:nvPr/>
        </p:nvSpPr>
        <p:spPr>
          <a:xfrm>
            <a:off x="548640" y="3429000"/>
            <a:ext cx="5394960" cy="685800"/>
          </a:xfrm>
          <a:prstGeom prst="roundRect">
            <a:avLst>
              <a:gd name="adj" fmla="val 10667"/>
            </a:avLst>
          </a:prstGeom>
          <a:solidFill>
            <a:srgbClr val="FFFFFF"/>
          </a:solidFill>
          <a:ln w="12700">
            <a:solidFill>
              <a:srgbClr val="FFFFFF"/>
            </a:solidFill>
            <a:prstDash val="solid"/>
          </a:ln>
        </p:spPr>
      </p:sp>
      <p:sp>
        <p:nvSpPr>
          <p:cNvPr id="30" name="Text 28"/>
          <p:cNvSpPr txBox="1"/>
          <p:nvPr/>
        </p:nvSpPr>
        <p:spPr>
          <a:xfrm>
            <a:off x="777240" y="3429000"/>
            <a:ext cx="3566160" cy="685800"/>
          </a:xfrm>
          <a:prstGeom prst="rect">
            <a:avLst/>
          </a:prstGeom>
          <a:noFill/>
          <a:ln/>
        </p:spPr>
        <p:txBody>
          <a:bodyPr wrap="square" lIns="0" tIns="0" rIns="0" bIns="0" rtlCol="0" anchor="ctr"/>
          <a:lstStyle/>
          <a:p>
            <a:pPr algn="l" indent="0" marL="0">
              <a:spcAft>
                <a:spcPts val="400"/>
              </a:spcAft>
              <a:buNone/>
            </a:pPr>
            <a:r>
              <a:rPr lang="en-US" sz="1450" dirty="0">
                <a:solidFill>
                  <a:srgbClr val="1F2937"/>
                </a:solidFill>
                <a:latin typeface="Calibri" pitchFamily="34" charset="0"/>
                <a:ea typeface="Calibri" pitchFamily="34" charset="-122"/>
                <a:cs typeface="Calibri" pitchFamily="34" charset="-120"/>
              </a:rPr>
              <a:t>Text retrieval</a:t>
            </a:r>
            <a:endParaRPr lang="en-US" sz="1450" dirty="0"/>
          </a:p>
        </p:txBody>
      </p:sp>
      <p:sp>
        <p:nvSpPr>
          <p:cNvPr id="31" name="Text 29"/>
          <p:cNvSpPr txBox="1"/>
          <p:nvPr/>
        </p:nvSpPr>
        <p:spPr>
          <a:xfrm>
            <a:off x="4297680" y="3429000"/>
            <a:ext cx="1463040" cy="685800"/>
          </a:xfrm>
          <a:prstGeom prst="rect">
            <a:avLst/>
          </a:prstGeom>
          <a:noFill/>
          <a:ln/>
        </p:spPr>
        <p:txBody>
          <a:bodyPr wrap="square" lIns="0" tIns="0" rIns="0" bIns="0" rtlCol="0" anchor="ctr"/>
          <a:lstStyle/>
          <a:p>
            <a:pPr algn="r" indent="0" marL="0">
              <a:spcAft>
                <a:spcPts val="400"/>
              </a:spcAft>
              <a:buNone/>
            </a:pPr>
            <a:r>
              <a:rPr lang="en-US" sz="1500" b="1" dirty="0">
                <a:solidFill>
                  <a:srgbClr val="0E1A2B"/>
                </a:solidFill>
                <a:latin typeface="Calibri" pitchFamily="34" charset="0"/>
                <a:ea typeface="Calibri" pitchFamily="34" charset="-122"/>
                <a:cs typeface="Calibri" pitchFamily="34" charset="-120"/>
              </a:rPr>
              <a:t>Recall@5 ≥ 0.90</a:t>
            </a:r>
            <a:endParaRPr lang="en-US" sz="1500" dirty="0"/>
          </a:p>
        </p:txBody>
      </p:sp>
      <p:sp>
        <p:nvSpPr>
          <p:cNvPr id="32" name="Shape 30"/>
          <p:cNvSpPr/>
          <p:nvPr/>
        </p:nvSpPr>
        <p:spPr>
          <a:xfrm>
            <a:off x="6217920" y="3429000"/>
            <a:ext cx="5394960" cy="685800"/>
          </a:xfrm>
          <a:prstGeom prst="roundRect">
            <a:avLst>
              <a:gd name="adj" fmla="val 10667"/>
            </a:avLst>
          </a:prstGeom>
          <a:solidFill>
            <a:srgbClr val="FFFFFF"/>
          </a:solidFill>
          <a:ln w="12700">
            <a:solidFill>
              <a:srgbClr val="FFFFFF"/>
            </a:solidFill>
            <a:prstDash val="solid"/>
          </a:ln>
        </p:spPr>
      </p:sp>
      <p:sp>
        <p:nvSpPr>
          <p:cNvPr id="33" name="Text 31"/>
          <p:cNvSpPr txBox="1"/>
          <p:nvPr/>
        </p:nvSpPr>
        <p:spPr>
          <a:xfrm>
            <a:off x="6446520" y="3429000"/>
            <a:ext cx="3566160" cy="685800"/>
          </a:xfrm>
          <a:prstGeom prst="rect">
            <a:avLst/>
          </a:prstGeom>
          <a:noFill/>
          <a:ln/>
        </p:spPr>
        <p:txBody>
          <a:bodyPr wrap="square" lIns="0" tIns="0" rIns="0" bIns="0" rtlCol="0" anchor="ctr"/>
          <a:lstStyle/>
          <a:p>
            <a:pPr algn="l" indent="0" marL="0">
              <a:spcAft>
                <a:spcPts val="400"/>
              </a:spcAft>
              <a:buNone/>
            </a:pPr>
            <a:r>
              <a:rPr lang="en-US" sz="1450" dirty="0">
                <a:solidFill>
                  <a:srgbClr val="1F2937"/>
                </a:solidFill>
                <a:latin typeface="Calibri" pitchFamily="34" charset="0"/>
                <a:ea typeface="Calibri" pitchFamily="34" charset="-122"/>
                <a:cs typeface="Calibri" pitchFamily="34" charset="-120"/>
              </a:rPr>
              <a:t>Image retrieval</a:t>
            </a:r>
            <a:endParaRPr lang="en-US" sz="1450" dirty="0"/>
          </a:p>
        </p:txBody>
      </p:sp>
      <p:sp>
        <p:nvSpPr>
          <p:cNvPr id="34" name="Text 32"/>
          <p:cNvSpPr txBox="1"/>
          <p:nvPr/>
        </p:nvSpPr>
        <p:spPr>
          <a:xfrm>
            <a:off x="9966960" y="3429000"/>
            <a:ext cx="1463040" cy="685800"/>
          </a:xfrm>
          <a:prstGeom prst="rect">
            <a:avLst/>
          </a:prstGeom>
          <a:noFill/>
          <a:ln/>
        </p:spPr>
        <p:txBody>
          <a:bodyPr wrap="square" lIns="0" tIns="0" rIns="0" bIns="0" rtlCol="0" anchor="ctr"/>
          <a:lstStyle/>
          <a:p>
            <a:pPr algn="r" indent="0" marL="0">
              <a:spcAft>
                <a:spcPts val="400"/>
              </a:spcAft>
              <a:buNone/>
            </a:pPr>
            <a:r>
              <a:rPr lang="en-US" sz="1500" b="1" dirty="0">
                <a:solidFill>
                  <a:srgbClr val="0E1A2B"/>
                </a:solidFill>
                <a:latin typeface="Calibri" pitchFamily="34" charset="0"/>
                <a:ea typeface="Calibri" pitchFamily="34" charset="-122"/>
                <a:cs typeface="Calibri" pitchFamily="34" charset="-120"/>
              </a:rPr>
              <a:t>Recall@5 ≥ 0.85</a:t>
            </a:r>
            <a:endParaRPr lang="en-US" sz="1500" dirty="0"/>
          </a:p>
        </p:txBody>
      </p:sp>
      <p:sp>
        <p:nvSpPr>
          <p:cNvPr id="35" name="Shape 33"/>
          <p:cNvSpPr/>
          <p:nvPr/>
        </p:nvSpPr>
        <p:spPr>
          <a:xfrm>
            <a:off x="548640" y="4251960"/>
            <a:ext cx="5394960" cy="685800"/>
          </a:xfrm>
          <a:prstGeom prst="roundRect">
            <a:avLst>
              <a:gd name="adj" fmla="val 10667"/>
            </a:avLst>
          </a:prstGeom>
          <a:solidFill>
            <a:srgbClr val="F4F6F9"/>
          </a:solidFill>
          <a:ln w="12700">
            <a:solidFill>
              <a:srgbClr val="F4F6F9"/>
            </a:solidFill>
            <a:prstDash val="solid"/>
          </a:ln>
        </p:spPr>
      </p:sp>
      <p:sp>
        <p:nvSpPr>
          <p:cNvPr id="36" name="Text 34"/>
          <p:cNvSpPr txBox="1"/>
          <p:nvPr/>
        </p:nvSpPr>
        <p:spPr>
          <a:xfrm>
            <a:off x="777240" y="4251960"/>
            <a:ext cx="3566160" cy="685800"/>
          </a:xfrm>
          <a:prstGeom prst="rect">
            <a:avLst/>
          </a:prstGeom>
          <a:noFill/>
          <a:ln/>
        </p:spPr>
        <p:txBody>
          <a:bodyPr wrap="square" lIns="0" tIns="0" rIns="0" bIns="0" rtlCol="0" anchor="ctr"/>
          <a:lstStyle/>
          <a:p>
            <a:pPr algn="l" indent="0" marL="0">
              <a:spcAft>
                <a:spcPts val="400"/>
              </a:spcAft>
              <a:buNone/>
            </a:pPr>
            <a:r>
              <a:rPr lang="en-US" sz="1450" dirty="0">
                <a:solidFill>
                  <a:srgbClr val="1F2937"/>
                </a:solidFill>
                <a:latin typeface="Calibri" pitchFamily="34" charset="0"/>
                <a:ea typeface="Calibri" pitchFamily="34" charset="-122"/>
                <a:cs typeface="Calibri" pitchFamily="34" charset="-120"/>
              </a:rPr>
              <a:t>Citation points to intended evidence</a:t>
            </a:r>
            <a:endParaRPr lang="en-US" sz="1450" dirty="0"/>
          </a:p>
        </p:txBody>
      </p:sp>
      <p:sp>
        <p:nvSpPr>
          <p:cNvPr id="37" name="Text 35"/>
          <p:cNvSpPr txBox="1"/>
          <p:nvPr/>
        </p:nvSpPr>
        <p:spPr>
          <a:xfrm>
            <a:off x="4297680" y="4251960"/>
            <a:ext cx="1463040" cy="685800"/>
          </a:xfrm>
          <a:prstGeom prst="rect">
            <a:avLst/>
          </a:prstGeom>
          <a:noFill/>
          <a:ln/>
        </p:spPr>
        <p:txBody>
          <a:bodyPr wrap="square" lIns="0" tIns="0" rIns="0" bIns="0" rtlCol="0" anchor="ctr"/>
          <a:lstStyle/>
          <a:p>
            <a:pPr algn="r" indent="0" marL="0">
              <a:spcAft>
                <a:spcPts val="400"/>
              </a:spcAft>
              <a:buNone/>
            </a:pPr>
            <a:r>
              <a:rPr lang="en-US" sz="1500" b="1" dirty="0">
                <a:solidFill>
                  <a:srgbClr val="0E1A2B"/>
                </a:solidFill>
                <a:latin typeface="Calibri" pitchFamily="34" charset="0"/>
                <a:ea typeface="Calibri" pitchFamily="34" charset="-122"/>
                <a:cs typeface="Calibri" pitchFamily="34" charset="-120"/>
              </a:rPr>
              <a:t>≥ 0.95</a:t>
            </a:r>
            <a:endParaRPr lang="en-US" sz="1500" dirty="0"/>
          </a:p>
        </p:txBody>
      </p:sp>
      <p:sp>
        <p:nvSpPr>
          <p:cNvPr id="38" name="Shape 36"/>
          <p:cNvSpPr/>
          <p:nvPr/>
        </p:nvSpPr>
        <p:spPr>
          <a:xfrm>
            <a:off x="6217920" y="4251960"/>
            <a:ext cx="5394960" cy="685800"/>
          </a:xfrm>
          <a:prstGeom prst="roundRect">
            <a:avLst>
              <a:gd name="adj" fmla="val 10667"/>
            </a:avLst>
          </a:prstGeom>
          <a:solidFill>
            <a:srgbClr val="F4F6F9"/>
          </a:solidFill>
          <a:ln w="12700">
            <a:solidFill>
              <a:srgbClr val="F4F6F9"/>
            </a:solidFill>
            <a:prstDash val="solid"/>
          </a:ln>
        </p:spPr>
      </p:sp>
      <p:sp>
        <p:nvSpPr>
          <p:cNvPr id="39" name="Text 37"/>
          <p:cNvSpPr txBox="1"/>
          <p:nvPr/>
        </p:nvSpPr>
        <p:spPr>
          <a:xfrm>
            <a:off x="6446520" y="4251960"/>
            <a:ext cx="3566160" cy="685800"/>
          </a:xfrm>
          <a:prstGeom prst="rect">
            <a:avLst/>
          </a:prstGeom>
          <a:noFill/>
          <a:ln/>
        </p:spPr>
        <p:txBody>
          <a:bodyPr wrap="square" lIns="0" tIns="0" rIns="0" bIns="0" rtlCol="0" anchor="ctr"/>
          <a:lstStyle/>
          <a:p>
            <a:pPr algn="l" indent="0" marL="0">
              <a:spcAft>
                <a:spcPts val="400"/>
              </a:spcAft>
              <a:buNone/>
            </a:pPr>
            <a:r>
              <a:rPr lang="en-US" sz="1450" dirty="0">
                <a:solidFill>
                  <a:srgbClr val="1F2937"/>
                </a:solidFill>
                <a:latin typeface="Calibri" pitchFamily="34" charset="0"/>
                <a:ea typeface="Calibri" pitchFamily="34" charset="-122"/>
                <a:cs typeface="Calibri" pitchFamily="34" charset="-120"/>
              </a:rPr>
              <a:t>Structured SQL answers</a:t>
            </a:r>
            <a:endParaRPr lang="en-US" sz="1450" dirty="0"/>
          </a:p>
        </p:txBody>
      </p:sp>
      <p:sp>
        <p:nvSpPr>
          <p:cNvPr id="40" name="Text 38"/>
          <p:cNvSpPr txBox="1"/>
          <p:nvPr/>
        </p:nvSpPr>
        <p:spPr>
          <a:xfrm>
            <a:off x="9966960" y="4251960"/>
            <a:ext cx="1463040" cy="685800"/>
          </a:xfrm>
          <a:prstGeom prst="rect">
            <a:avLst/>
          </a:prstGeom>
          <a:noFill/>
          <a:ln/>
        </p:spPr>
        <p:txBody>
          <a:bodyPr wrap="square" lIns="0" tIns="0" rIns="0" bIns="0" rtlCol="0" anchor="ctr"/>
          <a:lstStyle/>
          <a:p>
            <a:pPr algn="r" indent="0" marL="0">
              <a:spcAft>
                <a:spcPts val="400"/>
              </a:spcAft>
              <a:buNone/>
            </a:pPr>
            <a:r>
              <a:rPr lang="en-US" sz="1500" b="1" dirty="0">
                <a:solidFill>
                  <a:srgbClr val="0E1A2B"/>
                </a:solidFill>
                <a:latin typeface="Calibri" pitchFamily="34" charset="0"/>
                <a:ea typeface="Calibri" pitchFamily="34" charset="-122"/>
                <a:cs typeface="Calibri" pitchFamily="34" charset="-120"/>
              </a:rPr>
              <a:t>100% exact</a:t>
            </a:r>
            <a:endParaRPr lang="en-US" sz="1500" dirty="0"/>
          </a:p>
        </p:txBody>
      </p:sp>
      <p:sp>
        <p:nvSpPr>
          <p:cNvPr id="41" name="Shape 39"/>
          <p:cNvSpPr/>
          <p:nvPr/>
        </p:nvSpPr>
        <p:spPr>
          <a:xfrm>
            <a:off x="548640" y="5074920"/>
            <a:ext cx="5394960" cy="685800"/>
          </a:xfrm>
          <a:prstGeom prst="roundRect">
            <a:avLst>
              <a:gd name="adj" fmla="val 10667"/>
            </a:avLst>
          </a:prstGeom>
          <a:solidFill>
            <a:srgbClr val="FFFFFF"/>
          </a:solidFill>
          <a:ln w="12700">
            <a:solidFill>
              <a:srgbClr val="FFFFFF"/>
            </a:solidFill>
            <a:prstDash val="solid"/>
          </a:ln>
        </p:spPr>
      </p:sp>
      <p:sp>
        <p:nvSpPr>
          <p:cNvPr id="42" name="Text 40"/>
          <p:cNvSpPr txBox="1"/>
          <p:nvPr/>
        </p:nvSpPr>
        <p:spPr>
          <a:xfrm>
            <a:off x="777240" y="5074920"/>
            <a:ext cx="3566160" cy="685800"/>
          </a:xfrm>
          <a:prstGeom prst="rect">
            <a:avLst/>
          </a:prstGeom>
          <a:noFill/>
          <a:ln/>
        </p:spPr>
        <p:txBody>
          <a:bodyPr wrap="square" lIns="0" tIns="0" rIns="0" bIns="0" rtlCol="0" anchor="ctr"/>
          <a:lstStyle/>
          <a:p>
            <a:pPr algn="l" indent="0" marL="0">
              <a:spcAft>
                <a:spcPts val="400"/>
              </a:spcAft>
              <a:buNone/>
            </a:pPr>
            <a:r>
              <a:rPr lang="en-US" sz="1450" dirty="0">
                <a:solidFill>
                  <a:srgbClr val="1F2937"/>
                </a:solidFill>
                <a:latin typeface="Calibri" pitchFamily="34" charset="0"/>
                <a:ea typeface="Calibri" pitchFamily="34" charset="-122"/>
                <a:cs typeface="Calibri" pitchFamily="34" charset="-120"/>
              </a:rPr>
              <a:t>Contradiction handling</a:t>
            </a:r>
            <a:endParaRPr lang="en-US" sz="1450" dirty="0"/>
          </a:p>
        </p:txBody>
      </p:sp>
      <p:sp>
        <p:nvSpPr>
          <p:cNvPr id="43" name="Text 41"/>
          <p:cNvSpPr txBox="1"/>
          <p:nvPr/>
        </p:nvSpPr>
        <p:spPr>
          <a:xfrm>
            <a:off x="4297680" y="5074920"/>
            <a:ext cx="1463040" cy="685800"/>
          </a:xfrm>
          <a:prstGeom prst="rect">
            <a:avLst/>
          </a:prstGeom>
          <a:noFill/>
          <a:ln/>
        </p:spPr>
        <p:txBody>
          <a:bodyPr wrap="square" lIns="0" tIns="0" rIns="0" bIns="0" rtlCol="0" anchor="ctr"/>
          <a:lstStyle/>
          <a:p>
            <a:pPr algn="r" indent="0" marL="0">
              <a:spcAft>
                <a:spcPts val="400"/>
              </a:spcAft>
              <a:buNone/>
            </a:pPr>
            <a:r>
              <a:rPr lang="en-US" sz="1500" b="1" dirty="0">
                <a:solidFill>
                  <a:srgbClr val="0E1A2B"/>
                </a:solidFill>
                <a:latin typeface="Calibri" pitchFamily="34" charset="0"/>
                <a:ea typeface="Calibri" pitchFamily="34" charset="-122"/>
                <a:cs typeface="Calibri" pitchFamily="34" charset="-120"/>
              </a:rPr>
              <a:t>≥ 0.80</a:t>
            </a:r>
            <a:endParaRPr lang="en-US" sz="1500" dirty="0"/>
          </a:p>
        </p:txBody>
      </p:sp>
      <p:sp>
        <p:nvSpPr>
          <p:cNvPr id="44" name="Shape 42"/>
          <p:cNvSpPr/>
          <p:nvPr/>
        </p:nvSpPr>
        <p:spPr>
          <a:xfrm>
            <a:off x="6217920" y="5074920"/>
            <a:ext cx="5394960" cy="685800"/>
          </a:xfrm>
          <a:prstGeom prst="roundRect">
            <a:avLst>
              <a:gd name="adj" fmla="val 10667"/>
            </a:avLst>
          </a:prstGeom>
          <a:solidFill>
            <a:srgbClr val="FFFFFF"/>
          </a:solidFill>
          <a:ln w="12700">
            <a:solidFill>
              <a:srgbClr val="FFFFFF"/>
            </a:solidFill>
            <a:prstDash val="solid"/>
          </a:ln>
        </p:spPr>
      </p:sp>
      <p:sp>
        <p:nvSpPr>
          <p:cNvPr id="45" name="Text 43"/>
          <p:cNvSpPr txBox="1"/>
          <p:nvPr/>
        </p:nvSpPr>
        <p:spPr>
          <a:xfrm>
            <a:off x="6446520" y="5074920"/>
            <a:ext cx="3566160" cy="685800"/>
          </a:xfrm>
          <a:prstGeom prst="rect">
            <a:avLst/>
          </a:prstGeom>
          <a:noFill/>
          <a:ln/>
        </p:spPr>
        <p:txBody>
          <a:bodyPr wrap="square" lIns="0" tIns="0" rIns="0" bIns="0" rtlCol="0" anchor="ctr"/>
          <a:lstStyle/>
          <a:p>
            <a:pPr algn="l" indent="0" marL="0">
              <a:spcAft>
                <a:spcPts val="400"/>
              </a:spcAft>
              <a:buNone/>
            </a:pPr>
            <a:r>
              <a:rPr lang="en-US" sz="1450" dirty="0">
                <a:solidFill>
                  <a:srgbClr val="1F2937"/>
                </a:solidFill>
                <a:latin typeface="Calibri" pitchFamily="34" charset="0"/>
                <a:ea typeface="Calibri" pitchFamily="34" charset="-122"/>
                <a:cs typeface="Calibri" pitchFamily="34" charset="-120"/>
              </a:rPr>
              <a:t>Unauthorized evidence exposed</a:t>
            </a:r>
            <a:endParaRPr lang="en-US" sz="1450" dirty="0"/>
          </a:p>
        </p:txBody>
      </p:sp>
      <p:sp>
        <p:nvSpPr>
          <p:cNvPr id="46" name="Text 44"/>
          <p:cNvSpPr txBox="1"/>
          <p:nvPr/>
        </p:nvSpPr>
        <p:spPr>
          <a:xfrm>
            <a:off x="9966960" y="5074920"/>
            <a:ext cx="1463040" cy="685800"/>
          </a:xfrm>
          <a:prstGeom prst="rect">
            <a:avLst/>
          </a:prstGeom>
          <a:noFill/>
          <a:ln/>
        </p:spPr>
        <p:txBody>
          <a:bodyPr wrap="square" lIns="0" tIns="0" rIns="0" bIns="0" rtlCol="0" anchor="ctr"/>
          <a:lstStyle/>
          <a:p>
            <a:pPr algn="r" indent="0" marL="0">
              <a:spcAft>
                <a:spcPts val="400"/>
              </a:spcAft>
              <a:buNone/>
            </a:pPr>
            <a:r>
              <a:rPr lang="en-US" sz="1500" b="1" dirty="0">
                <a:solidFill>
                  <a:srgbClr val="0E1A2B"/>
                </a:solidFill>
                <a:latin typeface="Calibri" pitchFamily="34" charset="0"/>
                <a:ea typeface="Calibri" pitchFamily="34" charset="-122"/>
                <a:cs typeface="Calibri" pitchFamily="34" charset="-120"/>
              </a:rPr>
              <a:t>0</a:t>
            </a:r>
            <a:endParaRPr lang="en-US" sz="1500" dirty="0"/>
          </a:p>
        </p:txBody>
      </p:sp>
      <p:sp>
        <p:nvSpPr>
          <p:cNvPr id="47" name="Text 45"/>
          <p:cNvSpPr txBox="1"/>
          <p:nvPr/>
        </p:nvSpPr>
        <p:spPr>
          <a:xfrm>
            <a:off x="548640" y="6291072"/>
            <a:ext cx="11094415" cy="411480"/>
          </a:xfrm>
          <a:prstGeom prst="rect">
            <a:avLst/>
          </a:prstGeom>
          <a:noFill/>
          <a:ln/>
        </p:spPr>
        <p:txBody>
          <a:bodyPr wrap="square" lIns="0" tIns="0" rIns="0" bIns="0" rtlCol="0" anchor="b"/>
          <a:lstStyle/>
          <a:p>
            <a:pPr indent="0" marL="0">
              <a:buNone/>
            </a:pPr>
            <a:r>
              <a:rPr lang="en-US" sz="950" i="1" dirty="0">
                <a:solidFill>
                  <a:srgbClr val="5B6472"/>
                </a:solidFill>
                <a:latin typeface="Calibri" pitchFamily="34" charset="0"/>
                <a:ea typeface="Calibri" pitchFamily="34" charset="-122"/>
                <a:cs typeface="Calibri" pitchFamily="34" charset="-120"/>
              </a:rPr>
              <a:t>Initial acceptance targets from the Helios-DS engineering specification; profiles are configurable. The evaluator runs in its own Workbench project.</a:t>
            </a:r>
            <a:endParaRPr lang="en-US" sz="9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3200" b="1" dirty="0">
                <a:solidFill>
                  <a:srgbClr val="0E1A2B"/>
                </a:solidFill>
                <a:latin typeface="Cambria" pitchFamily="34" charset="0"/>
                <a:ea typeface="Cambria" pitchFamily="34" charset="-122"/>
                <a:cs typeface="Cambria" pitchFamily="34" charset="-120"/>
              </a:rPr>
              <a:t>Where Helios-DS stands</a:t>
            </a:r>
            <a:endParaRPr lang="en-US" sz="3200" dirty="0"/>
          </a:p>
        </p:txBody>
      </p:sp>
      <p:sp>
        <p:nvSpPr>
          <p:cNvPr id="3" name="Shape 1"/>
          <p:cNvSpPr/>
          <p:nvPr/>
        </p:nvSpPr>
        <p:spPr>
          <a:xfrm>
            <a:off x="548640" y="1325880"/>
            <a:ext cx="11064240" cy="566928"/>
          </a:xfrm>
          <a:prstGeom prst="roundRect">
            <a:avLst>
              <a:gd name="adj" fmla="val 12903"/>
            </a:avLst>
          </a:prstGeom>
          <a:solidFill>
            <a:srgbClr val="F4F6F9"/>
          </a:solidFill>
          <a:ln w="12700">
            <a:solidFill>
              <a:srgbClr val="F4F6F9"/>
            </a:solidFill>
            <a:prstDash val="solid"/>
          </a:ln>
        </p:spPr>
      </p:sp>
      <p:sp>
        <p:nvSpPr>
          <p:cNvPr id="4" name="Shape 2"/>
          <p:cNvSpPr/>
          <p:nvPr/>
        </p:nvSpPr>
        <p:spPr>
          <a:xfrm>
            <a:off x="731520" y="1472184"/>
            <a:ext cx="274320" cy="274320"/>
          </a:xfrm>
          <a:prstGeom prst="ellipse">
            <a:avLst/>
          </a:prstGeom>
          <a:solidFill>
            <a:srgbClr val="2E8B57"/>
          </a:solidFill>
          <a:ln w="12700">
            <a:solidFill>
              <a:srgbClr val="2E8B57"/>
            </a:solidFill>
            <a:prstDash val="solid"/>
          </a:ln>
        </p:spPr>
      </p:sp>
      <p:sp>
        <p:nvSpPr>
          <p:cNvPr id="5" name="Text 3"/>
          <p:cNvSpPr txBox="1"/>
          <p:nvPr/>
        </p:nvSpPr>
        <p:spPr>
          <a:xfrm>
            <a:off x="1188720" y="1325880"/>
            <a:ext cx="3291840" cy="566928"/>
          </a:xfrm>
          <a:prstGeom prst="rect">
            <a:avLst/>
          </a:prstGeom>
          <a:noFill/>
          <a:ln/>
        </p:spPr>
        <p:txBody>
          <a:bodyPr wrap="square" lIns="0" tIns="0" rIns="0" bIns="0" rtlCol="0" anchor="ctr"/>
          <a:lstStyle/>
          <a:p>
            <a:pPr algn="l" indent="0" marL="0">
              <a:spcAft>
                <a:spcPts val="400"/>
              </a:spcAft>
              <a:buNone/>
            </a:pPr>
            <a:r>
              <a:rPr lang="en-US" sz="1500" b="1" dirty="0">
                <a:solidFill>
                  <a:srgbClr val="0E1A2B"/>
                </a:solidFill>
                <a:latin typeface="Calibri" pitchFamily="34" charset="0"/>
                <a:ea typeface="Calibri" pitchFamily="34" charset="-122"/>
                <a:cs typeface="Calibri" pitchFamily="34" charset="-120"/>
              </a:rPr>
              <a:t>Foundation</a:t>
            </a:r>
            <a:endParaRPr lang="en-US" sz="1500" dirty="0"/>
          </a:p>
        </p:txBody>
      </p:sp>
      <p:sp>
        <p:nvSpPr>
          <p:cNvPr id="6" name="Text 4"/>
          <p:cNvSpPr txBox="1"/>
          <p:nvPr/>
        </p:nvSpPr>
        <p:spPr>
          <a:xfrm>
            <a:off x="4572000" y="1325880"/>
            <a:ext cx="5394960" cy="566928"/>
          </a:xfrm>
          <a:prstGeom prst="rect">
            <a:avLst/>
          </a:prstGeom>
          <a:noFill/>
          <a:ln/>
        </p:spPr>
        <p:txBody>
          <a:bodyPr wrap="square" lIns="0" tIns="0" rIns="0" bIns="0" rtlCol="0" anchor="ctr"/>
          <a:lstStyle/>
          <a:p>
            <a:pPr algn="l" indent="0" marL="0">
              <a:spcAft>
                <a:spcPts val="400"/>
              </a:spcAft>
              <a:buNone/>
            </a:pPr>
            <a:r>
              <a:rPr lang="en-US" sz="1350" dirty="0">
                <a:solidFill>
                  <a:srgbClr val="1F2937"/>
                </a:solidFill>
                <a:latin typeface="Calibri" pitchFamily="34" charset="0"/>
                <a:ea typeface="Calibri" pitchFamily="34" charset="-122"/>
                <a:cs typeface="Calibri" pitchFamily="34" charset="-120"/>
              </a:rPr>
              <a:t>Deterministic planning, manifests, lakehouse, runtimes</a:t>
            </a:r>
            <a:endParaRPr lang="en-US" sz="1350" dirty="0"/>
          </a:p>
        </p:txBody>
      </p:sp>
      <p:sp>
        <p:nvSpPr>
          <p:cNvPr id="7" name="Text 5"/>
          <p:cNvSpPr txBox="1"/>
          <p:nvPr/>
        </p:nvSpPr>
        <p:spPr>
          <a:xfrm>
            <a:off x="9966960" y="1325880"/>
            <a:ext cx="1463040" cy="566928"/>
          </a:xfrm>
          <a:prstGeom prst="rect">
            <a:avLst/>
          </a:prstGeom>
          <a:noFill/>
          <a:ln/>
        </p:spPr>
        <p:txBody>
          <a:bodyPr wrap="square" lIns="0" tIns="0" rIns="0" bIns="0" rtlCol="0" anchor="ctr"/>
          <a:lstStyle/>
          <a:p>
            <a:pPr algn="r" indent="0" marL="0">
              <a:spcAft>
                <a:spcPts val="400"/>
              </a:spcAft>
              <a:buNone/>
            </a:pPr>
            <a:r>
              <a:rPr lang="en-US" sz="1350" b="1" dirty="0">
                <a:solidFill>
                  <a:srgbClr val="0E1A2B"/>
                </a:solidFill>
                <a:latin typeface="Calibri" pitchFamily="34" charset="0"/>
                <a:ea typeface="Calibri" pitchFamily="34" charset="-122"/>
                <a:cs typeface="Calibri" pitchFamily="34" charset="-120"/>
              </a:rPr>
              <a:t>Done</a:t>
            </a:r>
            <a:endParaRPr lang="en-US" sz="1350" dirty="0"/>
          </a:p>
        </p:txBody>
      </p:sp>
      <p:sp>
        <p:nvSpPr>
          <p:cNvPr id="8" name="Shape 6"/>
          <p:cNvSpPr/>
          <p:nvPr/>
        </p:nvSpPr>
        <p:spPr>
          <a:xfrm>
            <a:off x="548640" y="1993392"/>
            <a:ext cx="11064240" cy="566928"/>
          </a:xfrm>
          <a:prstGeom prst="roundRect">
            <a:avLst>
              <a:gd name="adj" fmla="val 12903"/>
            </a:avLst>
          </a:prstGeom>
          <a:solidFill>
            <a:srgbClr val="FFFFFF"/>
          </a:solidFill>
          <a:ln w="12700">
            <a:solidFill>
              <a:srgbClr val="FFFFFF"/>
            </a:solidFill>
            <a:prstDash val="solid"/>
          </a:ln>
        </p:spPr>
      </p:sp>
      <p:sp>
        <p:nvSpPr>
          <p:cNvPr id="9" name="Shape 7"/>
          <p:cNvSpPr/>
          <p:nvPr/>
        </p:nvSpPr>
        <p:spPr>
          <a:xfrm>
            <a:off x="731520" y="2139696"/>
            <a:ext cx="274320" cy="274320"/>
          </a:xfrm>
          <a:prstGeom prst="ellipse">
            <a:avLst/>
          </a:prstGeom>
          <a:solidFill>
            <a:srgbClr val="2E8B57"/>
          </a:solidFill>
          <a:ln w="12700">
            <a:solidFill>
              <a:srgbClr val="2E8B57"/>
            </a:solidFill>
            <a:prstDash val="solid"/>
          </a:ln>
        </p:spPr>
      </p:sp>
      <p:sp>
        <p:nvSpPr>
          <p:cNvPr id="10" name="Text 8"/>
          <p:cNvSpPr txBox="1"/>
          <p:nvPr/>
        </p:nvSpPr>
        <p:spPr>
          <a:xfrm>
            <a:off x="1188720" y="1993392"/>
            <a:ext cx="3291840" cy="566928"/>
          </a:xfrm>
          <a:prstGeom prst="rect">
            <a:avLst/>
          </a:prstGeom>
          <a:noFill/>
          <a:ln/>
        </p:spPr>
        <p:txBody>
          <a:bodyPr wrap="square" lIns="0" tIns="0" rIns="0" bIns="0" rtlCol="0" anchor="ctr"/>
          <a:lstStyle/>
          <a:p>
            <a:pPr algn="l" indent="0" marL="0">
              <a:spcAft>
                <a:spcPts val="400"/>
              </a:spcAft>
              <a:buNone/>
            </a:pPr>
            <a:r>
              <a:rPr lang="en-US" sz="1500" b="1" dirty="0">
                <a:solidFill>
                  <a:srgbClr val="0E1A2B"/>
                </a:solidFill>
                <a:latin typeface="Calibri" pitchFamily="34" charset="0"/>
                <a:ea typeface="Calibri" pitchFamily="34" charset="-122"/>
                <a:cs typeface="Calibri" pitchFamily="34" charset="-120"/>
              </a:rPr>
              <a:t>Job service</a:t>
            </a:r>
            <a:endParaRPr lang="en-US" sz="1500" dirty="0"/>
          </a:p>
        </p:txBody>
      </p:sp>
      <p:sp>
        <p:nvSpPr>
          <p:cNvPr id="11" name="Text 9"/>
          <p:cNvSpPr txBox="1"/>
          <p:nvPr/>
        </p:nvSpPr>
        <p:spPr>
          <a:xfrm>
            <a:off x="4572000" y="1993392"/>
            <a:ext cx="5394960" cy="566928"/>
          </a:xfrm>
          <a:prstGeom prst="rect">
            <a:avLst/>
          </a:prstGeom>
          <a:noFill/>
          <a:ln/>
        </p:spPr>
        <p:txBody>
          <a:bodyPr wrap="square" lIns="0" tIns="0" rIns="0" bIns="0" rtlCol="0" anchor="ctr"/>
          <a:lstStyle/>
          <a:p>
            <a:pPr algn="l" indent="0" marL="0">
              <a:spcAft>
                <a:spcPts val="400"/>
              </a:spcAft>
              <a:buNone/>
            </a:pPr>
            <a:r>
              <a:rPr lang="en-US" sz="1350" dirty="0">
                <a:solidFill>
                  <a:srgbClr val="1F2937"/>
                </a:solidFill>
                <a:latin typeface="Calibri" pitchFamily="34" charset="0"/>
                <a:ea typeface="Calibri" pitchFamily="34" charset="-122"/>
                <a:cs typeface="Calibri" pitchFamily="34" charset="-120"/>
              </a:rPr>
              <a:t>Lakehouse job state + Workbench Jobs; UI submits and monitors</a:t>
            </a:r>
            <a:endParaRPr lang="en-US" sz="1350" dirty="0"/>
          </a:p>
        </p:txBody>
      </p:sp>
      <p:sp>
        <p:nvSpPr>
          <p:cNvPr id="12" name="Text 10"/>
          <p:cNvSpPr txBox="1"/>
          <p:nvPr/>
        </p:nvSpPr>
        <p:spPr>
          <a:xfrm>
            <a:off x="9966960" y="1993392"/>
            <a:ext cx="1463040" cy="566928"/>
          </a:xfrm>
          <a:prstGeom prst="rect">
            <a:avLst/>
          </a:prstGeom>
          <a:noFill/>
          <a:ln/>
        </p:spPr>
        <p:txBody>
          <a:bodyPr wrap="square" lIns="0" tIns="0" rIns="0" bIns="0" rtlCol="0" anchor="ctr"/>
          <a:lstStyle/>
          <a:p>
            <a:pPr algn="r" indent="0" marL="0">
              <a:spcAft>
                <a:spcPts val="400"/>
              </a:spcAft>
              <a:buNone/>
            </a:pPr>
            <a:r>
              <a:rPr lang="en-US" sz="1350" b="1" dirty="0">
                <a:solidFill>
                  <a:srgbClr val="0E1A2B"/>
                </a:solidFill>
                <a:latin typeface="Calibri" pitchFamily="34" charset="0"/>
                <a:ea typeface="Calibri" pitchFamily="34" charset="-122"/>
                <a:cs typeface="Calibri" pitchFamily="34" charset="-120"/>
              </a:rPr>
              <a:t>Done</a:t>
            </a:r>
            <a:endParaRPr lang="en-US" sz="1350" dirty="0"/>
          </a:p>
        </p:txBody>
      </p:sp>
      <p:sp>
        <p:nvSpPr>
          <p:cNvPr id="13" name="Shape 11"/>
          <p:cNvSpPr/>
          <p:nvPr/>
        </p:nvSpPr>
        <p:spPr>
          <a:xfrm>
            <a:off x="548640" y="2660904"/>
            <a:ext cx="11064240" cy="566928"/>
          </a:xfrm>
          <a:prstGeom prst="roundRect">
            <a:avLst>
              <a:gd name="adj" fmla="val 12903"/>
            </a:avLst>
          </a:prstGeom>
          <a:solidFill>
            <a:srgbClr val="F4F6F9"/>
          </a:solidFill>
          <a:ln w="12700">
            <a:solidFill>
              <a:srgbClr val="F4F6F9"/>
            </a:solidFill>
            <a:prstDash val="solid"/>
          </a:ln>
        </p:spPr>
      </p:sp>
      <p:sp>
        <p:nvSpPr>
          <p:cNvPr id="14" name="Shape 12"/>
          <p:cNvSpPr/>
          <p:nvPr/>
        </p:nvSpPr>
        <p:spPr>
          <a:xfrm>
            <a:off x="731520" y="2807208"/>
            <a:ext cx="274320" cy="274320"/>
          </a:xfrm>
          <a:prstGeom prst="ellipse">
            <a:avLst/>
          </a:prstGeom>
          <a:solidFill>
            <a:srgbClr val="2E8B57"/>
          </a:solidFill>
          <a:ln w="12700">
            <a:solidFill>
              <a:srgbClr val="2E8B57"/>
            </a:solidFill>
            <a:prstDash val="solid"/>
          </a:ln>
        </p:spPr>
      </p:sp>
      <p:sp>
        <p:nvSpPr>
          <p:cNvPr id="15" name="Text 13"/>
          <p:cNvSpPr txBox="1"/>
          <p:nvPr/>
        </p:nvSpPr>
        <p:spPr>
          <a:xfrm>
            <a:off x="1188720" y="2660904"/>
            <a:ext cx="3291840" cy="566928"/>
          </a:xfrm>
          <a:prstGeom prst="rect">
            <a:avLst/>
          </a:prstGeom>
          <a:noFill/>
          <a:ln/>
        </p:spPr>
        <p:txBody>
          <a:bodyPr wrap="square" lIns="0" tIns="0" rIns="0" bIns="0" rtlCol="0" anchor="ctr"/>
          <a:lstStyle/>
          <a:p>
            <a:pPr algn="l" indent="0" marL="0">
              <a:spcAft>
                <a:spcPts val="400"/>
              </a:spcAft>
              <a:buNone/>
            </a:pPr>
            <a:r>
              <a:rPr lang="en-US" sz="1500" b="1" dirty="0">
                <a:solidFill>
                  <a:srgbClr val="0E1A2B"/>
                </a:solidFill>
                <a:latin typeface="Calibri" pitchFamily="34" charset="0"/>
                <a:ea typeface="Calibri" pitchFamily="34" charset="-122"/>
                <a:cs typeface="Calibri" pitchFamily="34" charset="-120"/>
              </a:rPr>
              <a:t>Text assets + ground truth</a:t>
            </a:r>
            <a:endParaRPr lang="en-US" sz="1500" dirty="0"/>
          </a:p>
        </p:txBody>
      </p:sp>
      <p:sp>
        <p:nvSpPr>
          <p:cNvPr id="16" name="Text 14"/>
          <p:cNvSpPr txBox="1"/>
          <p:nvPr/>
        </p:nvSpPr>
        <p:spPr>
          <a:xfrm>
            <a:off x="4572000" y="2660904"/>
            <a:ext cx="5394960" cy="566928"/>
          </a:xfrm>
          <a:prstGeom prst="rect">
            <a:avLst/>
          </a:prstGeom>
          <a:noFill/>
          <a:ln/>
        </p:spPr>
        <p:txBody>
          <a:bodyPr wrap="square" lIns="0" tIns="0" rIns="0" bIns="0" rtlCol="0" anchor="ctr"/>
          <a:lstStyle/>
          <a:p>
            <a:pPr algn="l" indent="0" marL="0">
              <a:spcAft>
                <a:spcPts val="400"/>
              </a:spcAft>
              <a:buNone/>
            </a:pPr>
            <a:r>
              <a:rPr lang="en-US" sz="1350" dirty="0">
                <a:solidFill>
                  <a:srgbClr val="1F2937"/>
                </a:solidFill>
                <a:latin typeface="Calibri" pitchFamily="34" charset="0"/>
                <a:ea typeface="Calibri" pitchFamily="34" charset="-122"/>
                <a:cs typeface="Calibri" pitchFamily="34" charset="-120"/>
              </a:rPr>
              <a:t>PDF, email, chat; verified answer key</a:t>
            </a:r>
            <a:endParaRPr lang="en-US" sz="1350" dirty="0"/>
          </a:p>
        </p:txBody>
      </p:sp>
      <p:sp>
        <p:nvSpPr>
          <p:cNvPr id="17" name="Text 15"/>
          <p:cNvSpPr txBox="1"/>
          <p:nvPr/>
        </p:nvSpPr>
        <p:spPr>
          <a:xfrm>
            <a:off x="9966960" y="2660904"/>
            <a:ext cx="1463040" cy="566928"/>
          </a:xfrm>
          <a:prstGeom prst="rect">
            <a:avLst/>
          </a:prstGeom>
          <a:noFill/>
          <a:ln/>
        </p:spPr>
        <p:txBody>
          <a:bodyPr wrap="square" lIns="0" tIns="0" rIns="0" bIns="0" rtlCol="0" anchor="ctr"/>
          <a:lstStyle/>
          <a:p>
            <a:pPr algn="r" indent="0" marL="0">
              <a:spcAft>
                <a:spcPts val="400"/>
              </a:spcAft>
              <a:buNone/>
            </a:pPr>
            <a:r>
              <a:rPr lang="en-US" sz="1350" b="1" dirty="0">
                <a:solidFill>
                  <a:srgbClr val="0E1A2B"/>
                </a:solidFill>
                <a:latin typeface="Calibri" pitchFamily="34" charset="0"/>
                <a:ea typeface="Calibri" pitchFamily="34" charset="-122"/>
                <a:cs typeface="Calibri" pitchFamily="34" charset="-120"/>
              </a:rPr>
              <a:t>Done</a:t>
            </a:r>
            <a:endParaRPr lang="en-US" sz="1350" dirty="0"/>
          </a:p>
        </p:txBody>
      </p:sp>
      <p:sp>
        <p:nvSpPr>
          <p:cNvPr id="18" name="Shape 16"/>
          <p:cNvSpPr/>
          <p:nvPr/>
        </p:nvSpPr>
        <p:spPr>
          <a:xfrm>
            <a:off x="548640" y="3328416"/>
            <a:ext cx="11064240" cy="566928"/>
          </a:xfrm>
          <a:prstGeom prst="roundRect">
            <a:avLst>
              <a:gd name="adj" fmla="val 12903"/>
            </a:avLst>
          </a:prstGeom>
          <a:solidFill>
            <a:srgbClr val="FFFFFF"/>
          </a:solidFill>
          <a:ln w="12700">
            <a:solidFill>
              <a:srgbClr val="FFFFFF"/>
            </a:solidFill>
            <a:prstDash val="solid"/>
          </a:ln>
        </p:spPr>
      </p:sp>
      <p:sp>
        <p:nvSpPr>
          <p:cNvPr id="19" name="Shape 17"/>
          <p:cNvSpPr/>
          <p:nvPr/>
        </p:nvSpPr>
        <p:spPr>
          <a:xfrm>
            <a:off x="731520" y="3474720"/>
            <a:ext cx="274320" cy="274320"/>
          </a:xfrm>
          <a:prstGeom prst="ellipse">
            <a:avLst/>
          </a:prstGeom>
          <a:solidFill>
            <a:srgbClr val="F2A541"/>
          </a:solidFill>
          <a:ln w="12700">
            <a:solidFill>
              <a:srgbClr val="F2A541"/>
            </a:solidFill>
            <a:prstDash val="solid"/>
          </a:ln>
        </p:spPr>
      </p:sp>
      <p:sp>
        <p:nvSpPr>
          <p:cNvPr id="20" name="Text 18"/>
          <p:cNvSpPr txBox="1"/>
          <p:nvPr/>
        </p:nvSpPr>
        <p:spPr>
          <a:xfrm>
            <a:off x="1188720" y="3328416"/>
            <a:ext cx="3291840" cy="566928"/>
          </a:xfrm>
          <a:prstGeom prst="rect">
            <a:avLst/>
          </a:prstGeom>
          <a:noFill/>
          <a:ln/>
        </p:spPr>
        <p:txBody>
          <a:bodyPr wrap="square" lIns="0" tIns="0" rIns="0" bIns="0" rtlCol="0" anchor="ctr"/>
          <a:lstStyle/>
          <a:p>
            <a:pPr algn="l" indent="0" marL="0">
              <a:spcAft>
                <a:spcPts val="400"/>
              </a:spcAft>
              <a:buNone/>
            </a:pPr>
            <a:r>
              <a:rPr lang="en-US" sz="1500" b="1" dirty="0">
                <a:solidFill>
                  <a:srgbClr val="0E1A2B"/>
                </a:solidFill>
                <a:latin typeface="Calibri" pitchFamily="34" charset="0"/>
                <a:ea typeface="Calibri" pitchFamily="34" charset="-122"/>
                <a:cs typeface="Calibri" pitchFamily="34" charset="-120"/>
              </a:rPr>
              <a:t>Review</a:t>
            </a:r>
            <a:endParaRPr lang="en-US" sz="1500" dirty="0"/>
          </a:p>
        </p:txBody>
      </p:sp>
      <p:sp>
        <p:nvSpPr>
          <p:cNvPr id="21" name="Text 19"/>
          <p:cNvSpPr txBox="1"/>
          <p:nvPr/>
        </p:nvSpPr>
        <p:spPr>
          <a:xfrm>
            <a:off x="4572000" y="3328416"/>
            <a:ext cx="5394960" cy="566928"/>
          </a:xfrm>
          <a:prstGeom prst="rect">
            <a:avLst/>
          </a:prstGeom>
          <a:noFill/>
          <a:ln/>
        </p:spPr>
        <p:txBody>
          <a:bodyPr wrap="square" lIns="0" tIns="0" rIns="0" bIns="0" rtlCol="0" anchor="ctr"/>
          <a:lstStyle/>
          <a:p>
            <a:pPr algn="l" indent="0" marL="0">
              <a:spcAft>
                <a:spcPts val="400"/>
              </a:spcAft>
              <a:buNone/>
            </a:pPr>
            <a:r>
              <a:rPr lang="en-US" sz="1350" dirty="0">
                <a:solidFill>
                  <a:srgbClr val="1F2937"/>
                </a:solidFill>
                <a:latin typeface="Calibri" pitchFamily="34" charset="0"/>
                <a:ea typeface="Calibri" pitchFamily="34" charset="-122"/>
                <a:cs typeface="Calibri" pitchFamily="34" charset="-120"/>
              </a:rPr>
              <a:t>Review API and screen; approve / reject next</a:t>
            </a:r>
            <a:endParaRPr lang="en-US" sz="1350" dirty="0"/>
          </a:p>
        </p:txBody>
      </p:sp>
      <p:sp>
        <p:nvSpPr>
          <p:cNvPr id="22" name="Text 20"/>
          <p:cNvSpPr txBox="1"/>
          <p:nvPr/>
        </p:nvSpPr>
        <p:spPr>
          <a:xfrm>
            <a:off x="9966960" y="3328416"/>
            <a:ext cx="1463040" cy="566928"/>
          </a:xfrm>
          <a:prstGeom prst="rect">
            <a:avLst/>
          </a:prstGeom>
          <a:noFill/>
          <a:ln/>
        </p:spPr>
        <p:txBody>
          <a:bodyPr wrap="square" lIns="0" tIns="0" rIns="0" bIns="0" rtlCol="0" anchor="ctr"/>
          <a:lstStyle/>
          <a:p>
            <a:pPr algn="r" indent="0" marL="0">
              <a:spcAft>
                <a:spcPts val="400"/>
              </a:spcAft>
              <a:buNone/>
            </a:pPr>
            <a:r>
              <a:rPr lang="en-US" sz="1350" b="1" dirty="0">
                <a:solidFill>
                  <a:srgbClr val="0E1A2B"/>
                </a:solidFill>
                <a:latin typeface="Calibri" pitchFamily="34" charset="0"/>
                <a:ea typeface="Calibri" pitchFamily="34" charset="-122"/>
                <a:cs typeface="Calibri" pitchFamily="34" charset="-120"/>
              </a:rPr>
              <a:t>In progress</a:t>
            </a:r>
            <a:endParaRPr lang="en-US" sz="1350" dirty="0"/>
          </a:p>
        </p:txBody>
      </p:sp>
      <p:sp>
        <p:nvSpPr>
          <p:cNvPr id="23" name="Shape 21"/>
          <p:cNvSpPr/>
          <p:nvPr/>
        </p:nvSpPr>
        <p:spPr>
          <a:xfrm>
            <a:off x="548640" y="3995928"/>
            <a:ext cx="11064240" cy="566928"/>
          </a:xfrm>
          <a:prstGeom prst="roundRect">
            <a:avLst>
              <a:gd name="adj" fmla="val 12903"/>
            </a:avLst>
          </a:prstGeom>
          <a:solidFill>
            <a:srgbClr val="F4F6F9"/>
          </a:solidFill>
          <a:ln w="12700">
            <a:solidFill>
              <a:srgbClr val="F4F6F9"/>
            </a:solidFill>
            <a:prstDash val="solid"/>
          </a:ln>
        </p:spPr>
      </p:sp>
      <p:sp>
        <p:nvSpPr>
          <p:cNvPr id="24" name="Shape 22"/>
          <p:cNvSpPr/>
          <p:nvPr/>
        </p:nvSpPr>
        <p:spPr>
          <a:xfrm>
            <a:off x="731520" y="4142232"/>
            <a:ext cx="274320" cy="274320"/>
          </a:xfrm>
          <a:prstGeom prst="ellipse">
            <a:avLst/>
          </a:prstGeom>
          <a:solidFill>
            <a:srgbClr val="D9DEE5"/>
          </a:solidFill>
          <a:ln w="12700">
            <a:solidFill>
              <a:srgbClr val="D9DEE5"/>
            </a:solidFill>
            <a:prstDash val="solid"/>
          </a:ln>
        </p:spPr>
      </p:sp>
      <p:sp>
        <p:nvSpPr>
          <p:cNvPr id="25" name="Text 23"/>
          <p:cNvSpPr txBox="1"/>
          <p:nvPr/>
        </p:nvSpPr>
        <p:spPr>
          <a:xfrm>
            <a:off x="1188720" y="3995928"/>
            <a:ext cx="3291840" cy="566928"/>
          </a:xfrm>
          <a:prstGeom prst="rect">
            <a:avLst/>
          </a:prstGeom>
          <a:noFill/>
          <a:ln/>
        </p:spPr>
        <p:txBody>
          <a:bodyPr wrap="square" lIns="0" tIns="0" rIns="0" bIns="0" rtlCol="0" anchor="ctr"/>
          <a:lstStyle/>
          <a:p>
            <a:pPr algn="l" indent="0" marL="0">
              <a:spcAft>
                <a:spcPts val="400"/>
              </a:spcAft>
              <a:buNone/>
            </a:pPr>
            <a:r>
              <a:rPr lang="en-US" sz="1500" b="1" dirty="0">
                <a:solidFill>
                  <a:srgbClr val="0E1A2B"/>
                </a:solidFill>
                <a:latin typeface="Calibri" pitchFamily="34" charset="0"/>
                <a:ea typeface="Calibri" pitchFamily="34" charset="-122"/>
                <a:cs typeface="Calibri" pitchFamily="34" charset="-120"/>
              </a:rPr>
              <a:t>Access, validation, golden questions</a:t>
            </a:r>
            <a:endParaRPr lang="en-US" sz="1500" dirty="0"/>
          </a:p>
        </p:txBody>
      </p:sp>
      <p:sp>
        <p:nvSpPr>
          <p:cNvPr id="26" name="Text 24"/>
          <p:cNvSpPr txBox="1"/>
          <p:nvPr/>
        </p:nvSpPr>
        <p:spPr>
          <a:xfrm>
            <a:off x="4572000" y="3995928"/>
            <a:ext cx="5394960" cy="566928"/>
          </a:xfrm>
          <a:prstGeom prst="rect">
            <a:avLst/>
          </a:prstGeom>
          <a:noFill/>
          <a:ln/>
        </p:spPr>
        <p:txBody>
          <a:bodyPr wrap="square" lIns="0" tIns="0" rIns="0" bIns="0" rtlCol="0" anchor="ctr"/>
          <a:lstStyle/>
          <a:p>
            <a:pPr algn="l" indent="0" marL="0">
              <a:spcAft>
                <a:spcPts val="400"/>
              </a:spcAft>
              <a:buNone/>
            </a:pPr>
            <a:r>
              <a:rPr lang="en-US" sz="1350" dirty="0">
                <a:solidFill>
                  <a:srgbClr val="1F2937"/>
                </a:solidFill>
                <a:latin typeface="Calibri" pitchFamily="34" charset="0"/>
                <a:ea typeface="Calibri" pitchFamily="34" charset="-122"/>
                <a:cs typeface="Calibri" pitchFamily="34" charset="-120"/>
              </a:rPr>
              <a:t>Simulated users and ACLs, validation job, first benchmark questions</a:t>
            </a:r>
            <a:endParaRPr lang="en-US" sz="1350" dirty="0"/>
          </a:p>
        </p:txBody>
      </p:sp>
      <p:sp>
        <p:nvSpPr>
          <p:cNvPr id="27" name="Text 25"/>
          <p:cNvSpPr txBox="1"/>
          <p:nvPr/>
        </p:nvSpPr>
        <p:spPr>
          <a:xfrm>
            <a:off x="9966960" y="3995928"/>
            <a:ext cx="1463040" cy="566928"/>
          </a:xfrm>
          <a:prstGeom prst="rect">
            <a:avLst/>
          </a:prstGeom>
          <a:noFill/>
          <a:ln/>
        </p:spPr>
        <p:txBody>
          <a:bodyPr wrap="square" lIns="0" tIns="0" rIns="0" bIns="0" rtlCol="0" anchor="ctr"/>
          <a:lstStyle/>
          <a:p>
            <a:pPr algn="r" indent="0" marL="0">
              <a:spcAft>
                <a:spcPts val="400"/>
              </a:spcAft>
              <a:buNone/>
            </a:pPr>
            <a:r>
              <a:rPr lang="en-US" sz="1350" b="1" dirty="0">
                <a:solidFill>
                  <a:srgbClr val="0E1A2B"/>
                </a:solidFill>
                <a:latin typeface="Calibri" pitchFamily="34" charset="0"/>
                <a:ea typeface="Calibri" pitchFamily="34" charset="-122"/>
                <a:cs typeface="Calibri" pitchFamily="34" charset="-120"/>
              </a:rPr>
              <a:t>Next</a:t>
            </a:r>
            <a:endParaRPr lang="en-US" sz="1350" dirty="0"/>
          </a:p>
        </p:txBody>
      </p:sp>
      <p:sp>
        <p:nvSpPr>
          <p:cNvPr id="28" name="Shape 26"/>
          <p:cNvSpPr/>
          <p:nvPr/>
        </p:nvSpPr>
        <p:spPr>
          <a:xfrm>
            <a:off x="548640" y="4663440"/>
            <a:ext cx="11064240" cy="566928"/>
          </a:xfrm>
          <a:prstGeom prst="roundRect">
            <a:avLst>
              <a:gd name="adj" fmla="val 12903"/>
            </a:avLst>
          </a:prstGeom>
          <a:solidFill>
            <a:srgbClr val="FFFFFF"/>
          </a:solidFill>
          <a:ln w="12700">
            <a:solidFill>
              <a:srgbClr val="FFFFFF"/>
            </a:solidFill>
            <a:prstDash val="solid"/>
          </a:ln>
        </p:spPr>
      </p:sp>
      <p:sp>
        <p:nvSpPr>
          <p:cNvPr id="29" name="Shape 27"/>
          <p:cNvSpPr/>
          <p:nvPr/>
        </p:nvSpPr>
        <p:spPr>
          <a:xfrm>
            <a:off x="731520" y="4809744"/>
            <a:ext cx="274320" cy="274320"/>
          </a:xfrm>
          <a:prstGeom prst="ellipse">
            <a:avLst/>
          </a:prstGeom>
          <a:solidFill>
            <a:srgbClr val="D9DEE5"/>
          </a:solidFill>
          <a:ln w="12700">
            <a:solidFill>
              <a:srgbClr val="D9DEE5"/>
            </a:solidFill>
            <a:prstDash val="solid"/>
          </a:ln>
        </p:spPr>
      </p:sp>
      <p:sp>
        <p:nvSpPr>
          <p:cNvPr id="30" name="Text 28"/>
          <p:cNvSpPr txBox="1"/>
          <p:nvPr/>
        </p:nvSpPr>
        <p:spPr>
          <a:xfrm>
            <a:off x="1188720" y="4663440"/>
            <a:ext cx="3291840" cy="566928"/>
          </a:xfrm>
          <a:prstGeom prst="rect">
            <a:avLst/>
          </a:prstGeom>
          <a:noFill/>
          <a:ln/>
        </p:spPr>
        <p:txBody>
          <a:bodyPr wrap="square" lIns="0" tIns="0" rIns="0" bIns="0" rtlCol="0" anchor="ctr"/>
          <a:lstStyle/>
          <a:p>
            <a:pPr algn="l" indent="0" marL="0">
              <a:spcAft>
                <a:spcPts val="400"/>
              </a:spcAft>
              <a:buNone/>
            </a:pPr>
            <a:r>
              <a:rPr lang="en-US" sz="1500" b="1" dirty="0">
                <a:solidFill>
                  <a:srgbClr val="0E1A2B"/>
                </a:solidFill>
                <a:latin typeface="Calibri" pitchFamily="34" charset="0"/>
                <a:ea typeface="Calibri" pitchFamily="34" charset="-122"/>
                <a:cs typeface="Calibri" pitchFamily="34" charset="-120"/>
              </a:rPr>
              <a:t>Images, audio, video</a:t>
            </a:r>
            <a:endParaRPr lang="en-US" sz="1500" dirty="0"/>
          </a:p>
        </p:txBody>
      </p:sp>
      <p:sp>
        <p:nvSpPr>
          <p:cNvPr id="31" name="Text 29"/>
          <p:cNvSpPr txBox="1"/>
          <p:nvPr/>
        </p:nvSpPr>
        <p:spPr>
          <a:xfrm>
            <a:off x="4572000" y="4663440"/>
            <a:ext cx="5394960" cy="566928"/>
          </a:xfrm>
          <a:prstGeom prst="rect">
            <a:avLst/>
          </a:prstGeom>
          <a:noFill/>
          <a:ln/>
        </p:spPr>
        <p:txBody>
          <a:bodyPr wrap="square" lIns="0" tIns="0" rIns="0" bIns="0" rtlCol="0" anchor="ctr"/>
          <a:lstStyle/>
          <a:p>
            <a:pPr algn="l" indent="0" marL="0">
              <a:spcAft>
                <a:spcPts val="400"/>
              </a:spcAft>
              <a:buNone/>
            </a:pPr>
            <a:r>
              <a:rPr lang="en-US" sz="1350" dirty="0">
                <a:solidFill>
                  <a:srgbClr val="1F2937"/>
                </a:solidFill>
                <a:latin typeface="Calibri" pitchFamily="34" charset="0"/>
                <a:ea typeface="Calibri" pitchFamily="34" charset="-122"/>
                <a:cs typeface="Calibri" pitchFamily="34" charset="-120"/>
              </a:rPr>
              <a:t>Pillow, eSpeak NG, FFmpeg with region and time-span truth</a:t>
            </a:r>
            <a:endParaRPr lang="en-US" sz="1350" dirty="0"/>
          </a:p>
        </p:txBody>
      </p:sp>
      <p:sp>
        <p:nvSpPr>
          <p:cNvPr id="32" name="Text 30"/>
          <p:cNvSpPr txBox="1"/>
          <p:nvPr/>
        </p:nvSpPr>
        <p:spPr>
          <a:xfrm>
            <a:off x="9966960" y="4663440"/>
            <a:ext cx="1463040" cy="566928"/>
          </a:xfrm>
          <a:prstGeom prst="rect">
            <a:avLst/>
          </a:prstGeom>
          <a:noFill/>
          <a:ln/>
        </p:spPr>
        <p:txBody>
          <a:bodyPr wrap="square" lIns="0" tIns="0" rIns="0" bIns="0" rtlCol="0" anchor="ctr"/>
          <a:lstStyle/>
          <a:p>
            <a:pPr algn="r" indent="0" marL="0">
              <a:spcAft>
                <a:spcPts val="400"/>
              </a:spcAft>
              <a:buNone/>
            </a:pPr>
            <a:r>
              <a:rPr lang="en-US" sz="1350" b="1" dirty="0">
                <a:solidFill>
                  <a:srgbClr val="0E1A2B"/>
                </a:solidFill>
                <a:latin typeface="Calibri" pitchFamily="34" charset="0"/>
                <a:ea typeface="Calibri" pitchFamily="34" charset="-122"/>
                <a:cs typeface="Calibri" pitchFamily="34" charset="-120"/>
              </a:rPr>
              <a:t>Later</a:t>
            </a:r>
            <a:endParaRPr lang="en-US" sz="1350" dirty="0"/>
          </a:p>
        </p:txBody>
      </p:sp>
      <p:sp>
        <p:nvSpPr>
          <p:cNvPr id="33" name="Shape 31"/>
          <p:cNvSpPr/>
          <p:nvPr/>
        </p:nvSpPr>
        <p:spPr>
          <a:xfrm>
            <a:off x="548640" y="5330952"/>
            <a:ext cx="11064240" cy="566928"/>
          </a:xfrm>
          <a:prstGeom prst="roundRect">
            <a:avLst>
              <a:gd name="adj" fmla="val 12903"/>
            </a:avLst>
          </a:prstGeom>
          <a:solidFill>
            <a:srgbClr val="F4F6F9"/>
          </a:solidFill>
          <a:ln w="12700">
            <a:solidFill>
              <a:srgbClr val="F4F6F9"/>
            </a:solidFill>
            <a:prstDash val="solid"/>
          </a:ln>
        </p:spPr>
      </p:sp>
      <p:sp>
        <p:nvSpPr>
          <p:cNvPr id="34" name="Shape 32"/>
          <p:cNvSpPr/>
          <p:nvPr/>
        </p:nvSpPr>
        <p:spPr>
          <a:xfrm>
            <a:off x="731520" y="5477256"/>
            <a:ext cx="274320" cy="274320"/>
          </a:xfrm>
          <a:prstGeom prst="ellipse">
            <a:avLst/>
          </a:prstGeom>
          <a:solidFill>
            <a:srgbClr val="D9DEE5"/>
          </a:solidFill>
          <a:ln w="12700">
            <a:solidFill>
              <a:srgbClr val="D9DEE5"/>
            </a:solidFill>
            <a:prstDash val="solid"/>
          </a:ln>
        </p:spPr>
      </p:sp>
      <p:sp>
        <p:nvSpPr>
          <p:cNvPr id="35" name="Text 33"/>
          <p:cNvSpPr txBox="1"/>
          <p:nvPr/>
        </p:nvSpPr>
        <p:spPr>
          <a:xfrm>
            <a:off x="1188720" y="5330952"/>
            <a:ext cx="3291840" cy="566928"/>
          </a:xfrm>
          <a:prstGeom prst="rect">
            <a:avLst/>
          </a:prstGeom>
          <a:noFill/>
          <a:ln/>
        </p:spPr>
        <p:txBody>
          <a:bodyPr wrap="square" lIns="0" tIns="0" rIns="0" bIns="0" rtlCol="0" anchor="ctr"/>
          <a:lstStyle/>
          <a:p>
            <a:pPr algn="l" indent="0" marL="0">
              <a:spcAft>
                <a:spcPts val="400"/>
              </a:spcAft>
              <a:buNone/>
            </a:pPr>
            <a:r>
              <a:rPr lang="en-US" sz="1500" b="1" dirty="0">
                <a:solidFill>
                  <a:srgbClr val="0E1A2B"/>
                </a:solidFill>
                <a:latin typeface="Calibri" pitchFamily="34" charset="0"/>
                <a:ea typeface="Calibri" pitchFamily="34" charset="-122"/>
                <a:cs typeface="Calibri" pitchFamily="34" charset="-120"/>
              </a:rPr>
              <a:t>Crawler and evaluation</a:t>
            </a:r>
            <a:endParaRPr lang="en-US" sz="1500" dirty="0"/>
          </a:p>
        </p:txBody>
      </p:sp>
      <p:sp>
        <p:nvSpPr>
          <p:cNvPr id="36" name="Text 34"/>
          <p:cNvSpPr txBox="1"/>
          <p:nvPr/>
        </p:nvSpPr>
        <p:spPr>
          <a:xfrm>
            <a:off x="4572000" y="5330952"/>
            <a:ext cx="5394960" cy="566928"/>
          </a:xfrm>
          <a:prstGeom prst="rect">
            <a:avLst/>
          </a:prstGeom>
          <a:noFill/>
          <a:ln/>
        </p:spPr>
        <p:txBody>
          <a:bodyPr wrap="square" lIns="0" tIns="0" rIns="0" bIns="0" rtlCol="0" anchor="ctr"/>
          <a:lstStyle/>
          <a:p>
            <a:pPr algn="l" indent="0" marL="0">
              <a:spcAft>
                <a:spcPts val="400"/>
              </a:spcAft>
              <a:buNone/>
            </a:pPr>
            <a:r>
              <a:rPr lang="en-US" sz="1350" dirty="0">
                <a:solidFill>
                  <a:srgbClr val="1F2937"/>
                </a:solidFill>
                <a:latin typeface="Calibri" pitchFamily="34" charset="0"/>
                <a:ea typeface="Calibri" pitchFamily="34" charset="-122"/>
                <a:cs typeface="Calibri" pitchFamily="34" charset="-120"/>
              </a:rPr>
              <a:t>helios_index, LanceDB / Memgraph, scoring</a:t>
            </a:r>
            <a:endParaRPr lang="en-US" sz="1350" dirty="0"/>
          </a:p>
        </p:txBody>
      </p:sp>
      <p:sp>
        <p:nvSpPr>
          <p:cNvPr id="37" name="Text 35"/>
          <p:cNvSpPr txBox="1"/>
          <p:nvPr/>
        </p:nvSpPr>
        <p:spPr>
          <a:xfrm>
            <a:off x="9966960" y="5330952"/>
            <a:ext cx="1463040" cy="566928"/>
          </a:xfrm>
          <a:prstGeom prst="rect">
            <a:avLst/>
          </a:prstGeom>
          <a:noFill/>
          <a:ln/>
        </p:spPr>
        <p:txBody>
          <a:bodyPr wrap="square" lIns="0" tIns="0" rIns="0" bIns="0" rtlCol="0" anchor="ctr"/>
          <a:lstStyle/>
          <a:p>
            <a:pPr algn="r" indent="0" marL="0">
              <a:spcAft>
                <a:spcPts val="400"/>
              </a:spcAft>
              <a:buNone/>
            </a:pPr>
            <a:r>
              <a:rPr lang="en-US" sz="1350" b="1" dirty="0">
                <a:solidFill>
                  <a:srgbClr val="0E1A2B"/>
                </a:solidFill>
                <a:latin typeface="Calibri" pitchFamily="34" charset="0"/>
                <a:ea typeface="Calibri" pitchFamily="34" charset="-122"/>
                <a:cs typeface="Calibri" pitchFamily="34" charset="-120"/>
              </a:rPr>
              <a:t>Later</a:t>
            </a:r>
            <a:endParaRPr lang="en-US" sz="13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0E1A2B"/>
        </a:solidFill>
      </p:bgPr>
    </p:bg>
    <p:spTree>
      <p:nvGrpSpPr>
        <p:cNvPr id="1" name=""/>
        <p:cNvGrpSpPr/>
        <p:nvPr/>
      </p:nvGrpSpPr>
      <p:grpSpPr>
        <a:xfrm>
          <a:off x="0" y="0"/>
          <a:ext cx="0" cy="0"/>
          <a:chOff x="0" y="0"/>
          <a:chExt cx="0" cy="0"/>
        </a:xfrm>
      </p:grpSpPr>
      <p:sp>
        <p:nvSpPr>
          <p:cNvPr id="2" name="Shape 0"/>
          <p:cNvSpPr/>
          <p:nvPr/>
        </p:nvSpPr>
        <p:spPr>
          <a:xfrm>
            <a:off x="8595360" y="3291840"/>
            <a:ext cx="5120640" cy="5120640"/>
          </a:xfrm>
          <a:prstGeom prst="ellipse">
            <a:avLst/>
          </a:prstGeom>
          <a:solidFill>
            <a:srgbClr val="1C2F4A"/>
          </a:solidFill>
          <a:ln w="12700">
            <a:solidFill>
              <a:srgbClr val="1C2F4A"/>
            </a:solidFill>
            <a:prstDash val="solid"/>
          </a:ln>
        </p:spPr>
      </p:sp>
      <p:sp>
        <p:nvSpPr>
          <p:cNvPr id="3" name="Text 1"/>
          <p:cNvSpPr txBox="1"/>
          <p:nvPr/>
        </p:nvSpPr>
        <p:spPr>
          <a:xfrm>
            <a:off x="731520" y="731520"/>
            <a:ext cx="73152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Takeaways</a:t>
            </a:r>
            <a:endParaRPr lang="en-US" sz="4000" dirty="0"/>
          </a:p>
        </p:txBody>
      </p:sp>
      <p:sp>
        <p:nvSpPr>
          <p:cNvPr id="4" name="Shape 2"/>
          <p:cNvSpPr/>
          <p:nvPr/>
        </p:nvSpPr>
        <p:spPr>
          <a:xfrm>
            <a:off x="731520" y="1828800"/>
            <a:ext cx="457200" cy="457200"/>
          </a:xfrm>
          <a:prstGeom prst="ellipse">
            <a:avLst/>
          </a:prstGeom>
          <a:solidFill>
            <a:srgbClr val="F2A541"/>
          </a:solidFill>
          <a:ln w="12700">
            <a:solidFill>
              <a:srgbClr val="F2A541"/>
            </a:solidFill>
            <a:prstDash val="solid"/>
          </a:ln>
        </p:spPr>
      </p:sp>
      <p:pic>
        <p:nvPicPr>
          <p:cNvPr id="5" name="Image 0" descr="preencoded.png">    </p:cNvPr>
          <p:cNvPicPr>
            <a:picLocks noChangeAspect="1"/>
          </p:cNvPicPr>
          <p:nvPr/>
        </p:nvPicPr>
        <p:blipFill>
          <a:blip r:embed="rId1"/>
          <a:stretch>
            <a:fillRect/>
          </a:stretch>
        </p:blipFill>
        <p:spPr>
          <a:xfrm>
            <a:off x="841248" y="1938528"/>
            <a:ext cx="237744" cy="237744"/>
          </a:xfrm>
          <a:prstGeom prst="rect">
            <a:avLst/>
          </a:prstGeom>
        </p:spPr>
      </p:pic>
      <p:sp>
        <p:nvSpPr>
          <p:cNvPr id="6" name="Text 3"/>
          <p:cNvSpPr txBox="1"/>
          <p:nvPr/>
        </p:nvSpPr>
        <p:spPr>
          <a:xfrm>
            <a:off x="1417320" y="1764792"/>
            <a:ext cx="7680960" cy="960120"/>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LLMs answer business questions far better when meaning, joins and metrics are written down, and the published evidence agrees.</a:t>
            </a:r>
            <a:endParaRPr lang="en-US" sz="1700" dirty="0"/>
          </a:p>
        </p:txBody>
      </p:sp>
      <p:sp>
        <p:nvSpPr>
          <p:cNvPr id="7" name="Shape 4"/>
          <p:cNvSpPr/>
          <p:nvPr/>
        </p:nvSpPr>
        <p:spPr>
          <a:xfrm>
            <a:off x="731520" y="2926080"/>
            <a:ext cx="457200" cy="457200"/>
          </a:xfrm>
          <a:prstGeom prst="ellipse">
            <a:avLst/>
          </a:prstGeom>
          <a:solidFill>
            <a:srgbClr val="F2A541"/>
          </a:solidFill>
          <a:ln w="12700">
            <a:solidFill>
              <a:srgbClr val="F2A541"/>
            </a:solidFill>
            <a:prstDash val="solid"/>
          </a:ln>
        </p:spPr>
      </p:sp>
      <p:pic>
        <p:nvPicPr>
          <p:cNvPr id="8" name="Image 1" descr="preencoded.png">    </p:cNvPr>
          <p:cNvPicPr>
            <a:picLocks noChangeAspect="1"/>
          </p:cNvPicPr>
          <p:nvPr/>
        </p:nvPicPr>
        <p:blipFill>
          <a:blip r:embed="rId2"/>
          <a:stretch>
            <a:fillRect/>
          </a:stretch>
        </p:blipFill>
        <p:spPr>
          <a:xfrm>
            <a:off x="841248" y="3035808"/>
            <a:ext cx="237744" cy="237744"/>
          </a:xfrm>
          <a:prstGeom prst="rect">
            <a:avLst/>
          </a:prstGeom>
        </p:spPr>
      </p:pic>
      <p:sp>
        <p:nvSpPr>
          <p:cNvPr id="9" name="Text 5"/>
          <p:cNvSpPr txBox="1"/>
          <p:nvPr/>
        </p:nvSpPr>
        <p:spPr>
          <a:xfrm>
            <a:off x="1417320" y="2862072"/>
            <a:ext cx="7680960" cy="960120"/>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Helios builds that meaning from evidence in the data, with a human approving every published layer.</a:t>
            </a:r>
            <a:endParaRPr lang="en-US" sz="1700" dirty="0"/>
          </a:p>
        </p:txBody>
      </p:sp>
      <p:sp>
        <p:nvSpPr>
          <p:cNvPr id="10" name="Shape 6"/>
          <p:cNvSpPr/>
          <p:nvPr/>
        </p:nvSpPr>
        <p:spPr>
          <a:xfrm>
            <a:off x="731520" y="4023360"/>
            <a:ext cx="457200" cy="457200"/>
          </a:xfrm>
          <a:prstGeom prst="ellipse">
            <a:avLst/>
          </a:prstGeom>
          <a:solidFill>
            <a:srgbClr val="F2A541"/>
          </a:solidFill>
          <a:ln w="12700">
            <a:solidFill>
              <a:srgbClr val="F2A541"/>
            </a:solidFill>
            <a:prstDash val="solid"/>
          </a:ln>
        </p:spPr>
      </p:sp>
      <p:pic>
        <p:nvPicPr>
          <p:cNvPr id="11" name="Image 2" descr="preencoded.png">    </p:cNvPr>
          <p:cNvPicPr>
            <a:picLocks noChangeAspect="1"/>
          </p:cNvPicPr>
          <p:nvPr/>
        </p:nvPicPr>
        <p:blipFill>
          <a:blip r:embed="rId3"/>
          <a:stretch>
            <a:fillRect/>
          </a:stretch>
        </p:blipFill>
        <p:spPr>
          <a:xfrm>
            <a:off x="841248" y="4133088"/>
            <a:ext cx="237744" cy="237744"/>
          </a:xfrm>
          <a:prstGeom prst="rect">
            <a:avLst/>
          </a:prstGeom>
        </p:spPr>
      </p:pic>
      <p:sp>
        <p:nvSpPr>
          <p:cNvPr id="12" name="Text 7"/>
          <p:cNvSpPr txBox="1"/>
          <p:nvPr/>
        </p:nvSpPr>
        <p:spPr>
          <a:xfrm>
            <a:off x="1417320" y="3959352"/>
            <a:ext cx="7680960" cy="960120"/>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Agents use governed MCP tools: no raw SQL, the user's own data permissions, and a traceable answer path.</a:t>
            </a:r>
            <a:endParaRPr lang="en-US" sz="1700" dirty="0"/>
          </a:p>
        </p:txBody>
      </p:sp>
      <p:sp>
        <p:nvSpPr>
          <p:cNvPr id="13" name="Shape 8"/>
          <p:cNvSpPr/>
          <p:nvPr/>
        </p:nvSpPr>
        <p:spPr>
          <a:xfrm>
            <a:off x="731520" y="5120640"/>
            <a:ext cx="457200" cy="457200"/>
          </a:xfrm>
          <a:prstGeom prst="ellipse">
            <a:avLst/>
          </a:prstGeom>
          <a:solidFill>
            <a:srgbClr val="F2A541"/>
          </a:solidFill>
          <a:ln w="12700">
            <a:solidFill>
              <a:srgbClr val="F2A541"/>
            </a:solidFill>
            <a:prstDash val="solid"/>
          </a:ln>
        </p:spPr>
      </p:sp>
      <p:pic>
        <p:nvPicPr>
          <p:cNvPr id="14" name="Image 3" descr="preencoded.png">    </p:cNvPr>
          <p:cNvPicPr>
            <a:picLocks noChangeAspect="1"/>
          </p:cNvPicPr>
          <p:nvPr/>
        </p:nvPicPr>
        <p:blipFill>
          <a:blip r:embed="rId4"/>
          <a:stretch>
            <a:fillRect/>
          </a:stretch>
        </p:blipFill>
        <p:spPr>
          <a:xfrm>
            <a:off x="841248" y="5230368"/>
            <a:ext cx="237744" cy="237744"/>
          </a:xfrm>
          <a:prstGeom prst="rect">
            <a:avLst/>
          </a:prstGeom>
        </p:spPr>
      </p:pic>
      <p:sp>
        <p:nvSpPr>
          <p:cNvPr id="15" name="Text 9"/>
          <p:cNvSpPr txBox="1"/>
          <p:nvPr/>
        </p:nvSpPr>
        <p:spPr>
          <a:xfrm>
            <a:off x="1417320" y="5056632"/>
            <a:ext cx="7680960" cy="960120"/>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Helios-DS gives us a synthetic enterprise with a hidden answer key, so understanding of documents, email, chat and media becomes measurable.</a:t>
            </a:r>
            <a:endParaRPr lang="en-US" sz="17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2600" b="1" dirty="0">
                <a:solidFill>
                  <a:srgbClr val="0E1A2B"/>
                </a:solidFill>
                <a:latin typeface="Cambria" pitchFamily="34" charset="0"/>
                <a:ea typeface="Cambria" pitchFamily="34" charset="-122"/>
                <a:cs typeface="Cambria" pitchFamily="34" charset="-120"/>
              </a:rPr>
              <a:t>Sources: research</a:t>
            </a:r>
            <a:endParaRPr lang="en-US" sz="2600" dirty="0"/>
          </a:p>
        </p:txBody>
      </p:sp>
      <p:sp>
        <p:nvSpPr>
          <p:cNvPr id="3" name="Text 1"/>
          <p:cNvSpPr txBox="1"/>
          <p:nvPr/>
        </p:nvSpPr>
        <p:spPr>
          <a:xfrm>
            <a:off x="548640" y="1234440"/>
            <a:ext cx="11064240" cy="5303520"/>
          </a:xfrm>
          <a:prstGeom prst="rect">
            <a:avLst/>
          </a:prstGeom>
          <a:noFill/>
          <a:ln/>
        </p:spPr>
        <p:txBody>
          <a:bodyPr wrap="square" lIns="0" tIns="0" rIns="0" bIns="0" rtlCol="0" anchor="t"/>
          <a:lstStyle/>
          <a:p>
            <a:pPr algn="l" indent="0" marL="0">
              <a:spcAft>
                <a:spcPts val="300"/>
              </a:spcAft>
              <a:buNone/>
            </a:pPr>
            <a:r>
              <a:rPr lang="en-US" sz="1100" dirty="0">
                <a:solidFill>
                  <a:srgbClr val="1F2937"/>
                </a:solidFill>
                <a:latin typeface="Calibri" pitchFamily="34" charset="0"/>
                <a:ea typeface="Calibri" pitchFamily="34" charset="-122"/>
                <a:cs typeface="Calibri" pitchFamily="34" charset="-120"/>
              </a:rPr>
              <a:t>Li et al. BIRD: Can LLM Already Serve as a Database Interface? NeurIPS 2023.  </a:t>
            </a:r>
            <a:pPr algn="l" indent="0" marL="0">
              <a:spcAft>
                <a:spcPts val="300"/>
              </a:spcAft>
              <a:buNone/>
            </a:pPr>
            <a:r>
              <a:rPr lang="en-US" sz="1000" dirty="0">
                <a:solidFill>
                  <a:srgbClr val="5B6472"/>
                </a:solidFill>
                <a:latin typeface="Calibri" pitchFamily="34" charset="0"/>
                <a:ea typeface="Calibri" pitchFamily="34" charset="-122"/>
                <a:cs typeface="Calibri" pitchFamily="34" charset="-120"/>
              </a:rPr>
              <a:t>arxiv.org/abs/2305.03111</a:t>
            </a:r>
            <a:endParaRPr lang="en-US" sz="1100" dirty="0"/>
          </a:p>
          <a:p>
            <a:pPr algn="l" indent="0" marL="0">
              <a:spcAft>
                <a:spcPts val="300"/>
              </a:spcAft>
              <a:buNone/>
            </a:pPr>
            <a:r>
              <a:rPr lang="en-US" sz="1100" dirty="0">
                <a:solidFill>
                  <a:srgbClr val="1F2937"/>
                </a:solidFill>
                <a:latin typeface="Calibri" pitchFamily="34" charset="0"/>
                <a:ea typeface="Calibri" pitchFamily="34" charset="-122"/>
                <a:cs typeface="Calibri" pitchFamily="34" charset="-120"/>
              </a:rPr>
              <a:t>Lei et al. Spider 2.0: Real-World Enterprise Text-to-SQL Workflows. ICLR 2025.  </a:t>
            </a:r>
            <a:pPr algn="l" indent="0" marL="0">
              <a:spcAft>
                <a:spcPts val="300"/>
              </a:spcAft>
              <a:buNone/>
            </a:pPr>
            <a:r>
              <a:rPr lang="en-US" sz="1000" dirty="0">
                <a:solidFill>
                  <a:srgbClr val="5B6472"/>
                </a:solidFill>
                <a:latin typeface="Calibri" pitchFamily="34" charset="0"/>
                <a:ea typeface="Calibri" pitchFamily="34" charset="-122"/>
                <a:cs typeface="Calibri" pitchFamily="34" charset="-120"/>
              </a:rPr>
              <a:t>arxiv.org/abs/2411.07763</a:t>
            </a:r>
            <a:endParaRPr lang="en-US" sz="1100" dirty="0"/>
          </a:p>
          <a:p>
            <a:pPr algn="l" indent="0" marL="0">
              <a:spcAft>
                <a:spcPts val="300"/>
              </a:spcAft>
              <a:buNone/>
            </a:pPr>
            <a:r>
              <a:rPr lang="en-US" sz="1100" dirty="0">
                <a:solidFill>
                  <a:srgbClr val="1F2937"/>
                </a:solidFill>
                <a:latin typeface="Calibri" pitchFamily="34" charset="0"/>
                <a:ea typeface="Calibri" pitchFamily="34" charset="-122"/>
                <a:cs typeface="Calibri" pitchFamily="34" charset="-120"/>
              </a:rPr>
              <a:t>Chen et al. (MIT). BEAVER: An Enterprise Benchmark for Text-to-SQL. v3, May 2026.  </a:t>
            </a:r>
            <a:pPr algn="l" indent="0" marL="0">
              <a:spcAft>
                <a:spcPts val="300"/>
              </a:spcAft>
              <a:buNone/>
            </a:pPr>
            <a:r>
              <a:rPr lang="en-US" sz="1000" dirty="0">
                <a:solidFill>
                  <a:srgbClr val="5B6472"/>
                </a:solidFill>
                <a:latin typeface="Calibri" pitchFamily="34" charset="0"/>
                <a:ea typeface="Calibri" pitchFamily="34" charset="-122"/>
                <a:cs typeface="Calibri" pitchFamily="34" charset="-120"/>
              </a:rPr>
              <a:t>arxiv.org/abs/2409.02038</a:t>
            </a:r>
            <a:endParaRPr lang="en-US" sz="1100" dirty="0"/>
          </a:p>
          <a:p>
            <a:pPr algn="l" indent="0" marL="0">
              <a:spcAft>
                <a:spcPts val="300"/>
              </a:spcAft>
              <a:buNone/>
            </a:pPr>
            <a:r>
              <a:rPr lang="en-US" sz="1100" dirty="0">
                <a:solidFill>
                  <a:srgbClr val="1F2937"/>
                </a:solidFill>
                <a:latin typeface="Calibri" pitchFamily="34" charset="0"/>
                <a:ea typeface="Calibri" pitchFamily="34" charset="-122"/>
                <a:cs typeface="Calibri" pitchFamily="34" charset="-120"/>
              </a:rPr>
              <a:t>Sequeda, Allemang, Jacob. Role of Knowledge Graphs on LLM Accuracy… 2023.  </a:t>
            </a:r>
            <a:pPr algn="l" indent="0" marL="0">
              <a:spcAft>
                <a:spcPts val="300"/>
              </a:spcAft>
              <a:buNone/>
            </a:pPr>
            <a:r>
              <a:rPr lang="en-US" sz="1000" dirty="0">
                <a:solidFill>
                  <a:srgbClr val="5B6472"/>
                </a:solidFill>
                <a:latin typeface="Calibri" pitchFamily="34" charset="0"/>
                <a:ea typeface="Calibri" pitchFamily="34" charset="-122"/>
                <a:cs typeface="Calibri" pitchFamily="34" charset="-120"/>
              </a:rPr>
              <a:t>arxiv.org/abs/2311.07509</a:t>
            </a:r>
            <a:endParaRPr lang="en-US" sz="1100" dirty="0"/>
          </a:p>
          <a:p>
            <a:pPr algn="l" indent="0" marL="0">
              <a:spcAft>
                <a:spcPts val="300"/>
              </a:spcAft>
              <a:buNone/>
            </a:pPr>
            <a:r>
              <a:rPr lang="en-US" sz="1100" dirty="0">
                <a:solidFill>
                  <a:srgbClr val="1F2937"/>
                </a:solidFill>
                <a:latin typeface="Calibri" pitchFamily="34" charset="0"/>
                <a:ea typeface="Calibri" pitchFamily="34" charset="-122"/>
                <a:cs typeface="Calibri" pitchFamily="34" charset="-120"/>
              </a:rPr>
              <a:t>Allemang, Sequeda. Increasing LLM Accuracy: Ontologies to the Rescue! 2024.  </a:t>
            </a:r>
            <a:pPr algn="l" indent="0" marL="0">
              <a:spcAft>
                <a:spcPts val="300"/>
              </a:spcAft>
              <a:buNone/>
            </a:pPr>
            <a:r>
              <a:rPr lang="en-US" sz="1000" dirty="0">
                <a:solidFill>
                  <a:srgbClr val="5B6472"/>
                </a:solidFill>
                <a:latin typeface="Calibri" pitchFamily="34" charset="0"/>
                <a:ea typeface="Calibri" pitchFamily="34" charset="-122"/>
                <a:cs typeface="Calibri" pitchFamily="34" charset="-120"/>
              </a:rPr>
              <a:t>arxiv.org/abs/2405.11706</a:t>
            </a:r>
            <a:endParaRPr lang="en-US" sz="1100" dirty="0"/>
          </a:p>
          <a:p>
            <a:pPr algn="l" indent="0" marL="0">
              <a:spcAft>
                <a:spcPts val="300"/>
              </a:spcAft>
              <a:buNone/>
            </a:pPr>
            <a:r>
              <a:rPr lang="en-US" sz="1100" dirty="0">
                <a:solidFill>
                  <a:srgbClr val="1F2937"/>
                </a:solidFill>
                <a:latin typeface="Calibri" pitchFamily="34" charset="0"/>
                <a:ea typeface="Calibri" pitchFamily="34" charset="-122"/>
                <a:cs typeface="Calibri" pitchFamily="34" charset="-120"/>
              </a:rPr>
              <a:t>Saparina, Lapata. AMBROSIA: Ambiguous Questions into Database Queries. NeurIPS 2024.  </a:t>
            </a:r>
            <a:pPr algn="l" indent="0" marL="0">
              <a:spcAft>
                <a:spcPts val="300"/>
              </a:spcAft>
              <a:buNone/>
            </a:pPr>
            <a:r>
              <a:rPr lang="en-US" sz="1000" dirty="0">
                <a:solidFill>
                  <a:srgbClr val="5B6472"/>
                </a:solidFill>
                <a:latin typeface="Calibri" pitchFamily="34" charset="0"/>
                <a:ea typeface="Calibri" pitchFamily="34" charset="-122"/>
                <a:cs typeface="Calibri" pitchFamily="34" charset="-120"/>
              </a:rPr>
              <a:t>arxiv.org/abs/2406.19073</a:t>
            </a:r>
            <a:endParaRPr lang="en-US" sz="1100" dirty="0"/>
          </a:p>
          <a:p>
            <a:pPr algn="l" indent="0" marL="0">
              <a:spcAft>
                <a:spcPts val="300"/>
              </a:spcAft>
              <a:buNone/>
            </a:pPr>
            <a:r>
              <a:rPr lang="en-US" sz="1100" dirty="0">
                <a:solidFill>
                  <a:srgbClr val="1F2937"/>
                </a:solidFill>
                <a:latin typeface="Calibri" pitchFamily="34" charset="0"/>
                <a:ea typeface="Calibri" pitchFamily="34" charset="-122"/>
                <a:cs typeface="Calibri" pitchFamily="34" charset="-120"/>
              </a:rPr>
              <a:t>Maamari et al. The Death of Schema Linking? 2024.  </a:t>
            </a:r>
            <a:pPr algn="l" indent="0" marL="0">
              <a:spcAft>
                <a:spcPts val="300"/>
              </a:spcAft>
              <a:buNone/>
            </a:pPr>
            <a:r>
              <a:rPr lang="en-US" sz="1000" dirty="0">
                <a:solidFill>
                  <a:srgbClr val="5B6472"/>
                </a:solidFill>
                <a:latin typeface="Calibri" pitchFamily="34" charset="0"/>
                <a:ea typeface="Calibri" pitchFamily="34" charset="-122"/>
                <a:cs typeface="Calibri" pitchFamily="34" charset="-120"/>
              </a:rPr>
              <a:t>arxiv.org/abs/2408.07702</a:t>
            </a:r>
            <a:endParaRPr lang="en-US" sz="1100" dirty="0"/>
          </a:p>
          <a:p>
            <a:pPr algn="l" indent="0" marL="0">
              <a:spcAft>
                <a:spcPts val="300"/>
              </a:spcAft>
              <a:buNone/>
            </a:pPr>
            <a:r>
              <a:rPr lang="en-US" sz="1100" dirty="0">
                <a:solidFill>
                  <a:srgbClr val="1F2937"/>
                </a:solidFill>
                <a:latin typeface="Calibri" pitchFamily="34" charset="0"/>
                <a:ea typeface="Calibri" pitchFamily="34" charset="-122"/>
                <a:cs typeface="Calibri" pitchFamily="34" charset="-120"/>
              </a:rPr>
              <a:t>Liu et al. Lost in the Middle. TACL 2024.  </a:t>
            </a:r>
            <a:pPr algn="l" indent="0" marL="0">
              <a:spcAft>
                <a:spcPts val="300"/>
              </a:spcAft>
              <a:buNone/>
            </a:pPr>
            <a:r>
              <a:rPr lang="en-US" sz="1000" dirty="0">
                <a:solidFill>
                  <a:srgbClr val="5B6472"/>
                </a:solidFill>
                <a:latin typeface="Calibri" pitchFamily="34" charset="0"/>
                <a:ea typeface="Calibri" pitchFamily="34" charset="-122"/>
                <a:cs typeface="Calibri" pitchFamily="34" charset="-120"/>
              </a:rPr>
              <a:t>arxiv.org/abs/2307.03172</a:t>
            </a:r>
            <a:endParaRPr lang="en-US" sz="1100" dirty="0"/>
          </a:p>
          <a:p>
            <a:pPr algn="l" indent="0" marL="0">
              <a:spcAft>
                <a:spcPts val="300"/>
              </a:spcAft>
              <a:buNone/>
            </a:pPr>
            <a:r>
              <a:rPr lang="en-US" sz="1100" dirty="0">
                <a:solidFill>
                  <a:srgbClr val="1F2937"/>
                </a:solidFill>
                <a:latin typeface="Calibri" pitchFamily="34" charset="0"/>
                <a:ea typeface="Calibri" pitchFamily="34" charset="-122"/>
                <a:cs typeface="Calibri" pitchFamily="34" charset="-120"/>
              </a:rPr>
              <a:t>Modarressi et al. NoLiMa: Long-Context Evaluation Beyond Literal Matching. ICML 2025.  </a:t>
            </a:r>
            <a:pPr algn="l" indent="0" marL="0">
              <a:spcAft>
                <a:spcPts val="300"/>
              </a:spcAft>
              <a:buNone/>
            </a:pPr>
            <a:r>
              <a:rPr lang="en-US" sz="1000" dirty="0">
                <a:solidFill>
                  <a:srgbClr val="5B6472"/>
                </a:solidFill>
                <a:latin typeface="Calibri" pitchFamily="34" charset="0"/>
                <a:ea typeface="Calibri" pitchFamily="34" charset="-122"/>
                <a:cs typeface="Calibri" pitchFamily="34" charset="-120"/>
              </a:rPr>
              <a:t>arxiv.org/abs/2502.05167</a:t>
            </a:r>
            <a:endParaRPr lang="en-US" sz="1100" dirty="0"/>
          </a:p>
          <a:p>
            <a:pPr algn="l" indent="0" marL="0">
              <a:spcAft>
                <a:spcPts val="300"/>
              </a:spcAft>
              <a:buNone/>
            </a:pPr>
            <a:r>
              <a:rPr lang="en-US" sz="1100" dirty="0">
                <a:solidFill>
                  <a:srgbClr val="1F2937"/>
                </a:solidFill>
                <a:latin typeface="Calibri" pitchFamily="34" charset="0"/>
                <a:ea typeface="Calibri" pitchFamily="34" charset="-122"/>
                <a:cs typeface="Calibri" pitchFamily="34" charset="-120"/>
              </a:rPr>
              <a:t>Li et al. RAG or Long-Context LLMs? EMNLP 2024 Industry.  </a:t>
            </a:r>
            <a:pPr algn="l" indent="0" marL="0">
              <a:spcAft>
                <a:spcPts val="300"/>
              </a:spcAft>
              <a:buNone/>
            </a:pPr>
            <a:r>
              <a:rPr lang="en-US" sz="1000" dirty="0">
                <a:solidFill>
                  <a:srgbClr val="5B6472"/>
                </a:solidFill>
                <a:latin typeface="Calibri" pitchFamily="34" charset="0"/>
                <a:ea typeface="Calibri" pitchFamily="34" charset="-122"/>
                <a:cs typeface="Calibri" pitchFamily="34" charset="-120"/>
              </a:rPr>
              <a:t>arxiv.org/abs/2407.16833</a:t>
            </a:r>
            <a:endParaRPr lang="en-US" sz="1100" dirty="0"/>
          </a:p>
          <a:p>
            <a:pPr algn="l" indent="0" marL="0">
              <a:spcAft>
                <a:spcPts val="300"/>
              </a:spcAft>
              <a:buNone/>
            </a:pPr>
            <a:r>
              <a:rPr lang="en-US" sz="1100" dirty="0">
                <a:solidFill>
                  <a:srgbClr val="1F2937"/>
                </a:solidFill>
                <a:latin typeface="Calibri" pitchFamily="34" charset="0"/>
                <a:ea typeface="Calibri" pitchFamily="34" charset="-122"/>
                <a:cs typeface="Calibri" pitchFamily="34" charset="-120"/>
              </a:rPr>
              <a:t>Edge et al. From Local to Global: A Graph RAG Approach. Microsoft Research, 2024.  </a:t>
            </a:r>
            <a:pPr algn="l" indent="0" marL="0">
              <a:spcAft>
                <a:spcPts val="300"/>
              </a:spcAft>
              <a:buNone/>
            </a:pPr>
            <a:r>
              <a:rPr lang="en-US" sz="1000" dirty="0">
                <a:solidFill>
                  <a:srgbClr val="5B6472"/>
                </a:solidFill>
                <a:latin typeface="Calibri" pitchFamily="34" charset="0"/>
                <a:ea typeface="Calibri" pitchFamily="34" charset="-122"/>
                <a:cs typeface="Calibri" pitchFamily="34" charset="-120"/>
              </a:rPr>
              <a:t>arxiv.org/abs/2404.16130</a:t>
            </a:r>
            <a:endParaRPr lang="en-US" sz="1100" dirty="0"/>
          </a:p>
          <a:p>
            <a:pPr algn="l" indent="0" marL="0">
              <a:spcAft>
                <a:spcPts val="300"/>
              </a:spcAft>
              <a:buNone/>
            </a:pPr>
            <a:r>
              <a:rPr lang="en-US" sz="1100" dirty="0">
                <a:solidFill>
                  <a:srgbClr val="1F2937"/>
                </a:solidFill>
                <a:latin typeface="Calibri" pitchFamily="34" charset="0"/>
                <a:ea typeface="Calibri" pitchFamily="34" charset="-122"/>
                <a:cs typeface="Calibri" pitchFamily="34" charset="-120"/>
              </a:rPr>
              <a:t>Magesh et al. Hallucination-Free? Legal AI research tools. Stanford/Yale, 2024.  </a:t>
            </a:r>
            <a:pPr algn="l" indent="0" marL="0">
              <a:spcAft>
                <a:spcPts val="300"/>
              </a:spcAft>
              <a:buNone/>
            </a:pPr>
            <a:r>
              <a:rPr lang="en-US" sz="1000" dirty="0">
                <a:solidFill>
                  <a:srgbClr val="5B6472"/>
                </a:solidFill>
                <a:latin typeface="Calibri" pitchFamily="34" charset="0"/>
                <a:ea typeface="Calibri" pitchFamily="34" charset="-122"/>
                <a:cs typeface="Calibri" pitchFamily="34" charset="-120"/>
              </a:rPr>
              <a:t>arxiv.org/abs/2405.20362</a:t>
            </a:r>
            <a:endParaRPr lang="en-US" sz="1100" dirty="0"/>
          </a:p>
          <a:p>
            <a:pPr algn="l" indent="0" marL="0">
              <a:spcAft>
                <a:spcPts val="300"/>
              </a:spcAft>
              <a:buNone/>
            </a:pPr>
            <a:r>
              <a:rPr lang="en-US" sz="1100" dirty="0">
                <a:solidFill>
                  <a:srgbClr val="1F2937"/>
                </a:solidFill>
                <a:latin typeface="Calibri" pitchFamily="34" charset="0"/>
                <a:ea typeface="Calibri" pitchFamily="34" charset="-122"/>
                <a:cs typeface="Calibri" pitchFamily="34" charset="-120"/>
              </a:rPr>
              <a:t>Patil et al. Gorilla: LLM Connected with Massive APIs. 2023.  </a:t>
            </a:r>
            <a:pPr algn="l" indent="0" marL="0">
              <a:spcAft>
                <a:spcPts val="300"/>
              </a:spcAft>
              <a:buNone/>
            </a:pPr>
            <a:r>
              <a:rPr lang="en-US" sz="1000" dirty="0">
                <a:solidFill>
                  <a:srgbClr val="5B6472"/>
                </a:solidFill>
                <a:latin typeface="Calibri" pitchFamily="34" charset="0"/>
                <a:ea typeface="Calibri" pitchFamily="34" charset="-122"/>
                <a:cs typeface="Calibri" pitchFamily="34" charset="-120"/>
              </a:rPr>
              <a:t>arxiv.org/abs/2305.15334</a:t>
            </a:r>
            <a:endParaRPr lang="en-US" sz="1100" dirty="0"/>
          </a:p>
          <a:p>
            <a:pPr algn="l" indent="0" marL="0">
              <a:spcAft>
                <a:spcPts val="300"/>
              </a:spcAft>
              <a:buNone/>
            </a:pPr>
            <a:r>
              <a:rPr lang="en-US" sz="1100" dirty="0">
                <a:solidFill>
                  <a:srgbClr val="1F2937"/>
                </a:solidFill>
                <a:latin typeface="Calibri" pitchFamily="34" charset="0"/>
                <a:ea typeface="Calibri" pitchFamily="34" charset="-122"/>
                <a:cs typeface="Calibri" pitchFamily="34" charset="-120"/>
              </a:rPr>
              <a:t>Yao et al. ReAct. ICLR 2023.  </a:t>
            </a:r>
            <a:pPr algn="l" indent="0" marL="0">
              <a:spcAft>
                <a:spcPts val="300"/>
              </a:spcAft>
              <a:buNone/>
            </a:pPr>
            <a:r>
              <a:rPr lang="en-US" sz="1000" dirty="0">
                <a:solidFill>
                  <a:srgbClr val="5B6472"/>
                </a:solidFill>
                <a:latin typeface="Calibri" pitchFamily="34" charset="0"/>
                <a:ea typeface="Calibri" pitchFamily="34" charset="-122"/>
                <a:cs typeface="Calibri" pitchFamily="34" charset="-120"/>
              </a:rPr>
              <a:t>arxiv.org/abs/2210.03629</a:t>
            </a:r>
            <a:endParaRPr lang="en-US" sz="1100" dirty="0"/>
          </a:p>
          <a:p>
            <a:pPr algn="l" indent="0" marL="0">
              <a:spcAft>
                <a:spcPts val="300"/>
              </a:spcAft>
              <a:buNone/>
            </a:pPr>
            <a:r>
              <a:rPr lang="en-US" sz="1100" dirty="0">
                <a:solidFill>
                  <a:srgbClr val="1F2937"/>
                </a:solidFill>
                <a:latin typeface="Calibri" pitchFamily="34" charset="0"/>
                <a:ea typeface="Calibri" pitchFamily="34" charset="-122"/>
                <a:cs typeface="Calibri" pitchFamily="34" charset="-120"/>
              </a:rPr>
              <a:t>Chen et al. Teaching LLMs to Self-Debug. ICLR 2024.  </a:t>
            </a:r>
            <a:pPr algn="l" indent="0" marL="0">
              <a:spcAft>
                <a:spcPts val="300"/>
              </a:spcAft>
              <a:buNone/>
            </a:pPr>
            <a:r>
              <a:rPr lang="en-US" sz="1000" dirty="0">
                <a:solidFill>
                  <a:srgbClr val="5B6472"/>
                </a:solidFill>
                <a:latin typeface="Calibri" pitchFamily="34" charset="0"/>
                <a:ea typeface="Calibri" pitchFamily="34" charset="-122"/>
                <a:cs typeface="Calibri" pitchFamily="34" charset="-120"/>
              </a:rPr>
              <a:t>arxiv.org/abs/2304.05128</a:t>
            </a:r>
            <a:endParaRPr lang="en-US" sz="1100" dirty="0"/>
          </a:p>
          <a:p>
            <a:pPr algn="l" indent="0" marL="0">
              <a:spcAft>
                <a:spcPts val="300"/>
              </a:spcAft>
              <a:buNone/>
            </a:pPr>
            <a:r>
              <a:rPr lang="en-US" sz="1100" dirty="0">
                <a:solidFill>
                  <a:srgbClr val="1F2937"/>
                </a:solidFill>
                <a:latin typeface="Calibri" pitchFamily="34" charset="0"/>
                <a:ea typeface="Calibri" pitchFamily="34" charset="-122"/>
                <a:cs typeface="Calibri" pitchFamily="34" charset="-120"/>
              </a:rPr>
              <a:t>Basu et al. (IBM). NESTFUL: Nested Sequences of API Calls. 2024.  </a:t>
            </a:r>
            <a:pPr algn="l" indent="0" marL="0">
              <a:spcAft>
                <a:spcPts val="300"/>
              </a:spcAft>
              <a:buNone/>
            </a:pPr>
            <a:r>
              <a:rPr lang="en-US" sz="1000" dirty="0">
                <a:solidFill>
                  <a:srgbClr val="5B6472"/>
                </a:solidFill>
                <a:latin typeface="Calibri" pitchFamily="34" charset="0"/>
                <a:ea typeface="Calibri" pitchFamily="34" charset="-122"/>
                <a:cs typeface="Calibri" pitchFamily="34" charset="-120"/>
              </a:rPr>
              <a:t>arxiv.org/abs/2409.03797</a:t>
            </a:r>
            <a:endParaRPr lang="en-US" sz="11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822960"/>
          </a:xfrm>
          <a:prstGeom prst="rect">
            <a:avLst/>
          </a:prstGeom>
          <a:noFill/>
          <a:ln/>
        </p:spPr>
        <p:txBody>
          <a:bodyPr wrap="square" lIns="0" tIns="0" rIns="0" bIns="0" rtlCol="0" anchor="ctr">
            <a:normAutofit/>
          </a:bodyPr>
          <a:lstStyle/>
          <a:p>
            <a:pPr indent="0" marL="0">
              <a:buNone/>
            </a:pPr>
            <a:r>
              <a:rPr lang="en-US" sz="2600" b="1" dirty="0">
                <a:solidFill>
                  <a:srgbClr val="0E1A2B"/>
                </a:solidFill>
                <a:latin typeface="Cambria" pitchFamily="34" charset="0"/>
                <a:ea typeface="Cambria" pitchFamily="34" charset="-122"/>
                <a:cs typeface="Cambria" pitchFamily="34" charset="-120"/>
              </a:rPr>
              <a:t>Sources: vendor studies and Helios documentation</a:t>
            </a:r>
            <a:endParaRPr lang="en-US" sz="2600" dirty="0"/>
          </a:p>
        </p:txBody>
      </p:sp>
      <p:sp>
        <p:nvSpPr>
          <p:cNvPr id="3" name="Text 1"/>
          <p:cNvSpPr txBox="1"/>
          <p:nvPr/>
        </p:nvSpPr>
        <p:spPr>
          <a:xfrm>
            <a:off x="548640" y="1234440"/>
            <a:ext cx="11064240" cy="5303520"/>
          </a:xfrm>
          <a:prstGeom prst="rect">
            <a:avLst/>
          </a:prstGeom>
          <a:noFill/>
          <a:ln/>
        </p:spPr>
        <p:txBody>
          <a:bodyPr wrap="square" lIns="0" tIns="0" rIns="0" bIns="0" rtlCol="0" anchor="t"/>
          <a:lstStyle/>
          <a:p>
            <a:pPr algn="l" indent="0" marL="0">
              <a:spcAft>
                <a:spcPts val="300"/>
              </a:spcAft>
              <a:buNone/>
            </a:pPr>
            <a:r>
              <a:rPr lang="en-US" sz="1100" dirty="0">
                <a:solidFill>
                  <a:srgbClr val="1F2937"/>
                </a:solidFill>
                <a:latin typeface="Calibri" pitchFamily="34" charset="0"/>
                <a:ea typeface="Calibri" pitchFamily="34" charset="-122"/>
                <a:cs typeface="Calibri" pitchFamily="34" charset="-120"/>
              </a:rPr>
              <a:t>[Vendor] Ganz, Perigaud (dbt Labs). Semantic Layer vs Text-to-SQL: 2026 Benchmark Update.  </a:t>
            </a:r>
            <a:pPr algn="l" indent="0" marL="0">
              <a:spcAft>
                <a:spcPts val="300"/>
              </a:spcAft>
              <a:buNone/>
            </a:pPr>
            <a:r>
              <a:rPr lang="en-US" sz="1000" dirty="0">
                <a:solidFill>
                  <a:srgbClr val="5B6472"/>
                </a:solidFill>
                <a:latin typeface="Calibri" pitchFamily="34" charset="0"/>
                <a:ea typeface="Calibri" pitchFamily="34" charset="-122"/>
                <a:cs typeface="Calibri" pitchFamily="34" charset="-120"/>
              </a:rPr>
              <a:t>docs.getdbt.com/blog/semantic-layer-vs-text-to-sql-2026</a:t>
            </a:r>
            <a:endParaRPr lang="en-US" sz="1100" dirty="0"/>
          </a:p>
          <a:p>
            <a:pPr algn="l" indent="0" marL="0">
              <a:spcAft>
                <a:spcPts val="300"/>
              </a:spcAft>
              <a:buNone/>
            </a:pPr>
            <a:r>
              <a:rPr lang="en-US" sz="1100" dirty="0">
                <a:solidFill>
                  <a:srgbClr val="1F2937"/>
                </a:solidFill>
                <a:latin typeface="Calibri" pitchFamily="34" charset="0"/>
                <a:ea typeface="Calibri" pitchFamily="34" charset="-122"/>
                <a:cs typeface="Calibri" pitchFamily="34" charset="-120"/>
              </a:rPr>
              <a:t>[Vendor] Ganz (dbt Labs). Semantic Layer as the Data Interface for LLMs. 2023.  </a:t>
            </a:r>
            <a:pPr algn="l" indent="0" marL="0">
              <a:spcAft>
                <a:spcPts val="300"/>
              </a:spcAft>
              <a:buNone/>
            </a:pPr>
            <a:r>
              <a:rPr lang="en-US" sz="1000" dirty="0">
                <a:solidFill>
                  <a:srgbClr val="5B6472"/>
                </a:solidFill>
                <a:latin typeface="Calibri" pitchFamily="34" charset="0"/>
                <a:ea typeface="Calibri" pitchFamily="34" charset="-122"/>
                <a:cs typeface="Calibri" pitchFamily="34" charset="-120"/>
              </a:rPr>
              <a:t>getdbt.com/blog/semantic-layer-as-the-data-interface-for-llms</a:t>
            </a:r>
            <a:endParaRPr lang="en-US" sz="1100" dirty="0"/>
          </a:p>
          <a:p>
            <a:pPr algn="l" indent="0" marL="0">
              <a:spcAft>
                <a:spcPts val="300"/>
              </a:spcAft>
              <a:buNone/>
            </a:pPr>
            <a:r>
              <a:rPr lang="en-US" sz="1100" dirty="0">
                <a:solidFill>
                  <a:srgbClr val="1F2937"/>
                </a:solidFill>
                <a:latin typeface="Calibri" pitchFamily="34" charset="0"/>
                <a:ea typeface="Calibri" pitchFamily="34" charset="-122"/>
                <a:cs typeface="Calibri" pitchFamily="34" charset="-120"/>
              </a:rPr>
              <a:t>[Vendor] Rumiantsau, Fokeev (Cube). Semantic Layers for Reliable LLM-Powered Analytics. 2026.  </a:t>
            </a:r>
            <a:pPr algn="l" indent="0" marL="0">
              <a:spcAft>
                <a:spcPts val="300"/>
              </a:spcAft>
              <a:buNone/>
            </a:pPr>
            <a:r>
              <a:rPr lang="en-US" sz="1000" dirty="0">
                <a:solidFill>
                  <a:srgbClr val="5B6472"/>
                </a:solidFill>
                <a:latin typeface="Calibri" pitchFamily="34" charset="0"/>
                <a:ea typeface="Calibri" pitchFamily="34" charset="-122"/>
                <a:cs typeface="Calibri" pitchFamily="34" charset="-120"/>
              </a:rPr>
              <a:t>arxiv.org/abs/2604.25149</a:t>
            </a:r>
            <a:endParaRPr lang="en-US" sz="1100" dirty="0"/>
          </a:p>
          <a:p>
            <a:pPr algn="l" indent="0" marL="0">
              <a:spcAft>
                <a:spcPts val="300"/>
              </a:spcAft>
              <a:buNone/>
            </a:pPr>
            <a:r>
              <a:rPr lang="en-US" sz="1100" dirty="0">
                <a:solidFill>
                  <a:srgbClr val="1F2937"/>
                </a:solidFill>
                <a:latin typeface="Calibri" pitchFamily="34" charset="0"/>
                <a:ea typeface="Calibri" pitchFamily="34" charset="-122"/>
                <a:cs typeface="Calibri" pitchFamily="34" charset="-120"/>
              </a:rPr>
              <a:t>[Vendor] Zayats (Snowflake). Agentic Semantic Model Improvement. 2025.  </a:t>
            </a:r>
            <a:pPr algn="l" indent="0" marL="0">
              <a:spcAft>
                <a:spcPts val="300"/>
              </a:spcAft>
              <a:buNone/>
            </a:pPr>
            <a:r>
              <a:rPr lang="en-US" sz="1000" dirty="0">
                <a:solidFill>
                  <a:srgbClr val="5B6472"/>
                </a:solidFill>
                <a:latin typeface="Calibri" pitchFamily="34" charset="0"/>
                <a:ea typeface="Calibri" pitchFamily="34" charset="-122"/>
                <a:cs typeface="Calibri" pitchFamily="34" charset="-120"/>
              </a:rPr>
              <a:t>snowflake.com/en/blog/engineering/agentic-semantic-model-text-to-sql/</a:t>
            </a:r>
            <a:endParaRPr lang="en-US" sz="1100" dirty="0"/>
          </a:p>
          <a:p>
            <a:pPr algn="l" indent="0" marL="0">
              <a:spcAft>
                <a:spcPts val="300"/>
              </a:spcAft>
              <a:buNone/>
            </a:pPr>
            <a:r>
              <a:rPr lang="en-US" sz="1100" dirty="0">
                <a:solidFill>
                  <a:srgbClr val="1F2937"/>
                </a:solidFill>
                <a:latin typeface="Calibri" pitchFamily="34" charset="0"/>
                <a:ea typeface="Calibri" pitchFamily="34" charset="-122"/>
                <a:cs typeface="Calibri" pitchFamily="34" charset="-120"/>
              </a:rPr>
              <a:t>[Vendor] Huang (Snowflake). Cortex Analyst: Evaluating Text-to-SQL Accuracy. 2024.  </a:t>
            </a:r>
            <a:pPr algn="l" indent="0" marL="0">
              <a:spcAft>
                <a:spcPts val="300"/>
              </a:spcAft>
              <a:buNone/>
            </a:pPr>
            <a:r>
              <a:rPr lang="en-US" sz="1000" dirty="0">
                <a:solidFill>
                  <a:srgbClr val="5B6472"/>
                </a:solidFill>
                <a:latin typeface="Calibri" pitchFamily="34" charset="0"/>
                <a:ea typeface="Calibri" pitchFamily="34" charset="-122"/>
                <a:cs typeface="Calibri" pitchFamily="34" charset="-120"/>
              </a:rPr>
              <a:t>snowflake.com/en/blog/engineering/cortex-analyst-text-to-sql-accuracy-bi/</a:t>
            </a:r>
            <a:endParaRPr lang="en-US" sz="1100" dirty="0"/>
          </a:p>
          <a:p>
            <a:pPr algn="l" indent="0" marL="0">
              <a:spcAft>
                <a:spcPts val="300"/>
              </a:spcAft>
              <a:buNone/>
            </a:pPr>
            <a:r>
              <a:rPr lang="en-US" sz="1100" dirty="0">
                <a:solidFill>
                  <a:srgbClr val="1F2937"/>
                </a:solidFill>
                <a:latin typeface="Calibri" pitchFamily="34" charset="0"/>
                <a:ea typeface="Calibri" pitchFamily="34" charset="-122"/>
                <a:cs typeface="Calibri" pitchFamily="34" charset="-120"/>
              </a:rPr>
              <a:t>[Vendor] AtScale. Natural Language Prompting with AtScale's Semantic Layer. 2024.  </a:t>
            </a:r>
            <a:pPr algn="l" indent="0" marL="0">
              <a:spcAft>
                <a:spcPts val="300"/>
              </a:spcAft>
              <a:buNone/>
            </a:pPr>
            <a:r>
              <a:rPr lang="en-US" sz="1000" dirty="0">
                <a:solidFill>
                  <a:srgbClr val="5B6472"/>
                </a:solidFill>
                <a:latin typeface="Calibri" pitchFamily="34" charset="0"/>
                <a:ea typeface="Calibri" pitchFamily="34" charset="-122"/>
                <a:cs typeface="Calibri" pitchFamily="34" charset="-120"/>
              </a:rPr>
              <a:t>atscale.com/blog/enable-natural-language-prompting-with-semantic-layer-genai/</a:t>
            </a:r>
            <a:endParaRPr lang="en-US" sz="1100" dirty="0"/>
          </a:p>
          <a:p>
            <a:pPr algn="l" indent="0" marL="0">
              <a:spcAft>
                <a:spcPts val="300"/>
              </a:spcAft>
              <a:buNone/>
            </a:pPr>
            <a:r>
              <a:rPr lang="en-US" sz="1100" dirty="0">
                <a:solidFill>
                  <a:srgbClr val="1F2937"/>
                </a:solidFill>
                <a:latin typeface="Calibri" pitchFamily="34" charset="0"/>
                <a:ea typeface="Calibri" pitchFamily="34" charset="-122"/>
                <a:cs typeface="Calibri" pitchFamily="34" charset="-120"/>
              </a:rPr>
              <a:t>[Vendor] Google Cloud. How Looker's semantic layer enables trusted AI. 2025.  </a:t>
            </a:r>
            <a:pPr algn="l" indent="0" marL="0">
              <a:spcAft>
                <a:spcPts val="300"/>
              </a:spcAft>
              <a:buNone/>
            </a:pPr>
            <a:r>
              <a:rPr lang="en-US" sz="1000" dirty="0">
                <a:solidFill>
                  <a:srgbClr val="5B6472"/>
                </a:solidFill>
                <a:latin typeface="Calibri" pitchFamily="34" charset="0"/>
                <a:ea typeface="Calibri" pitchFamily="34" charset="-122"/>
                <a:cs typeface="Calibri" pitchFamily="34" charset="-120"/>
              </a:rPr>
              <a:t>cloud.google.com/blog/products/business-intelligence/how-lookers-semantic-layer-enhances-gen-ai-trustworthiness</a:t>
            </a:r>
            <a:endParaRPr lang="en-US" sz="1100" dirty="0"/>
          </a:p>
          <a:p>
            <a:pPr algn="l" indent="0" marL="0">
              <a:spcAft>
                <a:spcPts val="300"/>
              </a:spcAft>
              <a:buNone/>
            </a:pPr>
            <a:r>
              <a:rPr lang="en-US" sz="1100" dirty="0">
                <a:solidFill>
                  <a:srgbClr val="1F2937"/>
                </a:solidFill>
                <a:latin typeface="Calibri" pitchFamily="34" charset="0"/>
                <a:ea typeface="Calibri" pitchFamily="34" charset="-122"/>
                <a:cs typeface="Calibri" pitchFamily="34" charset="-120"/>
              </a:rPr>
              <a:t>Helios documentation: README, helios-walkthrough, console-runs, talk-to-your-data-architecture, mcp-server, security, ui-deployment.  </a:t>
            </a:r>
            <a:pPr algn="l" indent="0" marL="0">
              <a:spcAft>
                <a:spcPts val="300"/>
              </a:spcAft>
              <a:buNone/>
            </a:pPr>
            <a:r>
              <a:rPr lang="en-US" sz="1000" dirty="0">
                <a:solidFill>
                  <a:srgbClr val="5B6472"/>
                </a:solidFill>
                <a:latin typeface="Calibri" pitchFamily="34" charset="0"/>
                <a:ea typeface="Calibri" pitchFamily="34" charset="-122"/>
                <a:cs typeface="Calibri" pitchFamily="34" charset="-120"/>
              </a:rPr>
              <a:t>docs/ in the Helios repository</a:t>
            </a:r>
            <a:endParaRPr lang="en-US" sz="1100" dirty="0"/>
          </a:p>
          <a:p>
            <a:pPr algn="l" indent="0" marL="0">
              <a:spcAft>
                <a:spcPts val="300"/>
              </a:spcAft>
              <a:buNone/>
            </a:pPr>
            <a:r>
              <a:rPr lang="en-US" sz="1100" dirty="0">
                <a:solidFill>
                  <a:srgbClr val="1F2937"/>
                </a:solidFill>
                <a:latin typeface="Calibri" pitchFamily="34" charset="0"/>
                <a:ea typeface="Calibri" pitchFamily="34" charset="-122"/>
                <a:cs typeface="Calibri" pitchFamily="34" charset="-120"/>
              </a:rPr>
              <a:t>Helios-DS engineering specification, burn-down and ADR 0001.  </a:t>
            </a:r>
            <a:pPr algn="l" indent="0" marL="0">
              <a:spcAft>
                <a:spcPts val="300"/>
              </a:spcAft>
              <a:buNone/>
            </a:pPr>
            <a:r>
              <a:rPr lang="en-US" sz="1000" dirty="0">
                <a:solidFill>
                  <a:srgbClr val="5B6472"/>
                </a:solidFill>
                <a:latin typeface="Calibri" pitchFamily="34" charset="0"/>
                <a:ea typeface="Calibri" pitchFamily="34" charset="-122"/>
                <a:cs typeface="Calibri" pitchFamily="34" charset="-120"/>
              </a:rPr>
              <a:t>docs/helios-ds-burndown.md, docs/adr/</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66</Slides>
  <Notes>66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66</vt:i4>
      </vt:variant>
    </vt:vector>
  </HeadingPairs>
  <TitlesOfParts>
    <vt:vector size="6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Helios: speak to your data, governed</dc:title>
  <dc:subject>PptxGenJS Presentation</dc:subject>
  <dc:creator>Helios team</dc:creator>
  <cp:lastModifiedBy>Helios team</cp:lastModifiedBy>
  <cp:revision>1</cp:revision>
  <dcterms:created xsi:type="dcterms:W3CDTF">2026-09-30T01:08:11Z</dcterms:created>
  <dcterms:modified xsi:type="dcterms:W3CDTF">2026-09-30T01:08:11Z</dcterms:modified>
</cp:coreProperties>
</file>